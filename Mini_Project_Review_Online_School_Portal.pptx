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fc96dc6-48c0-7c20-213e-d71a09292673}">
          <p14:sldIdLst>
            <p14:sldId id="256"/>
            <p14:sldId id="257"/>
          </p14:sldIdLst>
        </p14:section>
        <p14:section name="0th Review" id="{594c270c-1980-73f0-a60c-56e457d4c5bd}">
          <p14:sldIdLst>
            <p14:sldId id="258"/>
            <p14:sldId id="259"/>
            <p14:sldId id="260"/>
            <p14:sldId id="261"/>
            <p14:sldId id="262"/>
            <p14:sldId id="263"/>
            <p14:sldId id="264"/>
            <p14:sldId id="265"/>
          </p14:sldIdLst>
        </p14:section>
        <p14:section name="1st Review" id="{14d3d83c-3fc7-2b1b-de02-f941c568feef}">
          <p14:sldIdLst>
            <p14:sldId id="266"/>
            <p14:sldId id="267"/>
            <p14:sldId id="268"/>
            <p14:sldId id="269"/>
            <p14:sldId id="270"/>
            <p14:sldId id="271"/>
          </p14:sldIdLst>
        </p14:section>
        <p14:section name="2nd Review" id="{a60029c9-b8fd-f954-ca45-b3176efc0fa4}">
          <p14:sldIdLst>
            <p14:sldId id="272"/>
            <p14:sldId id="273"/>
            <p14:sldId id="274"/>
            <p14:sldId id="275"/>
            <p14:sldId id="276"/>
            <p14:sldId id="277"/>
            <p14:sldId id="278"/>
          </p14:sldIdLst>
        </p14:section>
        <p14:section name="3rd Review" id="{26ad4ce8-8075-5c77-ea6b-f16fc4a6a098}">
          <p14:sldIdLst>
            <p14:sldId id="279"/>
            <p14:sldId id="280"/>
            <p14:sldId id="281"/>
            <p14:sldId id="282"/>
            <p14:sldId id="283"/>
            <p14:sldId id="284"/>
            <p14:sldId id="285"/>
            <p14:sldId id="286"/>
            <p14:sldId id="287"/>
            <p14:sldId id="288"/>
            <p14:sldId id="289"/>
            <p14:sldId id="290"/>
            <p14:sldId id="291"/>
            <p14:sldId id="292"/>
            <p14:sldId id="293"/>
            <p14:sldId id="294"/>
          </p14:sldIdLst>
        </p14:section>
        <p14:section name="Conclusion" id="{2b15358e-d636-1a6b-4a1b-3c50c4d64711}">
          <p14:sldIdLst>
            <p14:sldId id="295"/>
            <p14:sldId id="296"/>
            <p14:sldId id="2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mini project is an Online School Portal for DMI-St. Eugene University, Chipata Campus. It automates the administrative and student processes that are currently done on paper — admissions, fees, semester registration, coursework, results, and the No Due clearance that produces the exam hall ticket. This presentation is organised by the four review stages of the 351PJ01 review format shown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 answers every bullet of the review format. The 0th review introduces the project and its proposal; the 1st review covers background and literature and justifies why the proposed system is better; the 2nd review presents the design diagrams; and the 3rd review covers implementation, evaluation, installation, security, the working pages and code, and the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0th review sets out what the project is, the problem it solves, what it aims to achieve, its boundaries, what was needed to build it, and why it is worth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Universities run on a set of core processes. At our campus most of them are still paper-based. The portal brings them into one web system. The figures on the right come from the system itself: it serves the campus's 5 schools and 19 programmes, supports 10 distinct user roles, and stores its data in 30 MySQL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portal is organised into eight modules. The two highlighted in gold — semester registration and exam clearance with hall tickets — are the most automated: they replace multi-office signature forms with sequential digital approvals.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pain point is the No Due Certificate: before every mid-semester test a student walks to six offices to collect signatures, as shown on our actual paper form. The same pattern repeats for semester registration. Records are on paper, checks are manual, and nobody can see the status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is a single secure portal automating the campus's administrative and student processes. The eight specific objectives map one-to-one to modules of the system, so each can be demonstrated and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study covers the Chipata campus, all its programmes and every role involved in the processes. The main limitations are honest constraints of a mini project: payments are verified from uploaded proofs rather than an online gateway, notifications stay inside the portal, and the system has not yet been load-tested at full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Development needs only modest hardware. The software stack is entirely free and open source: Node.js with Express 5 on the server, MySQL for data, and a handful of well-known libraries for password hashing, tokens, uploads and configuration. The front end is plain HTML, CSS and JavaScript, so any browser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study is justified by six benefits. The most visible to students are time saved and transparency — no more walking between offices or guessing who is holding a clearance. For the institution, automatic calculations reduce errors, paper costs drop, and management gets live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1st review places the project in context: the institution and its current process, what other universities and researchers have done, and how the proposed system improves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background. The diagram on the right is our actual paper No Due Certificate: three departmental signatures — Accounts, Class Advisor and Hostel — then three officers: HOD, Dean of Students and Dean (Academic). Each is a separate trip. The portal reproduces exactly this chain, but digitally.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related systems. At Mzuzu University, Lubanga and colleagues found that a web-based student system shortened registration, but students suffered server overload and data costs. Kaggwa at Kampala International University replaced paper files with a central academic system that most students supported. Closest to home, the University of Zambia SIS uses an approval chain and registers a student once a minimum 37.5 percent of tuition is paid. Each gives a design lesson for our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theories guided the design. The Technology Acceptance Model says users adopt systems that are useful and easy to use, so each role sees only what it needs. DeLone and McLean's success model stresses system and information quality, so calculations are automatic and every signature is recorded. Rabaa'i warns that university ERP projects often fail, which is why the portal was built module by module around our own forms. The gap: none of the reviewed systems documents a digital No Due clearance ending in a programme-specific hall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justifies why the proposed system is better. Compared with our manual process it automates every row. A typical SIS such as UNZA's covers admissions and registration, but we found no public evidence of a digital No Due clearance or programme-specific hall tickets. An LMS such as Moodle handles teaching content but not administration. The proposed portal is the only option covering all rows, built around our own forms on a free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make the proposed system better. It follows our real approval chain and enforces the order. It applies the fee rules automatically. It produces the hall ticket in one click, listing only that student's modules. And it handles the real cases staff deal with: direct-entry students, hostel residents and holds with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2nd review presents the design of the system through four kinds of diagram: architecture, data flow, use cases and the database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uses a classic three-tier architecture. Browsers load static HTML, CSS and JavaScript pages and call a REST API with a JSON Web Token in each request. The application tier is Node.js with Express 5: middleware checks the token and the user's role before any route runs, and each business area — fees, registration, exams and so on — is a separate route module. The data tier is a MySQL database of 30 tables, plus a folder for uploaded files and JSON configuration such as the programme list and grade scale. Database changes are applied automatically when the server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context diagram shows the whole portal as one process and the six external entities that exchange data with it. Applicants send applications and receive decisions. Students send registrations, proofs of payment and assignment submissions, and receive statements, results and hall tickets. Lecturers send notes, marks and Class Advisor approvals. Accounts verifies payments. HOD and Dean of Students approve or hold. The registry, Dean (Academic) and administrator configure sessions, timetables, exemptions and user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1 breaks the portal into six processes, each with its main data store. Admissions creates the student account, which triggers billing in process 2. Fee data feeds both semester registration and exam clearance, because both check the percentage of fees paid. Registration sets the student's current semester, which exam clearance uses to pick the right modules for the hall ticket. Every hold or issued ticket flows to the notification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2 expands process 5, exam clearance. Accounts is checked automatically against the fee data: 75 percent paid for the mid-semester test. The Class Advisor and Hostel — for hostel residents only — clear in any order. Only when all three departments have cleared can the HOD approve, then the Dean of Students, then the Dean (Academic), whose approval issues a hall ticket number. Any officer can instead hold the student with a reason: the student is notified and every later approval is reset. The ticket lists only the papers on the timetable for the student's own programme and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actors use the student-facing use cases on the left: applicants apply for admission, and students register for each semester, upload proofs of payment, view results and notes, submit assignments and print their hall ticket. Five staff actors on the right use the administrative use cases. Lecturers acting as Class Advisor post coursework and approve clearances and registrations; the accountant verifies payments; the HOD and Dean of Students approve; the Dean (Academic) and Registrar manage exam sessions, timetables and exemptions and give the final approval; the administrator manages users and roles. Every actor logs in first, and the role decides what they can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database design. USERS holds every login with a bcrypt password hash and a role; students and LECTURERS extend it one-to-one. A student has many fee entries, payment proofs, semester registrations, exemptions and exam clearances. A registration period has many registrations; an exam session has many timetable rows and clearances. Timetable rows are taken from programme_modules, so each programme and semester only gets its own modules. Clearance and registration rows hold one signature — who, when and any note — per approval step. The full database has 30 tables, including departments, courses, results, notes, assignments and notifications not shown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3rd review covers how the system was implemented, how it was evaluated and will be maintained, how it is installed, operated and secured, the working pages and code, and the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written in JavaScript end to end: Node.js and Express 5 on the server, plain HTML, CSS and JavaScript in the browser, and MySQL for data. I chose these because they are free, widely hosted and light enough for low-bandwidth users. The figures on the right were counted from the project: about 10,500 lines of JavaScript across 19 route modules, 9 pages and 30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follows a layered design. The pages in the public folder never touch the database; they call the REST API. Each business process has its own route module, roles are defined in one file and enforced on the server, and the migration file creates or updates every table automatically when the server starts, so installation needs no manual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request follows the same path. The page sends the request with its token; verifyToken checks the token; checkRole checks the user's role; the route applies the business rules; MySQL is queried with parameters, never string-building; and a JSON response comes back, often with a notification created. Exam clearance and registration reuse one approval engine: an ordered list of steps with allowed roles, so adding or reordering an office is a one-line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was evaluated in layers. Automated unit tests check the clearance rules. API flow tests run the full exam clearance and registration journeys through the real routes. Pages were rendered in a browser at desktop and phone widths. Running on the real MySQL database exposed one defect — the role column did not accept the new Dean Academic role — which was fixed with an automatic migration. A user acceptance test with staff and students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Maintenance falls into four types. Corrective: fixing defects, as we already did with the role column. Adaptive: most changes — a new programme, new modules, a different fee percentage or grade scale — are made from the dashboard or JSON configuration without touching code. Perfective: future features such as online payments and SMS. Preventive: backups, dependency updates and keeping secrets out of version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Installation is deliberately simple. Install Node.js and MySQL, create an empty database, run npm install, and fill in the .env file. Running seeAdmin.js once creates the first administrator account. On start-up the server creates every table it needs and prints Database ready. For production it should run under a process manager behind HTTPS, with scheduled backups.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Operationally the portal follows the semester. The registrar opens a registration window; five offices approve; exam sessions and timetables are set per programme and semester; students are cleared and print hall tickets; then lecturers publish results. To run well it needs correct role assignment, brief training per office, a reliable host, and daily backups.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was designed in from the start. Passwords are hashed with bcrypt, logins use signed tokens that expire after an hour, every route checks the user's role on the server, school-scoped roles only see their own students, all SQL is parameterised, uploads are restricted, and new accounts need approval. Before going live, the portal should run over HTTPS, keep secrets out of Git, rate-limit logins, store tokens in httpOnly cookies, and keep an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public pages. The home page presents the campus's schools and programmes with their fees and links into each portal. The application page lets a prospective student apply online in three steps; the registry reviews applications on the staff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student's Exams tab. It is the paper No Due Certificate made digital: each department row shows its status, who signed and when; Accounts shows the percentage paid. Below, the final approvals appear as a progress tracker. The Print Hall Ticket button stays disabled until every step is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all six approvals are in, the student opens and prints this A4 hall ticket. It reproduces the official layout: register number, name, programme, current semester, centre, photo, and the timetable of only their own modules, with a unique ticket number. Page two carries the ten instructions to candidates.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Staff use this clearance board. Each office sees Clear and Hold buttons only on the step it signs, and the Waiting for me filter shows only students it needs to act on. Holding requires a reason that the student sees. The same dashboard holds the exam session and timetable setup, registration windows, exemptions, fees and the other administrative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Registration tab for a direct-entry student. New students start in Semester One; this student was exempted from Semesters One and Two, so they started in Semester Three. Each semester they press Register; once 40 percent of fees is paid, the five offices approve in order and the Dean Academic's approval moves them up. The history lists every semester, including exempted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security core. verifyToken reads the Bearer token, verifies its signature with the server secret and attaches the user's id and role to the request. checkRole then allows only the listed roles. Every protected route chains the two, as in the exam-session example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simplified excerpt shows the registration rules. Accounts status is calculated live from paid versus billed fees against the window's minimum, 40 percent. canAct allows a user to sign a step only if their role matches, the student is in their school where that applies, and every earlier step is cleared. The final approval updates the student's current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the portal meets its objectives: every planned module works, the real paper approval chains now run digitally in the correct order, security is built in, and the system has been tested. Future work includes online payment integration, SMS and e-mail alerts, analytics for management, user acceptance testing and extension to other campuses.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sources cited in the literature review and the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254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863840" cy="18288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886200"/>
            <a:ext cx="7863840" cy="2011680"/>
          </a:xfrm>
          <a:prstGeom prst="rect">
            <a:avLst/>
          </a:prstGeom>
          <a:noFill/>
          <a:ln/>
        </p:spPr>
        <p:txBody>
          <a:bodyPr wrap="square" rtlCol="0"/>
          <a:lstStyle>
            <a:lvl1pPr indent="0" marL="0">
              <a:buNone/>
              <a:defRPr lang="en-US" sz="1800" dirty="0">
                <a:solidFill>
                  <a:srgbClr val="D6E2F1"/>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B254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6400800" cy="137160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657600"/>
            <a:ext cx="6400800" cy="2377440"/>
          </a:xfrm>
          <a:prstGeom prst="rect">
            <a:avLst/>
          </a:prstGeom>
          <a:noFill/>
          <a:ln/>
        </p:spPr>
        <p:txBody>
          <a:bodyPr wrap="square" rtlCol="0"/>
          <a:lstStyle>
            <a:lvl1pPr indent="0" marL="0">
              <a:buNone/>
              <a:defRPr lang="en-US" sz="1800" dirty="0">
                <a:solidFill>
                  <a:srgbClr val="D6E2F1"/>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7A99"/>
                </a:solidFill>
              </a:rPr>
              <a:t>Online School Portal  ·  351PJ01 Mini Project Review  ·  DMISEU Chipata Campus</a:t>
            </a:r>
            <a:endParaRPr lang="en-US" sz="10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4.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4.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4.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4.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4.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4.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4.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image" Target="../media/image-31-9.png"/><Relationship Id="rId10" Type="http://schemas.openxmlformats.org/officeDocument/2006/relationships/slideLayout" Target="../slideLayouts/slideLayout4.xml"/><Relationship Id="rId11"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slideLayout" Target="../slideLayouts/slideLayout4.xml"/><Relationship Id="rId9"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4.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slideLayout" Target="../slideLayouts/slideLayout4.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863840" cy="182880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Online School Portal</a:t>
            </a:r>
            <a:endParaRPr lang="en-US" sz="4000" dirty="0"/>
          </a:p>
        </p:txBody>
      </p:sp>
      <p:sp>
        <p:nvSpPr>
          <p:cNvPr id="3" name="Text 0"/>
          <p:cNvSpPr/>
          <p:nvPr>
            <p:ph idx="101" type="body" hasCustomPrompt="1"/>
          </p:nvPr>
        </p:nvSpPr>
        <p:spPr>
          <a:xfrm>
            <a:off x="731520" y="3886200"/>
            <a:ext cx="7863840" cy="2011680"/>
          </a:xfrm>
          <a:prstGeom prst="rect">
            <a:avLst/>
          </a:prstGeom>
          <a:noFill/>
          <a:ln/>
        </p:spPr>
        <p:txBody>
          <a:bodyPr wrap="square" lIns="0" tIns="0" rIns="0" bIns="0" rtlCol="0" anchor="t"/>
          <a:lstStyle/>
          <a:p>
            <a:pPr indent="0" marL="0">
              <a:spcAft>
                <a:spcPts val="1400"/>
              </a:spcAft>
              <a:buNone/>
            </a:pPr>
            <a:r>
              <a:rPr lang="en-US" sz="1800" dirty="0">
                <a:solidFill>
                  <a:srgbClr val="FFFFFF"/>
                </a:solidFill>
              </a:rPr>
              <a:t>Design and Implementation of an Online School Portal for Automation of Administrative and Student Processes</a:t>
            </a:r>
            <a:endParaRPr lang="en-US" sz="1800" dirty="0"/>
          </a:p>
          <a:p>
            <a:pPr indent="0" marL="0">
              <a:buNone/>
            </a:pPr>
            <a:r>
              <a:rPr lang="en-US" sz="1500" dirty="0">
                <a:solidFill>
                  <a:srgbClr val="D6E2F1"/>
                </a:solidFill>
              </a:rPr>
              <a:t>Forb Joseph Mufwambi  ·  Reg. No 25233351032</a:t>
            </a:r>
            <a:endParaRPr lang="en-US" sz="1800" dirty="0"/>
          </a:p>
          <a:p>
            <a:pPr indent="0" marL="0">
              <a:buNone/>
            </a:pPr>
            <a:r>
              <a:rPr lang="en-US" sz="1500" dirty="0">
                <a:solidFill>
                  <a:srgbClr val="D6E2F1"/>
                </a:solidFill>
              </a:rPr>
              <a:t>Bachelor of Science in Computer Science  ·  351PJ01 Mini Project</a:t>
            </a:r>
            <a:endParaRPr lang="en-US" sz="1800" dirty="0"/>
          </a:p>
          <a:p>
            <a:pPr indent="0" marL="0">
              <a:buNone/>
            </a:pPr>
            <a:r>
              <a:rPr lang="en-US" sz="1500" dirty="0">
                <a:solidFill>
                  <a:srgbClr val="D6E2F1"/>
                </a:solidFill>
              </a:rPr>
              <a:t>DMI-St. Eugene University, Chipata Campus</a:t>
            </a:r>
            <a:endParaRPr lang="en-US" sz="1800" dirty="0"/>
          </a:p>
        </p:txBody>
      </p:sp>
      <p:sp>
        <p:nvSpPr>
          <p:cNvPr id="4" name="review card"/>
          <p:cNvSpPr/>
          <p:nvPr/>
        </p:nvSpPr>
        <p:spPr>
          <a:xfrm>
            <a:off x="8732520" y="1234440"/>
            <a:ext cx="2926080" cy="960120"/>
          </a:xfrm>
          <a:prstGeom prst="roundRect">
            <a:avLst>
              <a:gd name="adj" fmla="val 11429"/>
            </a:avLst>
          </a:prstGeom>
          <a:solidFill>
            <a:srgbClr val="163A63"/>
          </a:solidFill>
          <a:ln w="12700">
            <a:solidFill>
              <a:srgbClr val="24507F"/>
            </a:solidFill>
            <a:prstDash val="solid"/>
          </a:ln>
        </p:spPr>
      </p:sp>
      <p:sp>
        <p:nvSpPr>
          <p:cNvPr id="5" name="Text 3"/>
          <p:cNvSpPr txBox="1"/>
          <p:nvPr/>
        </p:nvSpPr>
        <p:spPr>
          <a:xfrm>
            <a:off x="8961120" y="1362456"/>
            <a:ext cx="1463040" cy="320040"/>
          </a:xfrm>
          <a:prstGeom prst="rect">
            <a:avLst/>
          </a:prstGeom>
          <a:noFill/>
          <a:ln/>
        </p:spPr>
        <p:txBody>
          <a:bodyPr wrap="square" lIns="0" tIns="0" rIns="0" bIns="0" rtlCol="0" anchor="t"/>
          <a:lstStyle/>
          <a:p>
            <a:pPr indent="0" marL="0">
              <a:buNone/>
            </a:pPr>
            <a:r>
              <a:rPr lang="en-US" sz="1500" b="1" dirty="0">
                <a:solidFill>
                  <a:srgbClr val="E3A83B"/>
                </a:solidFill>
              </a:rPr>
              <a:t>0th Review</a:t>
            </a:r>
            <a:endParaRPr lang="en-US" sz="1500" dirty="0"/>
          </a:p>
        </p:txBody>
      </p:sp>
      <p:sp>
        <p:nvSpPr>
          <p:cNvPr id="6" name="Text 4"/>
          <p:cNvSpPr txBox="1"/>
          <p:nvPr/>
        </p:nvSpPr>
        <p:spPr>
          <a:xfrm>
            <a:off x="10332720" y="1362456"/>
            <a:ext cx="1188720" cy="320040"/>
          </a:xfrm>
          <a:prstGeom prst="rect">
            <a:avLst/>
          </a:prstGeom>
          <a:noFill/>
          <a:ln/>
        </p:spPr>
        <p:txBody>
          <a:bodyPr wrap="square" lIns="0" tIns="0" rIns="0" bIns="0" rtlCol="0" anchor="t"/>
          <a:lstStyle/>
          <a:p>
            <a:pPr algn="r" indent="0" marL="0">
              <a:buNone/>
            </a:pPr>
            <a:r>
              <a:rPr lang="en-US" sz="1200" dirty="0">
                <a:solidFill>
                  <a:srgbClr val="D6E2F1"/>
                </a:solidFill>
              </a:rPr>
              <a:t>04/09/2026</a:t>
            </a:r>
            <a:endParaRPr lang="en-US" sz="1200" dirty="0"/>
          </a:p>
        </p:txBody>
      </p:sp>
      <p:sp>
        <p:nvSpPr>
          <p:cNvPr id="7" name="Text 5"/>
          <p:cNvSpPr txBox="1"/>
          <p:nvPr/>
        </p:nvSpPr>
        <p:spPr>
          <a:xfrm>
            <a:off x="8961120" y="1737360"/>
            <a:ext cx="2560320" cy="320040"/>
          </a:xfrm>
          <a:prstGeom prst="rect">
            <a:avLst/>
          </a:prstGeom>
          <a:noFill/>
          <a:ln/>
        </p:spPr>
        <p:txBody>
          <a:bodyPr wrap="square" lIns="0" tIns="0" rIns="0" bIns="0" rtlCol="0" anchor="t"/>
          <a:lstStyle/>
          <a:p>
            <a:pPr indent="0" marL="0">
              <a:buNone/>
            </a:pPr>
            <a:r>
              <a:rPr lang="en-US" sz="1300" dirty="0">
                <a:solidFill>
                  <a:srgbClr val="FFFFFF"/>
                </a:solidFill>
              </a:rPr>
              <a:t>Introduction &amp; proposal</a:t>
            </a:r>
            <a:endParaRPr lang="en-US" sz="1300" dirty="0"/>
          </a:p>
        </p:txBody>
      </p:sp>
      <p:sp>
        <p:nvSpPr>
          <p:cNvPr id="8" name="review card"/>
          <p:cNvSpPr/>
          <p:nvPr/>
        </p:nvSpPr>
        <p:spPr>
          <a:xfrm>
            <a:off x="8732520" y="2377440"/>
            <a:ext cx="2926080" cy="960120"/>
          </a:xfrm>
          <a:prstGeom prst="roundRect">
            <a:avLst>
              <a:gd name="adj" fmla="val 11429"/>
            </a:avLst>
          </a:prstGeom>
          <a:solidFill>
            <a:srgbClr val="163A63"/>
          </a:solidFill>
          <a:ln w="12700">
            <a:solidFill>
              <a:srgbClr val="24507F"/>
            </a:solidFill>
            <a:prstDash val="solid"/>
          </a:ln>
        </p:spPr>
      </p:sp>
      <p:sp>
        <p:nvSpPr>
          <p:cNvPr id="9" name="Text 7"/>
          <p:cNvSpPr txBox="1"/>
          <p:nvPr/>
        </p:nvSpPr>
        <p:spPr>
          <a:xfrm>
            <a:off x="8961120" y="2505456"/>
            <a:ext cx="1463040" cy="320040"/>
          </a:xfrm>
          <a:prstGeom prst="rect">
            <a:avLst/>
          </a:prstGeom>
          <a:noFill/>
          <a:ln/>
        </p:spPr>
        <p:txBody>
          <a:bodyPr wrap="square" lIns="0" tIns="0" rIns="0" bIns="0" rtlCol="0" anchor="t"/>
          <a:lstStyle/>
          <a:p>
            <a:pPr indent="0" marL="0">
              <a:buNone/>
            </a:pPr>
            <a:r>
              <a:rPr lang="en-US" sz="1500" b="1" dirty="0">
                <a:solidFill>
                  <a:srgbClr val="E3A83B"/>
                </a:solidFill>
              </a:rPr>
              <a:t>1st Review</a:t>
            </a:r>
            <a:endParaRPr lang="en-US" sz="1500" dirty="0"/>
          </a:p>
        </p:txBody>
      </p:sp>
      <p:sp>
        <p:nvSpPr>
          <p:cNvPr id="10" name="Text 8"/>
          <p:cNvSpPr txBox="1"/>
          <p:nvPr/>
        </p:nvSpPr>
        <p:spPr>
          <a:xfrm>
            <a:off x="10332720" y="2505456"/>
            <a:ext cx="1188720" cy="320040"/>
          </a:xfrm>
          <a:prstGeom prst="rect">
            <a:avLst/>
          </a:prstGeom>
          <a:noFill/>
          <a:ln/>
        </p:spPr>
        <p:txBody>
          <a:bodyPr wrap="square" lIns="0" tIns="0" rIns="0" bIns="0" rtlCol="0" anchor="t"/>
          <a:lstStyle/>
          <a:p>
            <a:pPr algn="r" indent="0" marL="0">
              <a:buNone/>
            </a:pPr>
            <a:r>
              <a:rPr lang="en-US" sz="1200" dirty="0">
                <a:solidFill>
                  <a:srgbClr val="D6E2F1"/>
                </a:solidFill>
              </a:rPr>
              <a:t>18/09/2026</a:t>
            </a:r>
            <a:endParaRPr lang="en-US" sz="1200" dirty="0"/>
          </a:p>
        </p:txBody>
      </p:sp>
      <p:sp>
        <p:nvSpPr>
          <p:cNvPr id="11" name="Text 9"/>
          <p:cNvSpPr txBox="1"/>
          <p:nvPr/>
        </p:nvSpPr>
        <p:spPr>
          <a:xfrm>
            <a:off x="8961120" y="2880360"/>
            <a:ext cx="2560320" cy="320040"/>
          </a:xfrm>
          <a:prstGeom prst="rect">
            <a:avLst/>
          </a:prstGeom>
          <a:noFill/>
          <a:ln/>
        </p:spPr>
        <p:txBody>
          <a:bodyPr wrap="square" lIns="0" tIns="0" rIns="0" bIns="0" rtlCol="0" anchor="t"/>
          <a:lstStyle/>
          <a:p>
            <a:pPr indent="0" marL="0">
              <a:buNone/>
            </a:pPr>
            <a:r>
              <a:rPr lang="en-US" sz="1300" dirty="0">
                <a:solidFill>
                  <a:srgbClr val="FFFFFF"/>
                </a:solidFill>
              </a:rPr>
              <a:t>Background &amp; literature</a:t>
            </a:r>
            <a:endParaRPr lang="en-US" sz="1300" dirty="0"/>
          </a:p>
        </p:txBody>
      </p:sp>
      <p:sp>
        <p:nvSpPr>
          <p:cNvPr id="12" name="review card"/>
          <p:cNvSpPr/>
          <p:nvPr/>
        </p:nvSpPr>
        <p:spPr>
          <a:xfrm>
            <a:off x="8732520" y="3520440"/>
            <a:ext cx="2926080" cy="960120"/>
          </a:xfrm>
          <a:prstGeom prst="roundRect">
            <a:avLst>
              <a:gd name="adj" fmla="val 11429"/>
            </a:avLst>
          </a:prstGeom>
          <a:solidFill>
            <a:srgbClr val="163A63"/>
          </a:solidFill>
          <a:ln w="12700">
            <a:solidFill>
              <a:srgbClr val="24507F"/>
            </a:solidFill>
            <a:prstDash val="solid"/>
          </a:ln>
        </p:spPr>
      </p:sp>
      <p:sp>
        <p:nvSpPr>
          <p:cNvPr id="13" name="Text 11"/>
          <p:cNvSpPr txBox="1"/>
          <p:nvPr/>
        </p:nvSpPr>
        <p:spPr>
          <a:xfrm>
            <a:off x="8961120" y="3648456"/>
            <a:ext cx="1463040" cy="320040"/>
          </a:xfrm>
          <a:prstGeom prst="rect">
            <a:avLst/>
          </a:prstGeom>
          <a:noFill/>
          <a:ln/>
        </p:spPr>
        <p:txBody>
          <a:bodyPr wrap="square" lIns="0" tIns="0" rIns="0" bIns="0" rtlCol="0" anchor="t"/>
          <a:lstStyle/>
          <a:p>
            <a:pPr indent="0" marL="0">
              <a:buNone/>
            </a:pPr>
            <a:r>
              <a:rPr lang="en-US" sz="1500" b="1" dirty="0">
                <a:solidFill>
                  <a:srgbClr val="E3A83B"/>
                </a:solidFill>
              </a:rPr>
              <a:t>2nd Review</a:t>
            </a:r>
            <a:endParaRPr lang="en-US" sz="1500" dirty="0"/>
          </a:p>
        </p:txBody>
      </p:sp>
      <p:sp>
        <p:nvSpPr>
          <p:cNvPr id="14" name="Text 12"/>
          <p:cNvSpPr txBox="1"/>
          <p:nvPr/>
        </p:nvSpPr>
        <p:spPr>
          <a:xfrm>
            <a:off x="10332720" y="3648456"/>
            <a:ext cx="1188720" cy="320040"/>
          </a:xfrm>
          <a:prstGeom prst="rect">
            <a:avLst/>
          </a:prstGeom>
          <a:noFill/>
          <a:ln/>
        </p:spPr>
        <p:txBody>
          <a:bodyPr wrap="square" lIns="0" tIns="0" rIns="0" bIns="0" rtlCol="0" anchor="t"/>
          <a:lstStyle/>
          <a:p>
            <a:pPr algn="r" indent="0" marL="0">
              <a:buNone/>
            </a:pPr>
            <a:r>
              <a:rPr lang="en-US" sz="1200" dirty="0">
                <a:solidFill>
                  <a:srgbClr val="D6E2F1"/>
                </a:solidFill>
              </a:rPr>
              <a:t>16/10/2026</a:t>
            </a:r>
            <a:endParaRPr lang="en-US" sz="1200" dirty="0"/>
          </a:p>
        </p:txBody>
      </p:sp>
      <p:sp>
        <p:nvSpPr>
          <p:cNvPr id="15" name="Text 13"/>
          <p:cNvSpPr txBox="1"/>
          <p:nvPr/>
        </p:nvSpPr>
        <p:spPr>
          <a:xfrm>
            <a:off x="8961120" y="4023360"/>
            <a:ext cx="2560320" cy="320040"/>
          </a:xfrm>
          <a:prstGeom prst="rect">
            <a:avLst/>
          </a:prstGeom>
          <a:noFill/>
          <a:ln/>
        </p:spPr>
        <p:txBody>
          <a:bodyPr wrap="square" lIns="0" tIns="0" rIns="0" bIns="0" rtlCol="0" anchor="t"/>
          <a:lstStyle/>
          <a:p>
            <a:pPr indent="0" marL="0">
              <a:buNone/>
            </a:pPr>
            <a:r>
              <a:rPr lang="en-US" sz="1300" dirty="0">
                <a:solidFill>
                  <a:srgbClr val="FFFFFF"/>
                </a:solidFill>
              </a:rPr>
              <a:t>System design diagrams</a:t>
            </a:r>
            <a:endParaRPr lang="en-US" sz="1300" dirty="0"/>
          </a:p>
        </p:txBody>
      </p:sp>
      <p:sp>
        <p:nvSpPr>
          <p:cNvPr id="16" name="review card"/>
          <p:cNvSpPr/>
          <p:nvPr/>
        </p:nvSpPr>
        <p:spPr>
          <a:xfrm>
            <a:off x="8732520" y="4663440"/>
            <a:ext cx="2926080" cy="960120"/>
          </a:xfrm>
          <a:prstGeom prst="roundRect">
            <a:avLst>
              <a:gd name="adj" fmla="val 11429"/>
            </a:avLst>
          </a:prstGeom>
          <a:solidFill>
            <a:srgbClr val="163A63"/>
          </a:solidFill>
          <a:ln w="12700">
            <a:solidFill>
              <a:srgbClr val="24507F"/>
            </a:solidFill>
            <a:prstDash val="solid"/>
          </a:ln>
        </p:spPr>
      </p:sp>
      <p:sp>
        <p:nvSpPr>
          <p:cNvPr id="17" name="Text 15"/>
          <p:cNvSpPr txBox="1"/>
          <p:nvPr/>
        </p:nvSpPr>
        <p:spPr>
          <a:xfrm>
            <a:off x="8961120" y="4791456"/>
            <a:ext cx="1463040" cy="320040"/>
          </a:xfrm>
          <a:prstGeom prst="rect">
            <a:avLst/>
          </a:prstGeom>
          <a:noFill/>
          <a:ln/>
        </p:spPr>
        <p:txBody>
          <a:bodyPr wrap="square" lIns="0" tIns="0" rIns="0" bIns="0" rtlCol="0" anchor="t"/>
          <a:lstStyle/>
          <a:p>
            <a:pPr indent="0" marL="0">
              <a:buNone/>
            </a:pPr>
            <a:r>
              <a:rPr lang="en-US" sz="1500" b="1" dirty="0">
                <a:solidFill>
                  <a:srgbClr val="E3A83B"/>
                </a:solidFill>
              </a:rPr>
              <a:t>3rd Review</a:t>
            </a:r>
            <a:endParaRPr lang="en-US" sz="1500" dirty="0"/>
          </a:p>
        </p:txBody>
      </p:sp>
      <p:sp>
        <p:nvSpPr>
          <p:cNvPr id="18" name="Text 16"/>
          <p:cNvSpPr txBox="1"/>
          <p:nvPr/>
        </p:nvSpPr>
        <p:spPr>
          <a:xfrm>
            <a:off x="10332720" y="4791456"/>
            <a:ext cx="1188720" cy="320040"/>
          </a:xfrm>
          <a:prstGeom prst="rect">
            <a:avLst/>
          </a:prstGeom>
          <a:noFill/>
          <a:ln/>
        </p:spPr>
        <p:txBody>
          <a:bodyPr wrap="square" lIns="0" tIns="0" rIns="0" bIns="0" rtlCol="0" anchor="t"/>
          <a:lstStyle/>
          <a:p>
            <a:pPr algn="r" indent="0" marL="0">
              <a:buNone/>
            </a:pPr>
            <a:r>
              <a:rPr lang="en-US" sz="1200" dirty="0">
                <a:solidFill>
                  <a:srgbClr val="D6E2F1"/>
                </a:solidFill>
              </a:rPr>
              <a:t>23/10/2026</a:t>
            </a:r>
            <a:endParaRPr lang="en-US" sz="1200" dirty="0"/>
          </a:p>
        </p:txBody>
      </p:sp>
      <p:sp>
        <p:nvSpPr>
          <p:cNvPr id="19" name="Text 17"/>
          <p:cNvSpPr txBox="1"/>
          <p:nvPr/>
        </p:nvSpPr>
        <p:spPr>
          <a:xfrm>
            <a:off x="8961120" y="5166360"/>
            <a:ext cx="2560320" cy="320040"/>
          </a:xfrm>
          <a:prstGeom prst="rect">
            <a:avLst/>
          </a:prstGeom>
          <a:noFill/>
          <a:ln/>
        </p:spPr>
        <p:txBody>
          <a:bodyPr wrap="square" lIns="0" tIns="0" rIns="0" bIns="0" rtlCol="0" anchor="t"/>
          <a:lstStyle/>
          <a:p>
            <a:pPr indent="0" marL="0">
              <a:buNone/>
            </a:pPr>
            <a:r>
              <a:rPr lang="en-US" sz="1300" dirty="0">
                <a:solidFill>
                  <a:srgbClr val="FFFFFF"/>
                </a:solidFill>
              </a:rPr>
              <a:t>Implementation &amp; security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Presentation outline</a:t>
            </a:r>
            <a:endParaRPr lang="en-US" sz="3200" dirty="0"/>
          </a:p>
        </p:txBody>
      </p:sp>
      <p:sp>
        <p:nvSpPr>
          <p:cNvPr id="3" name="card"/>
          <p:cNvSpPr/>
          <p:nvPr/>
        </p:nvSpPr>
        <p:spPr>
          <a:xfrm>
            <a:off x="548640" y="1417320"/>
            <a:ext cx="2606040" cy="4754880"/>
          </a:xfrm>
          <a:prstGeom prst="roundRect">
            <a:avLst>
              <a:gd name="adj" fmla="val 4211"/>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4" name="icon circle"/>
          <p:cNvSpPr/>
          <p:nvPr/>
        </p:nvSpPr>
        <p:spPr>
          <a:xfrm>
            <a:off x="822960" y="1691640"/>
            <a:ext cx="640080" cy="640080"/>
          </a:xfrm>
          <a:prstGeom prst="ellipse">
            <a:avLst/>
          </a:prstGeom>
          <a:solidFill>
            <a:srgbClr val="004080"/>
          </a:solidFill>
          <a:ln w="12700">
            <a:solidFill>
              <a:srgbClr val="004080"/>
            </a:solidFill>
            <a:prstDash val="solid"/>
          </a:ln>
        </p:spPr>
      </p:sp>
      <p:pic>
        <p:nvPicPr>
          <p:cNvPr id="5" name="Image 0" descr="FaFlag">    </p:cNvPr>
          <p:cNvPicPr>
            <a:picLocks noChangeAspect="1"/>
          </p:cNvPicPr>
          <p:nvPr/>
        </p:nvPicPr>
        <p:blipFill>
          <a:blip r:embed="rId1"/>
          <a:stretch>
            <a:fillRect/>
          </a:stretch>
        </p:blipFill>
        <p:spPr>
          <a:xfrm>
            <a:off x="976579" y="1845259"/>
            <a:ext cx="332842" cy="332842"/>
          </a:xfrm>
          <a:prstGeom prst="rect">
            <a:avLst/>
          </a:prstGeom>
        </p:spPr>
      </p:pic>
      <p:sp>
        <p:nvSpPr>
          <p:cNvPr id="6" name="Text 3"/>
          <p:cNvSpPr txBox="1"/>
          <p:nvPr/>
        </p:nvSpPr>
        <p:spPr>
          <a:xfrm>
            <a:off x="822960" y="2514600"/>
            <a:ext cx="2103120" cy="411480"/>
          </a:xfrm>
          <a:prstGeom prst="rect">
            <a:avLst/>
          </a:prstGeom>
          <a:noFill/>
          <a:ln/>
        </p:spPr>
        <p:txBody>
          <a:bodyPr wrap="square" lIns="0" tIns="0" rIns="0" bIns="0" rtlCol="0" anchor="t"/>
          <a:lstStyle/>
          <a:p>
            <a:pPr indent="0" marL="0">
              <a:buNone/>
            </a:pPr>
            <a:r>
              <a:rPr lang="en-US" sz="2000" b="1" dirty="0">
                <a:solidFill>
                  <a:srgbClr val="0B2545"/>
                </a:solidFill>
                <a:latin typeface="Cambria" pitchFamily="34" charset="0"/>
                <a:ea typeface="Cambria" pitchFamily="34" charset="-122"/>
                <a:cs typeface="Cambria" pitchFamily="34" charset="-120"/>
              </a:rPr>
              <a:t>0th Review</a:t>
            </a:r>
            <a:endParaRPr lang="en-US" sz="2000" dirty="0"/>
          </a:p>
        </p:txBody>
      </p:sp>
      <p:sp>
        <p:nvSpPr>
          <p:cNvPr id="7" name="Text 4"/>
          <p:cNvSpPr txBox="1"/>
          <p:nvPr/>
        </p:nvSpPr>
        <p:spPr>
          <a:xfrm>
            <a:off x="822960" y="2926080"/>
            <a:ext cx="2103120" cy="274320"/>
          </a:xfrm>
          <a:prstGeom prst="rect">
            <a:avLst/>
          </a:prstGeom>
          <a:noFill/>
          <a:ln/>
        </p:spPr>
        <p:txBody>
          <a:bodyPr wrap="square" lIns="0" tIns="0" rIns="0" bIns="0" rtlCol="0" anchor="t"/>
          <a:lstStyle/>
          <a:p>
            <a:pPr indent="0" marL="0">
              <a:buNone/>
            </a:pPr>
            <a:r>
              <a:rPr lang="en-US" sz="1200" dirty="0">
                <a:solidFill>
                  <a:srgbClr val="5B7A99"/>
                </a:solidFill>
              </a:rPr>
              <a:t>04/09/2026</a:t>
            </a:r>
            <a:endParaRPr lang="en-US" sz="1200" dirty="0"/>
          </a:p>
        </p:txBody>
      </p:sp>
      <p:sp>
        <p:nvSpPr>
          <p:cNvPr id="8" name="Text 5"/>
          <p:cNvSpPr txBox="1"/>
          <p:nvPr/>
        </p:nvSpPr>
        <p:spPr>
          <a:xfrm>
            <a:off x="822960" y="3337560"/>
            <a:ext cx="2148840" cy="274320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rgbClr val="1A2433"/>
                </a:solidFill>
              </a:rPr>
              <a:t>Introduction</a:t>
            </a:r>
            <a:endParaRPr lang="en-US" sz="1400" dirty="0"/>
          </a:p>
          <a:p>
            <a:pPr marL="203200" indent="-203200">
              <a:spcAft>
                <a:spcPts val="500"/>
              </a:spcAft>
              <a:buSzPct val="100000"/>
              <a:buChar char="•"/>
            </a:pPr>
            <a:r>
              <a:rPr lang="en-US" sz="1400" dirty="0">
                <a:solidFill>
                  <a:srgbClr val="1A2433"/>
                </a:solidFill>
              </a:rPr>
              <a:t>About the project</a:t>
            </a:r>
            <a:endParaRPr lang="en-US" sz="1400" dirty="0"/>
          </a:p>
          <a:p>
            <a:pPr marL="203200" indent="-203200">
              <a:spcAft>
                <a:spcPts val="500"/>
              </a:spcAft>
              <a:buSzPct val="100000"/>
              <a:buChar char="•"/>
            </a:pPr>
            <a:r>
              <a:rPr lang="en-US" sz="1400" dirty="0">
                <a:solidFill>
                  <a:srgbClr val="1A2433"/>
                </a:solidFill>
              </a:rPr>
              <a:t>Problem statement</a:t>
            </a:r>
            <a:endParaRPr lang="en-US" sz="1400" dirty="0"/>
          </a:p>
          <a:p>
            <a:pPr marL="203200" indent="-203200">
              <a:spcAft>
                <a:spcPts val="500"/>
              </a:spcAft>
              <a:buSzPct val="100000"/>
              <a:buChar char="•"/>
            </a:pPr>
            <a:r>
              <a:rPr lang="en-US" sz="1400" dirty="0">
                <a:solidFill>
                  <a:srgbClr val="1A2433"/>
                </a:solidFill>
              </a:rPr>
              <a:t>Aims &amp; objectives</a:t>
            </a:r>
            <a:endParaRPr lang="en-US" sz="1400" dirty="0"/>
          </a:p>
          <a:p>
            <a:pPr marL="203200" indent="-203200">
              <a:spcAft>
                <a:spcPts val="500"/>
              </a:spcAft>
              <a:buSzPct val="100000"/>
              <a:buChar char="•"/>
            </a:pPr>
            <a:r>
              <a:rPr lang="en-US" sz="1400" dirty="0">
                <a:solidFill>
                  <a:srgbClr val="1A2433"/>
                </a:solidFill>
              </a:rPr>
              <a:t>Scope &amp; limitations</a:t>
            </a:r>
            <a:endParaRPr lang="en-US" sz="1400" dirty="0"/>
          </a:p>
          <a:p>
            <a:pPr marL="203200" indent="-203200">
              <a:spcAft>
                <a:spcPts val="500"/>
              </a:spcAft>
              <a:buSzPct val="100000"/>
              <a:buChar char="•"/>
            </a:pPr>
            <a:r>
              <a:rPr lang="en-US" sz="1400" dirty="0">
                <a:solidFill>
                  <a:srgbClr val="1A2433"/>
                </a:solidFill>
              </a:rPr>
              <a:t>Development requirements</a:t>
            </a:r>
            <a:endParaRPr lang="en-US" sz="1400" dirty="0"/>
          </a:p>
          <a:p>
            <a:pPr marL="203200" indent="-203200">
              <a:spcAft>
                <a:spcPts val="500"/>
              </a:spcAft>
              <a:buSzPct val="100000"/>
              <a:buChar char="•"/>
            </a:pPr>
            <a:r>
              <a:rPr lang="en-US" sz="1400" dirty="0">
                <a:solidFill>
                  <a:srgbClr val="1A2433"/>
                </a:solidFill>
              </a:rPr>
              <a:t>Justification</a:t>
            </a:r>
            <a:endParaRPr lang="en-US" sz="1400" dirty="0"/>
          </a:p>
        </p:txBody>
      </p:sp>
      <p:sp>
        <p:nvSpPr>
          <p:cNvPr id="9" name="card"/>
          <p:cNvSpPr/>
          <p:nvPr/>
        </p:nvSpPr>
        <p:spPr>
          <a:xfrm>
            <a:off x="3364992" y="1417320"/>
            <a:ext cx="2606040" cy="4754880"/>
          </a:xfrm>
          <a:prstGeom prst="roundRect">
            <a:avLst>
              <a:gd name="adj" fmla="val 4211"/>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10" name="icon circle"/>
          <p:cNvSpPr/>
          <p:nvPr/>
        </p:nvSpPr>
        <p:spPr>
          <a:xfrm>
            <a:off x="3639312" y="1691640"/>
            <a:ext cx="640080" cy="640080"/>
          </a:xfrm>
          <a:prstGeom prst="ellipse">
            <a:avLst/>
          </a:prstGeom>
          <a:solidFill>
            <a:srgbClr val="E3A83B"/>
          </a:solidFill>
          <a:ln w="12700">
            <a:solidFill>
              <a:srgbClr val="E3A83B"/>
            </a:solidFill>
            <a:prstDash val="solid"/>
          </a:ln>
        </p:spPr>
      </p:sp>
      <p:pic>
        <p:nvPicPr>
          <p:cNvPr id="11" name="Image 1" descr="FaBookOpen">    </p:cNvPr>
          <p:cNvPicPr>
            <a:picLocks noChangeAspect="1"/>
          </p:cNvPicPr>
          <p:nvPr/>
        </p:nvPicPr>
        <p:blipFill>
          <a:blip r:embed="rId2"/>
          <a:stretch>
            <a:fillRect/>
          </a:stretch>
        </p:blipFill>
        <p:spPr>
          <a:xfrm>
            <a:off x="3792931" y="1845259"/>
            <a:ext cx="332842" cy="332842"/>
          </a:xfrm>
          <a:prstGeom prst="rect">
            <a:avLst/>
          </a:prstGeom>
        </p:spPr>
      </p:pic>
      <p:sp>
        <p:nvSpPr>
          <p:cNvPr id="12" name="Text 8"/>
          <p:cNvSpPr txBox="1"/>
          <p:nvPr/>
        </p:nvSpPr>
        <p:spPr>
          <a:xfrm>
            <a:off x="3639312" y="2514600"/>
            <a:ext cx="2103120" cy="411480"/>
          </a:xfrm>
          <a:prstGeom prst="rect">
            <a:avLst/>
          </a:prstGeom>
          <a:noFill/>
          <a:ln/>
        </p:spPr>
        <p:txBody>
          <a:bodyPr wrap="square" lIns="0" tIns="0" rIns="0" bIns="0" rtlCol="0" anchor="t"/>
          <a:lstStyle/>
          <a:p>
            <a:pPr indent="0" marL="0">
              <a:buNone/>
            </a:pPr>
            <a:r>
              <a:rPr lang="en-US" sz="2000" b="1" dirty="0">
                <a:solidFill>
                  <a:srgbClr val="0B2545"/>
                </a:solidFill>
                <a:latin typeface="Cambria" pitchFamily="34" charset="0"/>
                <a:ea typeface="Cambria" pitchFamily="34" charset="-122"/>
                <a:cs typeface="Cambria" pitchFamily="34" charset="-120"/>
              </a:rPr>
              <a:t>1st Review</a:t>
            </a:r>
            <a:endParaRPr lang="en-US" sz="2000" dirty="0"/>
          </a:p>
        </p:txBody>
      </p:sp>
      <p:sp>
        <p:nvSpPr>
          <p:cNvPr id="13" name="Text 9"/>
          <p:cNvSpPr txBox="1"/>
          <p:nvPr/>
        </p:nvSpPr>
        <p:spPr>
          <a:xfrm>
            <a:off x="3639312" y="2926080"/>
            <a:ext cx="2103120" cy="274320"/>
          </a:xfrm>
          <a:prstGeom prst="rect">
            <a:avLst/>
          </a:prstGeom>
          <a:noFill/>
          <a:ln/>
        </p:spPr>
        <p:txBody>
          <a:bodyPr wrap="square" lIns="0" tIns="0" rIns="0" bIns="0" rtlCol="0" anchor="t"/>
          <a:lstStyle/>
          <a:p>
            <a:pPr indent="0" marL="0">
              <a:buNone/>
            </a:pPr>
            <a:r>
              <a:rPr lang="en-US" sz="1200" dirty="0">
                <a:solidFill>
                  <a:srgbClr val="5B7A99"/>
                </a:solidFill>
              </a:rPr>
              <a:t>18/09/2026</a:t>
            </a:r>
            <a:endParaRPr lang="en-US" sz="1200" dirty="0"/>
          </a:p>
        </p:txBody>
      </p:sp>
      <p:sp>
        <p:nvSpPr>
          <p:cNvPr id="14" name="Text 10"/>
          <p:cNvSpPr txBox="1"/>
          <p:nvPr/>
        </p:nvSpPr>
        <p:spPr>
          <a:xfrm>
            <a:off x="3639312" y="3337560"/>
            <a:ext cx="2148840" cy="274320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rgbClr val="1A2433"/>
                </a:solidFill>
              </a:rPr>
              <a:t>Background</a:t>
            </a:r>
            <a:endParaRPr lang="en-US" sz="1400" dirty="0"/>
          </a:p>
          <a:p>
            <a:pPr marL="203200" indent="-203200">
              <a:spcAft>
                <a:spcPts val="500"/>
              </a:spcAft>
              <a:buSzPct val="100000"/>
              <a:buChar char="•"/>
            </a:pPr>
            <a:r>
              <a:rPr lang="en-US" sz="1400" dirty="0">
                <a:solidFill>
                  <a:srgbClr val="1A2433"/>
                </a:solidFill>
              </a:rPr>
              <a:t>Literature review of related systems</a:t>
            </a:r>
            <a:endParaRPr lang="en-US" sz="1400" dirty="0"/>
          </a:p>
          <a:p>
            <a:pPr marL="203200" indent="-203200">
              <a:spcAft>
                <a:spcPts val="500"/>
              </a:spcAft>
              <a:buSzPct val="100000"/>
              <a:buChar char="•"/>
            </a:pPr>
            <a:r>
              <a:rPr lang="en-US" sz="1400" dirty="0">
                <a:solidFill>
                  <a:srgbClr val="1A2433"/>
                </a:solidFill>
              </a:rPr>
              <a:t>Why the proposed system is better</a:t>
            </a:r>
            <a:endParaRPr lang="en-US" sz="1400" dirty="0"/>
          </a:p>
        </p:txBody>
      </p:sp>
      <p:sp>
        <p:nvSpPr>
          <p:cNvPr id="15" name="card"/>
          <p:cNvSpPr/>
          <p:nvPr/>
        </p:nvSpPr>
        <p:spPr>
          <a:xfrm>
            <a:off x="6181344" y="1417320"/>
            <a:ext cx="2606040" cy="4754880"/>
          </a:xfrm>
          <a:prstGeom prst="roundRect">
            <a:avLst>
              <a:gd name="adj" fmla="val 4211"/>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16" name="icon circle"/>
          <p:cNvSpPr/>
          <p:nvPr/>
        </p:nvSpPr>
        <p:spPr>
          <a:xfrm>
            <a:off x="6455664" y="1691640"/>
            <a:ext cx="640080" cy="640080"/>
          </a:xfrm>
          <a:prstGeom prst="ellipse">
            <a:avLst/>
          </a:prstGeom>
          <a:solidFill>
            <a:srgbClr val="004080"/>
          </a:solidFill>
          <a:ln w="12700">
            <a:solidFill>
              <a:srgbClr val="004080"/>
            </a:solidFill>
            <a:prstDash val="solid"/>
          </a:ln>
        </p:spPr>
      </p:sp>
      <p:pic>
        <p:nvPicPr>
          <p:cNvPr id="17" name="Image 2" descr="FaProjectDiagram">    </p:cNvPr>
          <p:cNvPicPr>
            <a:picLocks noChangeAspect="1"/>
          </p:cNvPicPr>
          <p:nvPr/>
        </p:nvPicPr>
        <p:blipFill>
          <a:blip r:embed="rId3"/>
          <a:stretch>
            <a:fillRect/>
          </a:stretch>
        </p:blipFill>
        <p:spPr>
          <a:xfrm>
            <a:off x="6609283" y="1845259"/>
            <a:ext cx="332842" cy="332842"/>
          </a:xfrm>
          <a:prstGeom prst="rect">
            <a:avLst/>
          </a:prstGeom>
        </p:spPr>
      </p:pic>
      <p:sp>
        <p:nvSpPr>
          <p:cNvPr id="18" name="Text 13"/>
          <p:cNvSpPr txBox="1"/>
          <p:nvPr/>
        </p:nvSpPr>
        <p:spPr>
          <a:xfrm>
            <a:off x="6455664" y="2514600"/>
            <a:ext cx="2103120" cy="411480"/>
          </a:xfrm>
          <a:prstGeom prst="rect">
            <a:avLst/>
          </a:prstGeom>
          <a:noFill/>
          <a:ln/>
        </p:spPr>
        <p:txBody>
          <a:bodyPr wrap="square" lIns="0" tIns="0" rIns="0" bIns="0" rtlCol="0" anchor="t"/>
          <a:lstStyle/>
          <a:p>
            <a:pPr indent="0" marL="0">
              <a:buNone/>
            </a:pPr>
            <a:r>
              <a:rPr lang="en-US" sz="2000" b="1" dirty="0">
                <a:solidFill>
                  <a:srgbClr val="0B2545"/>
                </a:solidFill>
                <a:latin typeface="Cambria" pitchFamily="34" charset="0"/>
                <a:ea typeface="Cambria" pitchFamily="34" charset="-122"/>
                <a:cs typeface="Cambria" pitchFamily="34" charset="-120"/>
              </a:rPr>
              <a:t>2nd Review</a:t>
            </a:r>
            <a:endParaRPr lang="en-US" sz="2000" dirty="0"/>
          </a:p>
        </p:txBody>
      </p:sp>
      <p:sp>
        <p:nvSpPr>
          <p:cNvPr id="19" name="Text 14"/>
          <p:cNvSpPr txBox="1"/>
          <p:nvPr/>
        </p:nvSpPr>
        <p:spPr>
          <a:xfrm>
            <a:off x="6455664" y="2926080"/>
            <a:ext cx="2103120" cy="274320"/>
          </a:xfrm>
          <a:prstGeom prst="rect">
            <a:avLst/>
          </a:prstGeom>
          <a:noFill/>
          <a:ln/>
        </p:spPr>
        <p:txBody>
          <a:bodyPr wrap="square" lIns="0" tIns="0" rIns="0" bIns="0" rtlCol="0" anchor="t"/>
          <a:lstStyle/>
          <a:p>
            <a:pPr indent="0" marL="0">
              <a:buNone/>
            </a:pPr>
            <a:r>
              <a:rPr lang="en-US" sz="1200" dirty="0">
                <a:solidFill>
                  <a:srgbClr val="5B7A99"/>
                </a:solidFill>
              </a:rPr>
              <a:t>16/10/2026</a:t>
            </a:r>
            <a:endParaRPr lang="en-US" sz="1200" dirty="0"/>
          </a:p>
        </p:txBody>
      </p:sp>
      <p:sp>
        <p:nvSpPr>
          <p:cNvPr id="20" name="Text 15"/>
          <p:cNvSpPr txBox="1"/>
          <p:nvPr/>
        </p:nvSpPr>
        <p:spPr>
          <a:xfrm>
            <a:off x="6455664" y="3337560"/>
            <a:ext cx="2148840" cy="274320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rgbClr val="1A2433"/>
                </a:solidFill>
              </a:rPr>
              <a:t>System architecture</a:t>
            </a:r>
            <a:endParaRPr lang="en-US" sz="1400" dirty="0"/>
          </a:p>
          <a:p>
            <a:pPr marL="203200" indent="-203200">
              <a:spcAft>
                <a:spcPts val="500"/>
              </a:spcAft>
              <a:buSzPct val="100000"/>
              <a:buChar char="•"/>
            </a:pPr>
            <a:r>
              <a:rPr lang="en-US" sz="1400" dirty="0">
                <a:solidFill>
                  <a:srgbClr val="1A2433"/>
                </a:solidFill>
              </a:rPr>
              <a:t>Data flow diagrams</a:t>
            </a:r>
            <a:endParaRPr lang="en-US" sz="1400" dirty="0"/>
          </a:p>
          <a:p>
            <a:pPr marL="203200" indent="-203200">
              <a:spcAft>
                <a:spcPts val="500"/>
              </a:spcAft>
              <a:buSzPct val="100000"/>
              <a:buChar char="•"/>
            </a:pPr>
            <a:r>
              <a:rPr lang="en-US" sz="1400" dirty="0">
                <a:solidFill>
                  <a:srgbClr val="1A2433"/>
                </a:solidFill>
              </a:rPr>
              <a:t>Use case diagram</a:t>
            </a:r>
            <a:endParaRPr lang="en-US" sz="1400" dirty="0"/>
          </a:p>
          <a:p>
            <a:pPr marL="203200" indent="-203200">
              <a:spcAft>
                <a:spcPts val="500"/>
              </a:spcAft>
              <a:buSzPct val="100000"/>
              <a:buChar char="•"/>
            </a:pPr>
            <a:r>
              <a:rPr lang="en-US" sz="1400" dirty="0">
                <a:solidFill>
                  <a:srgbClr val="1A2433"/>
                </a:solidFill>
              </a:rPr>
              <a:t>Database design</a:t>
            </a:r>
            <a:endParaRPr lang="en-US" sz="1400" dirty="0"/>
          </a:p>
        </p:txBody>
      </p:sp>
      <p:sp>
        <p:nvSpPr>
          <p:cNvPr id="21" name="card"/>
          <p:cNvSpPr/>
          <p:nvPr/>
        </p:nvSpPr>
        <p:spPr>
          <a:xfrm>
            <a:off x="8997696" y="1417320"/>
            <a:ext cx="2606040" cy="4754880"/>
          </a:xfrm>
          <a:prstGeom prst="roundRect">
            <a:avLst>
              <a:gd name="adj" fmla="val 4211"/>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22" name="icon circle"/>
          <p:cNvSpPr/>
          <p:nvPr/>
        </p:nvSpPr>
        <p:spPr>
          <a:xfrm>
            <a:off x="9272016" y="1691640"/>
            <a:ext cx="640080" cy="640080"/>
          </a:xfrm>
          <a:prstGeom prst="ellipse">
            <a:avLst/>
          </a:prstGeom>
          <a:solidFill>
            <a:srgbClr val="E3A83B"/>
          </a:solidFill>
          <a:ln w="12700">
            <a:solidFill>
              <a:srgbClr val="E3A83B"/>
            </a:solidFill>
            <a:prstDash val="solid"/>
          </a:ln>
        </p:spPr>
      </p:sp>
      <p:pic>
        <p:nvPicPr>
          <p:cNvPr id="23" name="Image 3" descr="FaCode">    </p:cNvPr>
          <p:cNvPicPr>
            <a:picLocks noChangeAspect="1"/>
          </p:cNvPicPr>
          <p:nvPr/>
        </p:nvPicPr>
        <p:blipFill>
          <a:blip r:embed="rId4"/>
          <a:stretch>
            <a:fillRect/>
          </a:stretch>
        </p:blipFill>
        <p:spPr>
          <a:xfrm>
            <a:off x="9425635" y="1845259"/>
            <a:ext cx="332842" cy="332842"/>
          </a:xfrm>
          <a:prstGeom prst="rect">
            <a:avLst/>
          </a:prstGeom>
        </p:spPr>
      </p:pic>
      <p:sp>
        <p:nvSpPr>
          <p:cNvPr id="24" name="Text 18"/>
          <p:cNvSpPr txBox="1"/>
          <p:nvPr/>
        </p:nvSpPr>
        <p:spPr>
          <a:xfrm>
            <a:off x="9272016" y="2514600"/>
            <a:ext cx="2103120" cy="411480"/>
          </a:xfrm>
          <a:prstGeom prst="rect">
            <a:avLst/>
          </a:prstGeom>
          <a:noFill/>
          <a:ln/>
        </p:spPr>
        <p:txBody>
          <a:bodyPr wrap="square" lIns="0" tIns="0" rIns="0" bIns="0" rtlCol="0" anchor="t"/>
          <a:lstStyle/>
          <a:p>
            <a:pPr indent="0" marL="0">
              <a:buNone/>
            </a:pPr>
            <a:r>
              <a:rPr lang="en-US" sz="2000" b="1" dirty="0">
                <a:solidFill>
                  <a:srgbClr val="0B2545"/>
                </a:solidFill>
                <a:latin typeface="Cambria" pitchFamily="34" charset="0"/>
                <a:ea typeface="Cambria" pitchFamily="34" charset="-122"/>
                <a:cs typeface="Cambria" pitchFamily="34" charset="-120"/>
              </a:rPr>
              <a:t>3rd Review</a:t>
            </a:r>
            <a:endParaRPr lang="en-US" sz="2000" dirty="0"/>
          </a:p>
        </p:txBody>
      </p:sp>
      <p:sp>
        <p:nvSpPr>
          <p:cNvPr id="25" name="Text 19"/>
          <p:cNvSpPr txBox="1"/>
          <p:nvPr/>
        </p:nvSpPr>
        <p:spPr>
          <a:xfrm>
            <a:off x="9272016" y="2926080"/>
            <a:ext cx="2103120" cy="274320"/>
          </a:xfrm>
          <a:prstGeom prst="rect">
            <a:avLst/>
          </a:prstGeom>
          <a:noFill/>
          <a:ln/>
        </p:spPr>
        <p:txBody>
          <a:bodyPr wrap="square" lIns="0" tIns="0" rIns="0" bIns="0" rtlCol="0" anchor="t"/>
          <a:lstStyle/>
          <a:p>
            <a:pPr indent="0" marL="0">
              <a:buNone/>
            </a:pPr>
            <a:r>
              <a:rPr lang="en-US" sz="1200" dirty="0">
                <a:solidFill>
                  <a:srgbClr val="5B7A99"/>
                </a:solidFill>
              </a:rPr>
              <a:t>23/10/2026</a:t>
            </a:r>
            <a:endParaRPr lang="en-US" sz="1200" dirty="0"/>
          </a:p>
        </p:txBody>
      </p:sp>
      <p:sp>
        <p:nvSpPr>
          <p:cNvPr id="26" name="Text 20"/>
          <p:cNvSpPr txBox="1"/>
          <p:nvPr/>
        </p:nvSpPr>
        <p:spPr>
          <a:xfrm>
            <a:off x="9272016" y="3337560"/>
            <a:ext cx="2148840" cy="274320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rgbClr val="1A2433"/>
                </a:solidFill>
              </a:rPr>
              <a:t>Programming language &amp; design</a:t>
            </a:r>
            <a:endParaRPr lang="en-US" sz="1400" dirty="0"/>
          </a:p>
          <a:p>
            <a:pPr marL="203200" indent="-203200">
              <a:spcAft>
                <a:spcPts val="500"/>
              </a:spcAft>
              <a:buSzPct val="100000"/>
              <a:buChar char="•"/>
            </a:pPr>
            <a:r>
              <a:rPr lang="en-US" sz="1400" dirty="0">
                <a:solidFill>
                  <a:srgbClr val="1A2433"/>
                </a:solidFill>
              </a:rPr>
              <a:t>Evaluation &amp; maintenance</a:t>
            </a:r>
            <a:endParaRPr lang="en-US" sz="1400" dirty="0"/>
          </a:p>
          <a:p>
            <a:pPr marL="203200" indent="-203200">
              <a:spcAft>
                <a:spcPts val="500"/>
              </a:spcAft>
              <a:buSzPct val="100000"/>
              <a:buChar char="•"/>
            </a:pPr>
            <a:r>
              <a:rPr lang="en-US" sz="1400" dirty="0">
                <a:solidFill>
                  <a:srgbClr val="1A2433"/>
                </a:solidFill>
              </a:rPr>
              <a:t>Installation &amp; operation</a:t>
            </a:r>
            <a:endParaRPr lang="en-US" sz="1400" dirty="0"/>
          </a:p>
          <a:p>
            <a:pPr marL="203200" indent="-203200">
              <a:spcAft>
                <a:spcPts val="500"/>
              </a:spcAft>
              <a:buSzPct val="100000"/>
              <a:buChar char="•"/>
            </a:pPr>
            <a:r>
              <a:rPr lang="en-US" sz="1400" dirty="0">
                <a:solidFill>
                  <a:srgbClr val="1A2433"/>
                </a:solidFill>
              </a:rPr>
              <a:t>Security</a:t>
            </a:r>
            <a:endParaRPr lang="en-US" sz="1400" dirty="0"/>
          </a:p>
          <a:p>
            <a:pPr marL="203200" indent="-203200">
              <a:spcAft>
                <a:spcPts val="500"/>
              </a:spcAft>
              <a:buSzPct val="100000"/>
              <a:buChar char="•"/>
            </a:pPr>
            <a:r>
              <a:rPr lang="en-US" sz="1400" dirty="0">
                <a:solidFill>
                  <a:srgbClr val="1A2433"/>
                </a:solidFill>
              </a:rPr>
              <a:t>Pages, features &amp; code</a:t>
            </a:r>
            <a:endParaRPr lang="en-US" sz="1400" dirty="0"/>
          </a:p>
          <a:p>
            <a:pPr marL="203200" indent="-203200">
              <a:spcAft>
                <a:spcPts val="500"/>
              </a:spcAft>
              <a:buSzPct val="100000"/>
              <a:buChar char="•"/>
            </a:pPr>
            <a:r>
              <a:rPr lang="en-US" sz="1400" dirty="0">
                <a:solidFill>
                  <a:srgbClr val="1A2433"/>
                </a:solidFill>
              </a:rPr>
              <a:t>Conclusion &amp; summary</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6400800" cy="137160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0th Review</a:t>
            </a:r>
            <a:endParaRPr lang="en-US" sz="4400" dirty="0"/>
          </a:p>
        </p:txBody>
      </p:sp>
      <p:sp>
        <p:nvSpPr>
          <p:cNvPr id="3" name="Text 0"/>
          <p:cNvSpPr/>
          <p:nvPr>
            <p:ph idx="101" type="body" hasCustomPrompt="1"/>
          </p:nvPr>
        </p:nvSpPr>
        <p:spPr>
          <a:xfrm>
            <a:off x="731520" y="3657600"/>
            <a:ext cx="6400800" cy="2377440"/>
          </a:xfrm>
          <a:prstGeom prst="rect">
            <a:avLst/>
          </a:prstGeom>
          <a:noFill/>
          <a:ln/>
        </p:spPr>
        <p:txBody>
          <a:bodyPr wrap="square" lIns="0" tIns="0" rIns="0" bIns="0" rtlCol="0" anchor="t"/>
          <a:lstStyle/>
          <a:p>
            <a:pPr indent="0" marL="0">
              <a:buNone/>
            </a:pPr>
            <a:r>
              <a:rPr lang="en-US" sz="1800" dirty="0">
                <a:solidFill>
                  <a:srgbClr val="D6E2F1"/>
                </a:solidFill>
              </a:rPr>
              <a:t>04/09/2026  ·  Introduction, about the project, problem statement, aims &amp; objectives, scope &amp; limitations, development requirements and justification of the study</a:t>
            </a:r>
            <a:endParaRPr lang="en-US" sz="1800" dirty="0"/>
          </a:p>
        </p:txBody>
      </p:sp>
      <p:sp>
        <p:nvSpPr>
          <p:cNvPr id="4" name="icon circle"/>
          <p:cNvSpPr/>
          <p:nvPr/>
        </p:nvSpPr>
        <p:spPr>
          <a:xfrm>
            <a:off x="8503920" y="2011680"/>
            <a:ext cx="2560320" cy="2560320"/>
          </a:xfrm>
          <a:prstGeom prst="ellipse">
            <a:avLst/>
          </a:prstGeom>
          <a:solidFill>
            <a:srgbClr val="163A63"/>
          </a:solidFill>
          <a:ln w="12700">
            <a:solidFill>
              <a:srgbClr val="163A63"/>
            </a:solidFill>
            <a:prstDash val="solid"/>
          </a:ln>
        </p:spPr>
      </p:sp>
      <p:pic>
        <p:nvPicPr>
          <p:cNvPr id="5" name="Image 0" descr="FaFlag">    </p:cNvPr>
          <p:cNvPicPr>
            <a:picLocks noChangeAspect="1"/>
          </p:cNvPicPr>
          <p:nvPr/>
        </p:nvPicPr>
        <p:blipFill>
          <a:blip r:embed="rId1"/>
          <a:stretch>
            <a:fillRect/>
          </a:stretch>
        </p:blipFill>
        <p:spPr>
          <a:xfrm>
            <a:off x="9118397" y="2626157"/>
            <a:ext cx="1331366" cy="133136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Introduction</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0th Review</a:t>
            </a:r>
            <a:endParaRPr lang="en-US" sz="1100" dirty="0"/>
          </a:p>
        </p:txBody>
      </p:sp>
      <p:sp>
        <p:nvSpPr>
          <p:cNvPr id="5" name="Text 3"/>
          <p:cNvSpPr txBox="1"/>
          <p:nvPr/>
        </p:nvSpPr>
        <p:spPr>
          <a:xfrm>
            <a:off x="548640" y="1463040"/>
            <a:ext cx="5852160" cy="4206240"/>
          </a:xfrm>
          <a:prstGeom prst="rect">
            <a:avLst/>
          </a:prstGeom>
          <a:noFill/>
          <a:ln/>
        </p:spPr>
        <p:txBody>
          <a:bodyPr wrap="square" lIns="0" tIns="0" rIns="0" bIns="0" rtlCol="0" anchor="t"/>
          <a:lstStyle/>
          <a:p>
            <a:pPr indent="0" marL="0">
              <a:spcAft>
                <a:spcPts val="1200"/>
              </a:spcAft>
              <a:buNone/>
            </a:pPr>
            <a:r>
              <a:rPr lang="en-US" sz="1700" dirty="0">
                <a:solidFill>
                  <a:srgbClr val="1A2433"/>
                </a:solidFill>
              </a:rPr>
              <a:t>Universities run on processes: admitting students, billing and collecting fees, registering students each semester, teaching, examining and publishing results.</a:t>
            </a:r>
            <a:endParaRPr lang="en-US" sz="1700" dirty="0"/>
          </a:p>
          <a:p>
            <a:pPr indent="0" marL="0">
              <a:spcAft>
                <a:spcPts val="1200"/>
              </a:spcAft>
              <a:buNone/>
            </a:pPr>
            <a:r>
              <a:rPr lang="en-US" sz="1700" dirty="0">
                <a:solidFill>
                  <a:srgbClr val="1A2433"/>
                </a:solidFill>
              </a:rPr>
              <a:t>At DMISEU Chipata Campus most of these still depend on paper forms, notice boards and students walking from office to office for signatures.</a:t>
            </a:r>
            <a:endParaRPr lang="en-US" sz="1700" dirty="0"/>
          </a:p>
          <a:p>
            <a:pPr indent="0" marL="0">
              <a:buNone/>
            </a:pPr>
            <a:r>
              <a:rPr lang="en-US" sz="1700" b="1" dirty="0">
                <a:solidFill>
                  <a:srgbClr val="0B2545"/>
                </a:solidFill>
              </a:rPr>
              <a:t>This project replaces those steps with one secure web portal, where every student, lecturer and staff office works from the same live information.</a:t>
            </a:r>
            <a:endParaRPr lang="en-US" sz="1700" dirty="0"/>
          </a:p>
        </p:txBody>
      </p:sp>
      <p:sp>
        <p:nvSpPr>
          <p:cNvPr id="6" name="card"/>
          <p:cNvSpPr/>
          <p:nvPr/>
        </p:nvSpPr>
        <p:spPr>
          <a:xfrm>
            <a:off x="6858000" y="1463040"/>
            <a:ext cx="2240280" cy="2011680"/>
          </a:xfrm>
          <a:prstGeom prst="roundRect">
            <a:avLst>
              <a:gd name="adj" fmla="val 5455"/>
            </a:avLst>
          </a:prstGeom>
          <a:solidFill>
            <a:srgbClr val="0B2545"/>
          </a:solidFill>
          <a:ln w="12700">
            <a:solidFill>
              <a:srgbClr val="0B2545"/>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7086600" y="1691640"/>
            <a:ext cx="1828800" cy="868680"/>
          </a:xfrm>
          <a:prstGeom prst="rect">
            <a:avLst/>
          </a:prstGeom>
          <a:noFill/>
          <a:ln/>
        </p:spPr>
        <p:txBody>
          <a:bodyPr wrap="square" lIns="0" tIns="0" rIns="0" bIns="0" rtlCol="0" anchor="t"/>
          <a:lstStyle/>
          <a:p>
            <a:pPr indent="0" marL="0">
              <a:buNone/>
            </a:pPr>
            <a:r>
              <a:rPr lang="en-US" sz="4800" b="1" dirty="0">
                <a:solidFill>
                  <a:srgbClr val="E3A83B"/>
                </a:solidFill>
                <a:latin typeface="Cambria" pitchFamily="34" charset="0"/>
                <a:ea typeface="Cambria" pitchFamily="34" charset="-122"/>
                <a:cs typeface="Cambria" pitchFamily="34" charset="-120"/>
              </a:rPr>
              <a:t>5</a:t>
            </a:r>
            <a:endParaRPr lang="en-US" sz="4800" dirty="0"/>
          </a:p>
        </p:txBody>
      </p:sp>
      <p:sp>
        <p:nvSpPr>
          <p:cNvPr id="8" name="Text 6"/>
          <p:cNvSpPr txBox="1"/>
          <p:nvPr/>
        </p:nvSpPr>
        <p:spPr>
          <a:xfrm>
            <a:off x="7086600" y="2606040"/>
            <a:ext cx="1828800" cy="731520"/>
          </a:xfrm>
          <a:prstGeom prst="rect">
            <a:avLst/>
          </a:prstGeom>
          <a:noFill/>
          <a:ln/>
        </p:spPr>
        <p:txBody>
          <a:bodyPr wrap="square" lIns="0" tIns="0" rIns="0" bIns="0" rtlCol="0" anchor="t"/>
          <a:lstStyle/>
          <a:p>
            <a:pPr indent="0" marL="0">
              <a:buNone/>
            </a:pPr>
            <a:r>
              <a:rPr lang="en-US" sz="1400" dirty="0">
                <a:solidFill>
                  <a:srgbClr val="FFFFFF"/>
                </a:solidFill>
              </a:rPr>
              <a:t>Schools served</a:t>
            </a:r>
            <a:endParaRPr lang="en-US" sz="1400" dirty="0"/>
          </a:p>
        </p:txBody>
      </p:sp>
      <p:sp>
        <p:nvSpPr>
          <p:cNvPr id="9" name="card"/>
          <p:cNvSpPr/>
          <p:nvPr/>
        </p:nvSpPr>
        <p:spPr>
          <a:xfrm>
            <a:off x="9281160" y="1463040"/>
            <a:ext cx="2240280" cy="2011680"/>
          </a:xfrm>
          <a:prstGeom prst="roundRect">
            <a:avLst>
              <a:gd name="adj" fmla="val 5455"/>
            </a:avLst>
          </a:prstGeom>
          <a:solidFill>
            <a:srgbClr val="EEF3F9"/>
          </a:solidFill>
          <a:ln w="12700">
            <a:solidFill>
              <a:srgbClr val="EEF3F9"/>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9509760" y="1691640"/>
            <a:ext cx="1828800" cy="868680"/>
          </a:xfrm>
          <a:prstGeom prst="rect">
            <a:avLst/>
          </a:prstGeom>
          <a:noFill/>
          <a:ln/>
        </p:spPr>
        <p:txBody>
          <a:bodyPr wrap="square" lIns="0" tIns="0" rIns="0" bIns="0" rtlCol="0" anchor="t"/>
          <a:lstStyle/>
          <a:p>
            <a:pPr indent="0" marL="0">
              <a:buNone/>
            </a:pPr>
            <a:r>
              <a:rPr lang="en-US" sz="4800" b="1" dirty="0">
                <a:solidFill>
                  <a:srgbClr val="004080"/>
                </a:solidFill>
                <a:latin typeface="Cambria" pitchFamily="34" charset="0"/>
                <a:ea typeface="Cambria" pitchFamily="34" charset="-122"/>
                <a:cs typeface="Cambria" pitchFamily="34" charset="-120"/>
              </a:rPr>
              <a:t>19</a:t>
            </a:r>
            <a:endParaRPr lang="en-US" sz="4800" dirty="0"/>
          </a:p>
        </p:txBody>
      </p:sp>
      <p:sp>
        <p:nvSpPr>
          <p:cNvPr id="11" name="Text 9"/>
          <p:cNvSpPr txBox="1"/>
          <p:nvPr/>
        </p:nvSpPr>
        <p:spPr>
          <a:xfrm>
            <a:off x="9509760" y="2606040"/>
            <a:ext cx="1828800" cy="731520"/>
          </a:xfrm>
          <a:prstGeom prst="rect">
            <a:avLst/>
          </a:prstGeom>
          <a:noFill/>
          <a:ln/>
        </p:spPr>
        <p:txBody>
          <a:bodyPr wrap="square" lIns="0" tIns="0" rIns="0" bIns="0" rtlCol="0" anchor="t"/>
          <a:lstStyle/>
          <a:p>
            <a:pPr indent="0" marL="0">
              <a:buNone/>
            </a:pPr>
            <a:r>
              <a:rPr lang="en-US" sz="1400" dirty="0">
                <a:solidFill>
                  <a:srgbClr val="1A2433"/>
                </a:solidFill>
              </a:rPr>
              <a:t>Diploma &amp; Bachelor programmes</a:t>
            </a:r>
            <a:endParaRPr lang="en-US" sz="1400" dirty="0"/>
          </a:p>
        </p:txBody>
      </p:sp>
      <p:sp>
        <p:nvSpPr>
          <p:cNvPr id="12" name="card"/>
          <p:cNvSpPr/>
          <p:nvPr/>
        </p:nvSpPr>
        <p:spPr>
          <a:xfrm>
            <a:off x="6858000" y="3703320"/>
            <a:ext cx="2240280" cy="2011680"/>
          </a:xfrm>
          <a:prstGeom prst="roundRect">
            <a:avLst>
              <a:gd name="adj" fmla="val 5455"/>
            </a:avLst>
          </a:prstGeom>
          <a:solidFill>
            <a:srgbClr val="EEF3F9"/>
          </a:solidFill>
          <a:ln w="12700">
            <a:solidFill>
              <a:srgbClr val="EEF3F9"/>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7086600" y="3931920"/>
            <a:ext cx="1828800" cy="868680"/>
          </a:xfrm>
          <a:prstGeom prst="rect">
            <a:avLst/>
          </a:prstGeom>
          <a:noFill/>
          <a:ln/>
        </p:spPr>
        <p:txBody>
          <a:bodyPr wrap="square" lIns="0" tIns="0" rIns="0" bIns="0" rtlCol="0" anchor="t"/>
          <a:lstStyle/>
          <a:p>
            <a:pPr indent="0" marL="0">
              <a:buNone/>
            </a:pPr>
            <a:r>
              <a:rPr lang="en-US" sz="4800" b="1" dirty="0">
                <a:solidFill>
                  <a:srgbClr val="004080"/>
                </a:solidFill>
                <a:latin typeface="Cambria" pitchFamily="34" charset="0"/>
                <a:ea typeface="Cambria" pitchFamily="34" charset="-122"/>
                <a:cs typeface="Cambria" pitchFamily="34" charset="-120"/>
              </a:rPr>
              <a:t>10</a:t>
            </a:r>
            <a:endParaRPr lang="en-US" sz="4800" dirty="0"/>
          </a:p>
        </p:txBody>
      </p:sp>
      <p:sp>
        <p:nvSpPr>
          <p:cNvPr id="14" name="Text 12"/>
          <p:cNvSpPr txBox="1"/>
          <p:nvPr/>
        </p:nvSpPr>
        <p:spPr>
          <a:xfrm>
            <a:off x="7086600" y="4846320"/>
            <a:ext cx="1828800" cy="731520"/>
          </a:xfrm>
          <a:prstGeom prst="rect">
            <a:avLst/>
          </a:prstGeom>
          <a:noFill/>
          <a:ln/>
        </p:spPr>
        <p:txBody>
          <a:bodyPr wrap="square" lIns="0" tIns="0" rIns="0" bIns="0" rtlCol="0" anchor="t"/>
          <a:lstStyle/>
          <a:p>
            <a:pPr indent="0" marL="0">
              <a:buNone/>
            </a:pPr>
            <a:r>
              <a:rPr lang="en-US" sz="1400" dirty="0">
                <a:solidFill>
                  <a:srgbClr val="1A2433"/>
                </a:solidFill>
              </a:rPr>
              <a:t>User roles, each with its own view</a:t>
            </a:r>
            <a:endParaRPr lang="en-US" sz="1400" dirty="0"/>
          </a:p>
        </p:txBody>
      </p:sp>
      <p:sp>
        <p:nvSpPr>
          <p:cNvPr id="15" name="card"/>
          <p:cNvSpPr/>
          <p:nvPr/>
        </p:nvSpPr>
        <p:spPr>
          <a:xfrm>
            <a:off x="9281160" y="3703320"/>
            <a:ext cx="2240280" cy="2011680"/>
          </a:xfrm>
          <a:prstGeom prst="roundRect">
            <a:avLst>
              <a:gd name="adj" fmla="val 5455"/>
            </a:avLst>
          </a:prstGeom>
          <a:solidFill>
            <a:srgbClr val="0B2545"/>
          </a:solidFill>
          <a:ln w="12700">
            <a:solidFill>
              <a:srgbClr val="0B2545"/>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9509760" y="3931920"/>
            <a:ext cx="1828800" cy="868680"/>
          </a:xfrm>
          <a:prstGeom prst="rect">
            <a:avLst/>
          </a:prstGeom>
          <a:noFill/>
          <a:ln/>
        </p:spPr>
        <p:txBody>
          <a:bodyPr wrap="square" lIns="0" tIns="0" rIns="0" bIns="0" rtlCol="0" anchor="t"/>
          <a:lstStyle/>
          <a:p>
            <a:pPr indent="0" marL="0">
              <a:buNone/>
            </a:pPr>
            <a:r>
              <a:rPr lang="en-US" sz="4800" b="1" dirty="0">
                <a:solidFill>
                  <a:srgbClr val="E3A83B"/>
                </a:solidFill>
                <a:latin typeface="Cambria" pitchFamily="34" charset="0"/>
                <a:ea typeface="Cambria" pitchFamily="34" charset="-122"/>
                <a:cs typeface="Cambria" pitchFamily="34" charset="-120"/>
              </a:rPr>
              <a:t>30</a:t>
            </a:r>
            <a:endParaRPr lang="en-US" sz="4800" dirty="0"/>
          </a:p>
        </p:txBody>
      </p:sp>
      <p:sp>
        <p:nvSpPr>
          <p:cNvPr id="17" name="Text 15"/>
          <p:cNvSpPr txBox="1"/>
          <p:nvPr/>
        </p:nvSpPr>
        <p:spPr>
          <a:xfrm>
            <a:off x="9509760" y="4846320"/>
            <a:ext cx="1828800" cy="731520"/>
          </a:xfrm>
          <a:prstGeom prst="rect">
            <a:avLst/>
          </a:prstGeom>
          <a:noFill/>
          <a:ln/>
        </p:spPr>
        <p:txBody>
          <a:bodyPr wrap="square" lIns="0" tIns="0" rIns="0" bIns="0" rtlCol="0" anchor="t"/>
          <a:lstStyle/>
          <a:p>
            <a:pPr indent="0" marL="0">
              <a:buNone/>
            </a:pPr>
            <a:r>
              <a:rPr lang="en-US" sz="1400" dirty="0">
                <a:solidFill>
                  <a:srgbClr val="FFFFFF"/>
                </a:solidFill>
              </a:rPr>
              <a:t>Database tables behind the portal</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About the project</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0th Review</a:t>
            </a:r>
            <a:endParaRPr lang="en-US" sz="1100" dirty="0"/>
          </a:p>
        </p:txBody>
      </p:sp>
      <p:sp>
        <p:nvSpPr>
          <p:cNvPr id="5" name="Text 3"/>
          <p:cNvSpPr txBox="1"/>
          <p:nvPr/>
        </p:nvSpPr>
        <p:spPr>
          <a:xfrm>
            <a:off x="548640" y="1325880"/>
            <a:ext cx="10789920" cy="365760"/>
          </a:xfrm>
          <a:prstGeom prst="rect">
            <a:avLst/>
          </a:prstGeom>
          <a:noFill/>
          <a:ln/>
        </p:spPr>
        <p:txBody>
          <a:bodyPr wrap="square" lIns="0" tIns="0" rIns="0" bIns="0" rtlCol="0" anchor="t"/>
          <a:lstStyle/>
          <a:p>
            <a:pPr indent="0" marL="0">
              <a:buNone/>
            </a:pPr>
            <a:r>
              <a:rPr lang="en-US" sz="1600" dirty="0">
                <a:solidFill>
                  <a:srgbClr val="5B7A99"/>
                </a:solidFill>
              </a:rPr>
              <a:t>A role-based web portal built with Node.js, Express and MySQL. Each module replaces a paper or manual process:</a:t>
            </a:r>
            <a:endParaRPr lang="en-US" sz="1600" dirty="0"/>
          </a:p>
        </p:txBody>
      </p:sp>
      <p:sp>
        <p:nvSpPr>
          <p:cNvPr id="6" name="card"/>
          <p:cNvSpPr/>
          <p:nvPr/>
        </p:nvSpPr>
        <p:spPr>
          <a:xfrm>
            <a:off x="548640" y="1874520"/>
            <a:ext cx="2606040" cy="2011680"/>
          </a:xfrm>
          <a:prstGeom prst="roundRect">
            <a:avLst>
              <a:gd name="adj" fmla="val 5455"/>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7" name="icon circle"/>
          <p:cNvSpPr/>
          <p:nvPr/>
        </p:nvSpPr>
        <p:spPr>
          <a:xfrm>
            <a:off x="777240" y="2103120"/>
            <a:ext cx="566928" cy="566928"/>
          </a:xfrm>
          <a:prstGeom prst="ellipse">
            <a:avLst/>
          </a:prstGeom>
          <a:solidFill>
            <a:srgbClr val="004080"/>
          </a:solidFill>
          <a:ln w="12700">
            <a:solidFill>
              <a:srgbClr val="004080"/>
            </a:solidFill>
            <a:prstDash val="solid"/>
          </a:ln>
        </p:spPr>
      </p:sp>
      <p:pic>
        <p:nvPicPr>
          <p:cNvPr id="8" name="Image 0" descr="FaFileSignature">    </p:cNvPr>
          <p:cNvPicPr>
            <a:picLocks noChangeAspect="1"/>
          </p:cNvPicPr>
          <p:nvPr/>
        </p:nvPicPr>
        <p:blipFill>
          <a:blip r:embed="rId1"/>
          <a:stretch>
            <a:fillRect/>
          </a:stretch>
        </p:blipFill>
        <p:spPr>
          <a:xfrm>
            <a:off x="913303" y="2239183"/>
            <a:ext cx="294803" cy="294803"/>
          </a:xfrm>
          <a:prstGeom prst="rect">
            <a:avLst/>
          </a:prstGeom>
        </p:spPr>
      </p:pic>
      <p:sp>
        <p:nvSpPr>
          <p:cNvPr id="9" name="Text 6"/>
          <p:cNvSpPr txBox="1"/>
          <p:nvPr/>
        </p:nvSpPr>
        <p:spPr>
          <a:xfrm>
            <a:off x="777240" y="2788920"/>
            <a:ext cx="2194560" cy="365760"/>
          </a:xfrm>
          <a:prstGeom prst="rect">
            <a:avLst/>
          </a:prstGeom>
          <a:noFill/>
          <a:ln/>
        </p:spPr>
        <p:txBody>
          <a:bodyPr wrap="square" lIns="0" tIns="0" rIns="0" bIns="0" rtlCol="0" anchor="t"/>
          <a:lstStyle/>
          <a:p>
            <a:pPr indent="0" marL="0">
              <a:buNone/>
            </a:pPr>
            <a:r>
              <a:rPr lang="en-US" sz="1600" b="1" dirty="0">
                <a:solidFill>
                  <a:srgbClr val="0B2545"/>
                </a:solidFill>
              </a:rPr>
              <a:t>Online admissions</a:t>
            </a:r>
            <a:endParaRPr lang="en-US" sz="1600" dirty="0"/>
          </a:p>
        </p:txBody>
      </p:sp>
      <p:sp>
        <p:nvSpPr>
          <p:cNvPr id="10" name="Text 7"/>
          <p:cNvSpPr txBox="1"/>
          <p:nvPr/>
        </p:nvSpPr>
        <p:spPr>
          <a:xfrm>
            <a:off x="777240" y="3154680"/>
            <a:ext cx="2194560" cy="685800"/>
          </a:xfrm>
          <a:prstGeom prst="rect">
            <a:avLst/>
          </a:prstGeom>
          <a:noFill/>
          <a:ln/>
        </p:spPr>
        <p:txBody>
          <a:bodyPr wrap="square" lIns="0" tIns="0" rIns="0" bIns="0" rtlCol="0" anchor="t"/>
          <a:lstStyle/>
          <a:p>
            <a:pPr indent="0" marL="0">
              <a:buNone/>
            </a:pPr>
            <a:r>
              <a:rPr lang="en-US" sz="1300" dirty="0">
                <a:solidFill>
                  <a:srgbClr val="1A2433"/>
                </a:solidFill>
              </a:rPr>
              <a:t>Apply for a programme online; registry reviews and accepts</a:t>
            </a:r>
            <a:endParaRPr lang="en-US" sz="1300" dirty="0"/>
          </a:p>
        </p:txBody>
      </p:sp>
      <p:sp>
        <p:nvSpPr>
          <p:cNvPr id="11" name="card"/>
          <p:cNvSpPr/>
          <p:nvPr/>
        </p:nvSpPr>
        <p:spPr>
          <a:xfrm>
            <a:off x="3364992" y="1874520"/>
            <a:ext cx="2606040" cy="2011680"/>
          </a:xfrm>
          <a:prstGeom prst="roundRect">
            <a:avLst>
              <a:gd name="adj" fmla="val 5455"/>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12" name="icon circle"/>
          <p:cNvSpPr/>
          <p:nvPr/>
        </p:nvSpPr>
        <p:spPr>
          <a:xfrm>
            <a:off x="3593592" y="2103120"/>
            <a:ext cx="566928" cy="566928"/>
          </a:xfrm>
          <a:prstGeom prst="ellipse">
            <a:avLst/>
          </a:prstGeom>
          <a:solidFill>
            <a:srgbClr val="004080"/>
          </a:solidFill>
          <a:ln w="12700">
            <a:solidFill>
              <a:srgbClr val="004080"/>
            </a:solidFill>
            <a:prstDash val="solid"/>
          </a:ln>
        </p:spPr>
      </p:sp>
      <p:pic>
        <p:nvPicPr>
          <p:cNvPr id="13" name="Image 1" descr="FaUsers">    </p:cNvPr>
          <p:cNvPicPr>
            <a:picLocks noChangeAspect="1"/>
          </p:cNvPicPr>
          <p:nvPr/>
        </p:nvPicPr>
        <p:blipFill>
          <a:blip r:embed="rId2"/>
          <a:stretch>
            <a:fillRect/>
          </a:stretch>
        </p:blipFill>
        <p:spPr>
          <a:xfrm>
            <a:off x="3729655" y="2239183"/>
            <a:ext cx="294803" cy="294803"/>
          </a:xfrm>
          <a:prstGeom prst="rect">
            <a:avLst/>
          </a:prstGeom>
        </p:spPr>
      </p:pic>
      <p:sp>
        <p:nvSpPr>
          <p:cNvPr id="14" name="Text 10"/>
          <p:cNvSpPr txBox="1"/>
          <p:nvPr/>
        </p:nvSpPr>
        <p:spPr>
          <a:xfrm>
            <a:off x="3593592" y="2788920"/>
            <a:ext cx="2194560" cy="365760"/>
          </a:xfrm>
          <a:prstGeom prst="rect">
            <a:avLst/>
          </a:prstGeom>
          <a:noFill/>
          <a:ln/>
        </p:spPr>
        <p:txBody>
          <a:bodyPr wrap="square" lIns="0" tIns="0" rIns="0" bIns="0" rtlCol="0" anchor="t"/>
          <a:lstStyle/>
          <a:p>
            <a:pPr indent="0" marL="0">
              <a:buNone/>
            </a:pPr>
            <a:r>
              <a:rPr lang="en-US" sz="1600" b="1" dirty="0">
                <a:solidFill>
                  <a:srgbClr val="0B2545"/>
                </a:solidFill>
              </a:rPr>
              <a:t>Role-based portals</a:t>
            </a:r>
            <a:endParaRPr lang="en-US" sz="1600" dirty="0"/>
          </a:p>
        </p:txBody>
      </p:sp>
      <p:sp>
        <p:nvSpPr>
          <p:cNvPr id="15" name="Text 11"/>
          <p:cNvSpPr txBox="1"/>
          <p:nvPr/>
        </p:nvSpPr>
        <p:spPr>
          <a:xfrm>
            <a:off x="3593592" y="3154680"/>
            <a:ext cx="2194560" cy="685800"/>
          </a:xfrm>
          <a:prstGeom prst="rect">
            <a:avLst/>
          </a:prstGeom>
          <a:noFill/>
          <a:ln/>
        </p:spPr>
        <p:txBody>
          <a:bodyPr wrap="square" lIns="0" tIns="0" rIns="0" bIns="0" rtlCol="0" anchor="t"/>
          <a:lstStyle/>
          <a:p>
            <a:pPr indent="0" marL="0">
              <a:buNone/>
            </a:pPr>
            <a:r>
              <a:rPr lang="en-US" sz="1300" dirty="0">
                <a:solidFill>
                  <a:srgbClr val="1A2433"/>
                </a:solidFill>
              </a:rPr>
              <a:t>Student, lecturer and staff dashboards with their own tabs</a:t>
            </a:r>
            <a:endParaRPr lang="en-US" sz="1300" dirty="0"/>
          </a:p>
        </p:txBody>
      </p:sp>
      <p:sp>
        <p:nvSpPr>
          <p:cNvPr id="16" name="card"/>
          <p:cNvSpPr/>
          <p:nvPr/>
        </p:nvSpPr>
        <p:spPr>
          <a:xfrm>
            <a:off x="6181344" y="1874520"/>
            <a:ext cx="2606040" cy="2011680"/>
          </a:xfrm>
          <a:prstGeom prst="roundRect">
            <a:avLst>
              <a:gd name="adj" fmla="val 5455"/>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17" name="icon circle"/>
          <p:cNvSpPr/>
          <p:nvPr/>
        </p:nvSpPr>
        <p:spPr>
          <a:xfrm>
            <a:off x="6409944" y="2103120"/>
            <a:ext cx="566928" cy="566928"/>
          </a:xfrm>
          <a:prstGeom prst="ellipse">
            <a:avLst/>
          </a:prstGeom>
          <a:solidFill>
            <a:srgbClr val="004080"/>
          </a:solidFill>
          <a:ln w="12700">
            <a:solidFill>
              <a:srgbClr val="004080"/>
            </a:solidFill>
            <a:prstDash val="solid"/>
          </a:ln>
        </p:spPr>
      </p:sp>
      <p:pic>
        <p:nvPicPr>
          <p:cNvPr id="18" name="Image 2" descr="FaMoneyBillWave">    </p:cNvPr>
          <p:cNvPicPr>
            <a:picLocks noChangeAspect="1"/>
          </p:cNvPicPr>
          <p:nvPr/>
        </p:nvPicPr>
        <p:blipFill>
          <a:blip r:embed="rId3"/>
          <a:stretch>
            <a:fillRect/>
          </a:stretch>
        </p:blipFill>
        <p:spPr>
          <a:xfrm>
            <a:off x="6546007" y="2239183"/>
            <a:ext cx="294803" cy="294803"/>
          </a:xfrm>
          <a:prstGeom prst="rect">
            <a:avLst/>
          </a:prstGeom>
        </p:spPr>
      </p:pic>
      <p:sp>
        <p:nvSpPr>
          <p:cNvPr id="19" name="Text 14"/>
          <p:cNvSpPr txBox="1"/>
          <p:nvPr/>
        </p:nvSpPr>
        <p:spPr>
          <a:xfrm>
            <a:off x="6409944" y="2788920"/>
            <a:ext cx="2194560" cy="365760"/>
          </a:xfrm>
          <a:prstGeom prst="rect">
            <a:avLst/>
          </a:prstGeom>
          <a:noFill/>
          <a:ln/>
        </p:spPr>
        <p:txBody>
          <a:bodyPr wrap="square" lIns="0" tIns="0" rIns="0" bIns="0" rtlCol="0" anchor="t"/>
          <a:lstStyle/>
          <a:p>
            <a:pPr indent="0" marL="0">
              <a:buNone/>
            </a:pPr>
            <a:r>
              <a:rPr lang="en-US" sz="1600" b="1" dirty="0">
                <a:solidFill>
                  <a:srgbClr val="0B2545"/>
                </a:solidFill>
              </a:rPr>
              <a:t>Fees &amp; payments</a:t>
            </a:r>
            <a:endParaRPr lang="en-US" sz="1600" dirty="0"/>
          </a:p>
        </p:txBody>
      </p:sp>
      <p:sp>
        <p:nvSpPr>
          <p:cNvPr id="20" name="Text 15"/>
          <p:cNvSpPr txBox="1"/>
          <p:nvPr/>
        </p:nvSpPr>
        <p:spPr>
          <a:xfrm>
            <a:off x="6409944" y="3154680"/>
            <a:ext cx="2194560" cy="685800"/>
          </a:xfrm>
          <a:prstGeom prst="rect">
            <a:avLst/>
          </a:prstGeom>
          <a:noFill/>
          <a:ln/>
        </p:spPr>
        <p:txBody>
          <a:bodyPr wrap="square" lIns="0" tIns="0" rIns="0" bIns="0" rtlCol="0" anchor="t"/>
          <a:lstStyle/>
          <a:p>
            <a:pPr indent="0" marL="0">
              <a:buNone/>
            </a:pPr>
            <a:r>
              <a:rPr lang="en-US" sz="1300" dirty="0">
                <a:solidFill>
                  <a:srgbClr val="1A2433"/>
                </a:solidFill>
              </a:rPr>
              <a:t>Fee ledger, billing and proof-of-payment verification</a:t>
            </a:r>
            <a:endParaRPr lang="en-US" sz="1300" dirty="0"/>
          </a:p>
        </p:txBody>
      </p:sp>
      <p:sp>
        <p:nvSpPr>
          <p:cNvPr id="21" name="card"/>
          <p:cNvSpPr/>
          <p:nvPr/>
        </p:nvSpPr>
        <p:spPr>
          <a:xfrm>
            <a:off x="8997696" y="1874520"/>
            <a:ext cx="2606040" cy="2011680"/>
          </a:xfrm>
          <a:prstGeom prst="roundRect">
            <a:avLst>
              <a:gd name="adj" fmla="val 5455"/>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22" name="icon circle"/>
          <p:cNvSpPr/>
          <p:nvPr/>
        </p:nvSpPr>
        <p:spPr>
          <a:xfrm>
            <a:off x="9226296" y="2103120"/>
            <a:ext cx="566928" cy="566928"/>
          </a:xfrm>
          <a:prstGeom prst="ellipse">
            <a:avLst/>
          </a:prstGeom>
          <a:solidFill>
            <a:srgbClr val="E3A83B"/>
          </a:solidFill>
          <a:ln w="12700">
            <a:solidFill>
              <a:srgbClr val="E3A83B"/>
            </a:solidFill>
            <a:prstDash val="solid"/>
          </a:ln>
        </p:spPr>
      </p:sp>
      <p:pic>
        <p:nvPicPr>
          <p:cNvPr id="23" name="Image 3" descr="FaClipboardCheck">    </p:cNvPr>
          <p:cNvPicPr>
            <a:picLocks noChangeAspect="1"/>
          </p:cNvPicPr>
          <p:nvPr/>
        </p:nvPicPr>
        <p:blipFill>
          <a:blip r:embed="rId4"/>
          <a:stretch>
            <a:fillRect/>
          </a:stretch>
        </p:blipFill>
        <p:spPr>
          <a:xfrm>
            <a:off x="9362359" y="2239183"/>
            <a:ext cx="294803" cy="294803"/>
          </a:xfrm>
          <a:prstGeom prst="rect">
            <a:avLst/>
          </a:prstGeom>
        </p:spPr>
      </p:pic>
      <p:sp>
        <p:nvSpPr>
          <p:cNvPr id="24" name="Text 18"/>
          <p:cNvSpPr txBox="1"/>
          <p:nvPr/>
        </p:nvSpPr>
        <p:spPr>
          <a:xfrm>
            <a:off x="9226296" y="2788920"/>
            <a:ext cx="2194560" cy="365760"/>
          </a:xfrm>
          <a:prstGeom prst="rect">
            <a:avLst/>
          </a:prstGeom>
          <a:noFill/>
          <a:ln/>
        </p:spPr>
        <p:txBody>
          <a:bodyPr wrap="square" lIns="0" tIns="0" rIns="0" bIns="0" rtlCol="0" anchor="t"/>
          <a:lstStyle/>
          <a:p>
            <a:pPr indent="0" marL="0">
              <a:buNone/>
            </a:pPr>
            <a:r>
              <a:rPr lang="en-US" sz="1600" b="1" dirty="0">
                <a:solidFill>
                  <a:srgbClr val="0B2545"/>
                </a:solidFill>
              </a:rPr>
              <a:t>Semester registration</a:t>
            </a:r>
            <a:endParaRPr lang="en-US" sz="1600" dirty="0"/>
          </a:p>
        </p:txBody>
      </p:sp>
      <p:sp>
        <p:nvSpPr>
          <p:cNvPr id="25" name="Text 19"/>
          <p:cNvSpPr txBox="1"/>
          <p:nvPr/>
        </p:nvSpPr>
        <p:spPr>
          <a:xfrm>
            <a:off x="9226296" y="3154680"/>
            <a:ext cx="2194560" cy="685800"/>
          </a:xfrm>
          <a:prstGeom prst="rect">
            <a:avLst/>
          </a:prstGeom>
          <a:noFill/>
          <a:ln/>
        </p:spPr>
        <p:txBody>
          <a:bodyPr wrap="square" lIns="0" tIns="0" rIns="0" bIns="0" rtlCol="0" anchor="t"/>
          <a:lstStyle/>
          <a:p>
            <a:pPr indent="0" marL="0">
              <a:buNone/>
            </a:pPr>
            <a:r>
              <a:rPr lang="en-US" sz="1300" dirty="0">
                <a:solidFill>
                  <a:srgbClr val="1A2433"/>
                </a:solidFill>
              </a:rPr>
              <a:t>Register each semester; 5 offices approve in order</a:t>
            </a:r>
            <a:endParaRPr lang="en-US" sz="1300" dirty="0"/>
          </a:p>
        </p:txBody>
      </p:sp>
      <p:sp>
        <p:nvSpPr>
          <p:cNvPr id="26" name="card"/>
          <p:cNvSpPr/>
          <p:nvPr/>
        </p:nvSpPr>
        <p:spPr>
          <a:xfrm>
            <a:off x="548640" y="4114800"/>
            <a:ext cx="2606040" cy="2011680"/>
          </a:xfrm>
          <a:prstGeom prst="roundRect">
            <a:avLst>
              <a:gd name="adj" fmla="val 5455"/>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27" name="icon circle"/>
          <p:cNvSpPr/>
          <p:nvPr/>
        </p:nvSpPr>
        <p:spPr>
          <a:xfrm>
            <a:off x="777240" y="4343400"/>
            <a:ext cx="566928" cy="566928"/>
          </a:xfrm>
          <a:prstGeom prst="ellipse">
            <a:avLst/>
          </a:prstGeom>
          <a:solidFill>
            <a:srgbClr val="004080"/>
          </a:solidFill>
          <a:ln w="12700">
            <a:solidFill>
              <a:srgbClr val="004080"/>
            </a:solidFill>
            <a:prstDash val="solid"/>
          </a:ln>
        </p:spPr>
      </p:sp>
      <p:pic>
        <p:nvPicPr>
          <p:cNvPr id="28" name="Image 4" descr="FaBookReader">    </p:cNvPr>
          <p:cNvPicPr>
            <a:picLocks noChangeAspect="1"/>
          </p:cNvPicPr>
          <p:nvPr/>
        </p:nvPicPr>
        <p:blipFill>
          <a:blip r:embed="rId5"/>
          <a:stretch>
            <a:fillRect/>
          </a:stretch>
        </p:blipFill>
        <p:spPr>
          <a:xfrm>
            <a:off x="913303" y="4479463"/>
            <a:ext cx="294803" cy="294803"/>
          </a:xfrm>
          <a:prstGeom prst="rect">
            <a:avLst/>
          </a:prstGeom>
        </p:spPr>
      </p:pic>
      <p:sp>
        <p:nvSpPr>
          <p:cNvPr id="29" name="Text 22"/>
          <p:cNvSpPr txBox="1"/>
          <p:nvPr/>
        </p:nvSpPr>
        <p:spPr>
          <a:xfrm>
            <a:off x="777240" y="5029200"/>
            <a:ext cx="2194560" cy="365760"/>
          </a:xfrm>
          <a:prstGeom prst="rect">
            <a:avLst/>
          </a:prstGeom>
          <a:noFill/>
          <a:ln/>
        </p:spPr>
        <p:txBody>
          <a:bodyPr wrap="square" lIns="0" tIns="0" rIns="0" bIns="0" rtlCol="0" anchor="t"/>
          <a:lstStyle/>
          <a:p>
            <a:pPr indent="0" marL="0">
              <a:buNone/>
            </a:pPr>
            <a:r>
              <a:rPr lang="en-US" sz="1600" b="1" dirty="0">
                <a:solidFill>
                  <a:srgbClr val="0B2545"/>
                </a:solidFill>
              </a:rPr>
              <a:t>Notes &amp; assignments</a:t>
            </a:r>
            <a:endParaRPr lang="en-US" sz="1600" dirty="0"/>
          </a:p>
        </p:txBody>
      </p:sp>
      <p:sp>
        <p:nvSpPr>
          <p:cNvPr id="30" name="Text 23"/>
          <p:cNvSpPr txBox="1"/>
          <p:nvPr/>
        </p:nvSpPr>
        <p:spPr>
          <a:xfrm>
            <a:off x="777240" y="5394960"/>
            <a:ext cx="2194560" cy="685800"/>
          </a:xfrm>
          <a:prstGeom prst="rect">
            <a:avLst/>
          </a:prstGeom>
          <a:noFill/>
          <a:ln/>
        </p:spPr>
        <p:txBody>
          <a:bodyPr wrap="square" lIns="0" tIns="0" rIns="0" bIns="0" rtlCol="0" anchor="t"/>
          <a:lstStyle/>
          <a:p>
            <a:pPr indent="0" marL="0">
              <a:buNone/>
            </a:pPr>
            <a:r>
              <a:rPr lang="en-US" sz="1300" dirty="0">
                <a:solidFill>
                  <a:srgbClr val="1A2433"/>
                </a:solidFill>
              </a:rPr>
              <a:t>Lecturers post Units 1–5 and assignments; students submit</a:t>
            </a:r>
            <a:endParaRPr lang="en-US" sz="1300" dirty="0"/>
          </a:p>
        </p:txBody>
      </p:sp>
      <p:sp>
        <p:nvSpPr>
          <p:cNvPr id="31" name="card"/>
          <p:cNvSpPr/>
          <p:nvPr/>
        </p:nvSpPr>
        <p:spPr>
          <a:xfrm>
            <a:off x="3364992" y="4114800"/>
            <a:ext cx="2606040" cy="2011680"/>
          </a:xfrm>
          <a:prstGeom prst="roundRect">
            <a:avLst>
              <a:gd name="adj" fmla="val 5455"/>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32" name="icon circle"/>
          <p:cNvSpPr/>
          <p:nvPr/>
        </p:nvSpPr>
        <p:spPr>
          <a:xfrm>
            <a:off x="3593592" y="4343400"/>
            <a:ext cx="566928" cy="566928"/>
          </a:xfrm>
          <a:prstGeom prst="ellipse">
            <a:avLst/>
          </a:prstGeom>
          <a:solidFill>
            <a:srgbClr val="004080"/>
          </a:solidFill>
          <a:ln w="12700">
            <a:solidFill>
              <a:srgbClr val="004080"/>
            </a:solidFill>
            <a:prstDash val="solid"/>
          </a:ln>
        </p:spPr>
      </p:sp>
      <p:pic>
        <p:nvPicPr>
          <p:cNvPr id="33" name="Image 5" descr="FaChartLine">    </p:cNvPr>
          <p:cNvPicPr>
            <a:picLocks noChangeAspect="1"/>
          </p:cNvPicPr>
          <p:nvPr/>
        </p:nvPicPr>
        <p:blipFill>
          <a:blip r:embed="rId6"/>
          <a:stretch>
            <a:fillRect/>
          </a:stretch>
        </p:blipFill>
        <p:spPr>
          <a:xfrm>
            <a:off x="3729655" y="4479463"/>
            <a:ext cx="294803" cy="294803"/>
          </a:xfrm>
          <a:prstGeom prst="rect">
            <a:avLst/>
          </a:prstGeom>
        </p:spPr>
      </p:pic>
      <p:sp>
        <p:nvSpPr>
          <p:cNvPr id="34" name="Text 26"/>
          <p:cNvSpPr txBox="1"/>
          <p:nvPr/>
        </p:nvSpPr>
        <p:spPr>
          <a:xfrm>
            <a:off x="3593592" y="5029200"/>
            <a:ext cx="2194560" cy="365760"/>
          </a:xfrm>
          <a:prstGeom prst="rect">
            <a:avLst/>
          </a:prstGeom>
          <a:noFill/>
          <a:ln/>
        </p:spPr>
        <p:txBody>
          <a:bodyPr wrap="square" lIns="0" tIns="0" rIns="0" bIns="0" rtlCol="0" anchor="t"/>
          <a:lstStyle/>
          <a:p>
            <a:pPr indent="0" marL="0">
              <a:buNone/>
            </a:pPr>
            <a:r>
              <a:rPr lang="en-US" sz="1600" b="1" dirty="0">
                <a:solidFill>
                  <a:srgbClr val="0B2545"/>
                </a:solidFill>
              </a:rPr>
              <a:t>Results</a:t>
            </a:r>
            <a:endParaRPr lang="en-US" sz="1600" dirty="0"/>
          </a:p>
        </p:txBody>
      </p:sp>
      <p:sp>
        <p:nvSpPr>
          <p:cNvPr id="35" name="Text 27"/>
          <p:cNvSpPr txBox="1"/>
          <p:nvPr/>
        </p:nvSpPr>
        <p:spPr>
          <a:xfrm>
            <a:off x="3593592" y="5394960"/>
            <a:ext cx="2194560" cy="685800"/>
          </a:xfrm>
          <a:prstGeom prst="rect">
            <a:avLst/>
          </a:prstGeom>
          <a:noFill/>
          <a:ln/>
        </p:spPr>
        <p:txBody>
          <a:bodyPr wrap="square" lIns="0" tIns="0" rIns="0" bIns="0" rtlCol="0" anchor="t"/>
          <a:lstStyle/>
          <a:p>
            <a:pPr indent="0" marL="0">
              <a:buNone/>
            </a:pPr>
            <a:r>
              <a:rPr lang="en-US" sz="1300" dirty="0">
                <a:solidFill>
                  <a:srgbClr val="1A2433"/>
                </a:solidFill>
              </a:rPr>
              <a:t>CA and exam marks, automatic totals, grades and remarks</a:t>
            </a:r>
            <a:endParaRPr lang="en-US" sz="1300" dirty="0"/>
          </a:p>
        </p:txBody>
      </p:sp>
      <p:sp>
        <p:nvSpPr>
          <p:cNvPr id="36" name="card"/>
          <p:cNvSpPr/>
          <p:nvPr/>
        </p:nvSpPr>
        <p:spPr>
          <a:xfrm>
            <a:off x="6181344" y="4114800"/>
            <a:ext cx="2606040" cy="2011680"/>
          </a:xfrm>
          <a:prstGeom prst="roundRect">
            <a:avLst>
              <a:gd name="adj" fmla="val 5455"/>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37" name="icon circle"/>
          <p:cNvSpPr/>
          <p:nvPr/>
        </p:nvSpPr>
        <p:spPr>
          <a:xfrm>
            <a:off x="6409944" y="4343400"/>
            <a:ext cx="566928" cy="566928"/>
          </a:xfrm>
          <a:prstGeom prst="ellipse">
            <a:avLst/>
          </a:prstGeom>
          <a:solidFill>
            <a:srgbClr val="E3A83B"/>
          </a:solidFill>
          <a:ln w="12700">
            <a:solidFill>
              <a:srgbClr val="E3A83B"/>
            </a:solidFill>
            <a:prstDash val="solid"/>
          </a:ln>
        </p:spPr>
      </p:sp>
      <p:pic>
        <p:nvPicPr>
          <p:cNvPr id="38" name="Image 6" descr="FaIdCard">    </p:cNvPr>
          <p:cNvPicPr>
            <a:picLocks noChangeAspect="1"/>
          </p:cNvPicPr>
          <p:nvPr/>
        </p:nvPicPr>
        <p:blipFill>
          <a:blip r:embed="rId7"/>
          <a:stretch>
            <a:fillRect/>
          </a:stretch>
        </p:blipFill>
        <p:spPr>
          <a:xfrm>
            <a:off x="6546007" y="4479463"/>
            <a:ext cx="294803" cy="294803"/>
          </a:xfrm>
          <a:prstGeom prst="rect">
            <a:avLst/>
          </a:prstGeom>
        </p:spPr>
      </p:pic>
      <p:sp>
        <p:nvSpPr>
          <p:cNvPr id="39" name="Text 30"/>
          <p:cNvSpPr txBox="1"/>
          <p:nvPr/>
        </p:nvSpPr>
        <p:spPr>
          <a:xfrm>
            <a:off x="6409944" y="5029200"/>
            <a:ext cx="2194560" cy="365760"/>
          </a:xfrm>
          <a:prstGeom prst="rect">
            <a:avLst/>
          </a:prstGeom>
          <a:noFill/>
          <a:ln/>
        </p:spPr>
        <p:txBody>
          <a:bodyPr wrap="square" lIns="0" tIns="0" rIns="0" bIns="0" rtlCol="0" anchor="t"/>
          <a:lstStyle/>
          <a:p>
            <a:pPr indent="0" marL="0">
              <a:buNone/>
            </a:pPr>
            <a:r>
              <a:rPr lang="en-US" sz="1600" b="1" dirty="0">
                <a:solidFill>
                  <a:srgbClr val="0B2545"/>
                </a:solidFill>
              </a:rPr>
              <a:t>Hall tickets</a:t>
            </a:r>
            <a:endParaRPr lang="en-US" sz="1600" dirty="0"/>
          </a:p>
        </p:txBody>
      </p:sp>
      <p:sp>
        <p:nvSpPr>
          <p:cNvPr id="40" name="Text 31"/>
          <p:cNvSpPr txBox="1"/>
          <p:nvPr/>
        </p:nvSpPr>
        <p:spPr>
          <a:xfrm>
            <a:off x="6409944" y="5394960"/>
            <a:ext cx="2194560" cy="685800"/>
          </a:xfrm>
          <a:prstGeom prst="rect">
            <a:avLst/>
          </a:prstGeom>
          <a:noFill/>
          <a:ln/>
        </p:spPr>
        <p:txBody>
          <a:bodyPr wrap="square" lIns="0" tIns="0" rIns="0" bIns="0" rtlCol="0" anchor="t"/>
          <a:lstStyle/>
          <a:p>
            <a:pPr indent="0" marL="0">
              <a:buNone/>
            </a:pPr>
            <a:r>
              <a:rPr lang="en-US" sz="1300" dirty="0">
                <a:solidFill>
                  <a:srgbClr val="1A2433"/>
                </a:solidFill>
              </a:rPr>
              <a:t>Digital No Due clearance, then a printable hall ticket</a:t>
            </a:r>
            <a:endParaRPr lang="en-US" sz="1300" dirty="0"/>
          </a:p>
        </p:txBody>
      </p:sp>
      <p:sp>
        <p:nvSpPr>
          <p:cNvPr id="41" name="card"/>
          <p:cNvSpPr/>
          <p:nvPr/>
        </p:nvSpPr>
        <p:spPr>
          <a:xfrm>
            <a:off x="8997696" y="4114800"/>
            <a:ext cx="2606040" cy="2011680"/>
          </a:xfrm>
          <a:prstGeom prst="roundRect">
            <a:avLst>
              <a:gd name="adj" fmla="val 5455"/>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42" name="icon circle"/>
          <p:cNvSpPr/>
          <p:nvPr/>
        </p:nvSpPr>
        <p:spPr>
          <a:xfrm>
            <a:off x="9226296" y="4343400"/>
            <a:ext cx="566928" cy="566928"/>
          </a:xfrm>
          <a:prstGeom prst="ellipse">
            <a:avLst/>
          </a:prstGeom>
          <a:solidFill>
            <a:srgbClr val="004080"/>
          </a:solidFill>
          <a:ln w="12700">
            <a:solidFill>
              <a:srgbClr val="004080"/>
            </a:solidFill>
            <a:prstDash val="solid"/>
          </a:ln>
        </p:spPr>
      </p:sp>
      <p:pic>
        <p:nvPicPr>
          <p:cNvPr id="43" name="Image 7" descr="FaBell">    </p:cNvPr>
          <p:cNvPicPr>
            <a:picLocks noChangeAspect="1"/>
          </p:cNvPicPr>
          <p:nvPr/>
        </p:nvPicPr>
        <p:blipFill>
          <a:blip r:embed="rId8"/>
          <a:stretch>
            <a:fillRect/>
          </a:stretch>
        </p:blipFill>
        <p:spPr>
          <a:xfrm>
            <a:off x="9362359" y="4479463"/>
            <a:ext cx="294803" cy="294803"/>
          </a:xfrm>
          <a:prstGeom prst="rect">
            <a:avLst/>
          </a:prstGeom>
        </p:spPr>
      </p:pic>
      <p:sp>
        <p:nvSpPr>
          <p:cNvPr id="44" name="Text 34"/>
          <p:cNvSpPr txBox="1"/>
          <p:nvPr/>
        </p:nvSpPr>
        <p:spPr>
          <a:xfrm>
            <a:off x="9226296" y="5029200"/>
            <a:ext cx="2194560" cy="365760"/>
          </a:xfrm>
          <a:prstGeom prst="rect">
            <a:avLst/>
          </a:prstGeom>
          <a:noFill/>
          <a:ln/>
        </p:spPr>
        <p:txBody>
          <a:bodyPr wrap="square" lIns="0" tIns="0" rIns="0" bIns="0" rtlCol="0" anchor="t"/>
          <a:lstStyle/>
          <a:p>
            <a:pPr indent="0" marL="0">
              <a:buNone/>
            </a:pPr>
            <a:r>
              <a:rPr lang="en-US" sz="1600" b="1" dirty="0">
                <a:solidFill>
                  <a:srgbClr val="0B2545"/>
                </a:solidFill>
              </a:rPr>
              <a:t>Notifications</a:t>
            </a:r>
            <a:endParaRPr lang="en-US" sz="1600" dirty="0"/>
          </a:p>
        </p:txBody>
      </p:sp>
      <p:sp>
        <p:nvSpPr>
          <p:cNvPr id="45" name="Text 35"/>
          <p:cNvSpPr txBox="1"/>
          <p:nvPr/>
        </p:nvSpPr>
        <p:spPr>
          <a:xfrm>
            <a:off x="9226296" y="5394960"/>
            <a:ext cx="2194560" cy="685800"/>
          </a:xfrm>
          <a:prstGeom prst="rect">
            <a:avLst/>
          </a:prstGeom>
          <a:noFill/>
          <a:ln/>
        </p:spPr>
        <p:txBody>
          <a:bodyPr wrap="square" lIns="0" tIns="0" rIns="0" bIns="0" rtlCol="0" anchor="t"/>
          <a:lstStyle/>
          <a:p>
            <a:pPr indent="0" marL="0">
              <a:buNone/>
            </a:pPr>
            <a:r>
              <a:rPr lang="en-US" sz="1300" dirty="0">
                <a:solidFill>
                  <a:srgbClr val="1A2433"/>
                </a:solidFill>
              </a:rPr>
              <a:t>Announcements and alerts for every approval or hold</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Problem statement</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0th Review</a:t>
            </a:r>
            <a:endParaRPr lang="en-US" sz="1100" dirty="0"/>
          </a:p>
        </p:txBody>
      </p:sp>
      <p:sp>
        <p:nvSpPr>
          <p:cNvPr id="5" name="icon circle"/>
          <p:cNvSpPr/>
          <p:nvPr/>
        </p:nvSpPr>
        <p:spPr>
          <a:xfrm>
            <a:off x="548640" y="1463040"/>
            <a:ext cx="640080" cy="640080"/>
          </a:xfrm>
          <a:prstGeom prst="ellipse">
            <a:avLst/>
          </a:prstGeom>
          <a:solidFill>
            <a:srgbClr val="C0392B"/>
          </a:solidFill>
          <a:ln w="12700">
            <a:solidFill>
              <a:srgbClr val="C0392B"/>
            </a:solidFill>
            <a:prstDash val="solid"/>
          </a:ln>
        </p:spPr>
      </p:sp>
      <p:pic>
        <p:nvPicPr>
          <p:cNvPr id="6" name="Image 0" descr="FaWalking">    </p:cNvPr>
          <p:cNvPicPr>
            <a:picLocks noChangeAspect="1"/>
          </p:cNvPicPr>
          <p:nvPr/>
        </p:nvPicPr>
        <p:blipFill>
          <a:blip r:embed="rId1"/>
          <a:stretch>
            <a:fillRect/>
          </a:stretch>
        </p:blipFill>
        <p:spPr>
          <a:xfrm>
            <a:off x="702259" y="1616659"/>
            <a:ext cx="332842" cy="332842"/>
          </a:xfrm>
          <a:prstGeom prst="rect">
            <a:avLst/>
          </a:prstGeom>
        </p:spPr>
      </p:pic>
      <p:sp>
        <p:nvSpPr>
          <p:cNvPr id="7" name="Text 4"/>
          <p:cNvSpPr txBox="1"/>
          <p:nvPr/>
        </p:nvSpPr>
        <p:spPr>
          <a:xfrm>
            <a:off x="1417320" y="1417320"/>
            <a:ext cx="4937760" cy="365760"/>
          </a:xfrm>
          <a:prstGeom prst="rect">
            <a:avLst/>
          </a:prstGeom>
          <a:noFill/>
          <a:ln/>
        </p:spPr>
        <p:txBody>
          <a:bodyPr wrap="square" lIns="0" tIns="0" rIns="0" bIns="0" rtlCol="0" anchor="t"/>
          <a:lstStyle/>
          <a:p>
            <a:pPr indent="0" marL="0">
              <a:buNone/>
            </a:pPr>
            <a:r>
              <a:rPr lang="en-US" sz="1700" b="1" dirty="0">
                <a:solidFill>
                  <a:srgbClr val="0B2545"/>
                </a:solidFill>
              </a:rPr>
              <a:t>Office-to-office signatures</a:t>
            </a:r>
            <a:endParaRPr lang="en-US" sz="1700" dirty="0"/>
          </a:p>
        </p:txBody>
      </p:sp>
      <p:sp>
        <p:nvSpPr>
          <p:cNvPr id="8" name="Text 5"/>
          <p:cNvSpPr txBox="1"/>
          <p:nvPr/>
        </p:nvSpPr>
        <p:spPr>
          <a:xfrm>
            <a:off x="1417320" y="1801368"/>
            <a:ext cx="4937760" cy="731520"/>
          </a:xfrm>
          <a:prstGeom prst="rect">
            <a:avLst/>
          </a:prstGeom>
          <a:noFill/>
          <a:ln/>
        </p:spPr>
        <p:txBody>
          <a:bodyPr wrap="square" lIns="0" tIns="0" rIns="0" bIns="0" rtlCol="0" anchor="t"/>
          <a:lstStyle/>
          <a:p>
            <a:pPr indent="0" marL="0">
              <a:buNone/>
            </a:pPr>
            <a:r>
              <a:rPr lang="en-US" sz="1400" dirty="0">
                <a:solidFill>
                  <a:srgbClr val="1A2433"/>
                </a:solidFill>
              </a:rPr>
              <a:t>The No Due Certificate needs Accounts, Class Advisor, Hostel, HOD, Dean of Students and Dean (Academic) to sign in person.</a:t>
            </a:r>
            <a:endParaRPr lang="en-US" sz="1400" dirty="0"/>
          </a:p>
        </p:txBody>
      </p:sp>
      <p:sp>
        <p:nvSpPr>
          <p:cNvPr id="9" name="icon circle"/>
          <p:cNvSpPr/>
          <p:nvPr/>
        </p:nvSpPr>
        <p:spPr>
          <a:xfrm>
            <a:off x="548640" y="2651760"/>
            <a:ext cx="640080" cy="640080"/>
          </a:xfrm>
          <a:prstGeom prst="ellipse">
            <a:avLst/>
          </a:prstGeom>
          <a:solidFill>
            <a:srgbClr val="E3A83B"/>
          </a:solidFill>
          <a:ln w="12700">
            <a:solidFill>
              <a:srgbClr val="E3A83B"/>
            </a:solidFill>
            <a:prstDash val="solid"/>
          </a:ln>
        </p:spPr>
      </p:sp>
      <p:pic>
        <p:nvPicPr>
          <p:cNvPr id="10" name="Image 1" descr="FaFileAlt">    </p:cNvPr>
          <p:cNvPicPr>
            <a:picLocks noChangeAspect="1"/>
          </p:cNvPicPr>
          <p:nvPr/>
        </p:nvPicPr>
        <p:blipFill>
          <a:blip r:embed="rId2"/>
          <a:stretch>
            <a:fillRect/>
          </a:stretch>
        </p:blipFill>
        <p:spPr>
          <a:xfrm>
            <a:off x="702259" y="2805379"/>
            <a:ext cx="332842" cy="332842"/>
          </a:xfrm>
          <a:prstGeom prst="rect">
            <a:avLst/>
          </a:prstGeom>
        </p:spPr>
      </p:pic>
      <p:sp>
        <p:nvSpPr>
          <p:cNvPr id="11" name="Text 7"/>
          <p:cNvSpPr txBox="1"/>
          <p:nvPr/>
        </p:nvSpPr>
        <p:spPr>
          <a:xfrm>
            <a:off x="1417320" y="2606040"/>
            <a:ext cx="4937760" cy="365760"/>
          </a:xfrm>
          <a:prstGeom prst="rect">
            <a:avLst/>
          </a:prstGeom>
          <a:noFill/>
          <a:ln/>
        </p:spPr>
        <p:txBody>
          <a:bodyPr wrap="square" lIns="0" tIns="0" rIns="0" bIns="0" rtlCol="0" anchor="t"/>
          <a:lstStyle/>
          <a:p>
            <a:pPr indent="0" marL="0">
              <a:buNone/>
            </a:pPr>
            <a:r>
              <a:rPr lang="en-US" sz="1700" b="1" dirty="0">
                <a:solidFill>
                  <a:srgbClr val="0B2545"/>
                </a:solidFill>
              </a:rPr>
              <a:t>Paper records and manual checks</a:t>
            </a:r>
            <a:endParaRPr lang="en-US" sz="1700" dirty="0"/>
          </a:p>
        </p:txBody>
      </p:sp>
      <p:sp>
        <p:nvSpPr>
          <p:cNvPr id="12" name="Text 8"/>
          <p:cNvSpPr txBox="1"/>
          <p:nvPr/>
        </p:nvSpPr>
        <p:spPr>
          <a:xfrm>
            <a:off x="1417320" y="2990088"/>
            <a:ext cx="4937760" cy="731520"/>
          </a:xfrm>
          <a:prstGeom prst="rect">
            <a:avLst/>
          </a:prstGeom>
          <a:noFill/>
          <a:ln/>
        </p:spPr>
        <p:txBody>
          <a:bodyPr wrap="square" lIns="0" tIns="0" rIns="0" bIns="0" rtlCol="0" anchor="t"/>
          <a:lstStyle/>
          <a:p>
            <a:pPr indent="0" marL="0">
              <a:buNone/>
            </a:pPr>
            <a:r>
              <a:rPr lang="en-US" sz="1400" dirty="0">
                <a:solidFill>
                  <a:srgbClr val="1A2433"/>
                </a:solidFill>
              </a:rPr>
              <a:t>Fee balances, registrations and hall tickets are checked and prepared by hand, inviting errors and lost forms.</a:t>
            </a:r>
            <a:endParaRPr lang="en-US" sz="1400" dirty="0"/>
          </a:p>
        </p:txBody>
      </p:sp>
      <p:sp>
        <p:nvSpPr>
          <p:cNvPr id="13" name="icon circle"/>
          <p:cNvSpPr/>
          <p:nvPr/>
        </p:nvSpPr>
        <p:spPr>
          <a:xfrm>
            <a:off x="548640" y="3840480"/>
            <a:ext cx="640080" cy="640080"/>
          </a:xfrm>
          <a:prstGeom prst="ellipse">
            <a:avLst/>
          </a:prstGeom>
          <a:solidFill>
            <a:srgbClr val="C0392B"/>
          </a:solidFill>
          <a:ln w="12700">
            <a:solidFill>
              <a:srgbClr val="C0392B"/>
            </a:solidFill>
            <a:prstDash val="solid"/>
          </a:ln>
        </p:spPr>
      </p:sp>
      <p:pic>
        <p:nvPicPr>
          <p:cNvPr id="14" name="Image 2" descr="FaClock">    </p:cNvPr>
          <p:cNvPicPr>
            <a:picLocks noChangeAspect="1"/>
          </p:cNvPicPr>
          <p:nvPr/>
        </p:nvPicPr>
        <p:blipFill>
          <a:blip r:embed="rId3"/>
          <a:stretch>
            <a:fillRect/>
          </a:stretch>
        </p:blipFill>
        <p:spPr>
          <a:xfrm>
            <a:off x="702259" y="3994099"/>
            <a:ext cx="332842" cy="332842"/>
          </a:xfrm>
          <a:prstGeom prst="rect">
            <a:avLst/>
          </a:prstGeom>
        </p:spPr>
      </p:pic>
      <p:sp>
        <p:nvSpPr>
          <p:cNvPr id="15" name="Text 10"/>
          <p:cNvSpPr txBox="1"/>
          <p:nvPr/>
        </p:nvSpPr>
        <p:spPr>
          <a:xfrm>
            <a:off x="1417320" y="3794760"/>
            <a:ext cx="4937760" cy="365760"/>
          </a:xfrm>
          <a:prstGeom prst="rect">
            <a:avLst/>
          </a:prstGeom>
          <a:noFill/>
          <a:ln/>
        </p:spPr>
        <p:txBody>
          <a:bodyPr wrap="square" lIns="0" tIns="0" rIns="0" bIns="0" rtlCol="0" anchor="t"/>
          <a:lstStyle/>
          <a:p>
            <a:pPr indent="0" marL="0">
              <a:buNone/>
            </a:pPr>
            <a:r>
              <a:rPr lang="en-US" sz="1700" b="1" dirty="0">
                <a:solidFill>
                  <a:srgbClr val="0B2545"/>
                </a:solidFill>
              </a:rPr>
              <a:t>Queues and delays</a:t>
            </a:r>
            <a:endParaRPr lang="en-US" sz="1700" dirty="0"/>
          </a:p>
        </p:txBody>
      </p:sp>
      <p:sp>
        <p:nvSpPr>
          <p:cNvPr id="16" name="Text 11"/>
          <p:cNvSpPr txBox="1"/>
          <p:nvPr/>
        </p:nvSpPr>
        <p:spPr>
          <a:xfrm>
            <a:off x="1417320" y="4178808"/>
            <a:ext cx="4937760" cy="731520"/>
          </a:xfrm>
          <a:prstGeom prst="rect">
            <a:avLst/>
          </a:prstGeom>
          <a:noFill/>
          <a:ln/>
        </p:spPr>
        <p:txBody>
          <a:bodyPr wrap="square" lIns="0" tIns="0" rIns="0" bIns="0" rtlCol="0" anchor="t"/>
          <a:lstStyle/>
          <a:p>
            <a:pPr indent="0" marL="0">
              <a:buNone/>
            </a:pPr>
            <a:r>
              <a:rPr lang="en-US" sz="1400" dirty="0">
                <a:solidFill>
                  <a:srgbClr val="1A2433"/>
                </a:solidFill>
              </a:rPr>
              <a:t>Students lose class time queuing at offices; staff repeat the same checks every semester.</a:t>
            </a:r>
            <a:endParaRPr lang="en-US" sz="1400" dirty="0"/>
          </a:p>
        </p:txBody>
      </p:sp>
      <p:sp>
        <p:nvSpPr>
          <p:cNvPr id="17" name="icon circle"/>
          <p:cNvSpPr/>
          <p:nvPr/>
        </p:nvSpPr>
        <p:spPr>
          <a:xfrm>
            <a:off x="548640" y="5029200"/>
            <a:ext cx="640080" cy="640080"/>
          </a:xfrm>
          <a:prstGeom prst="ellipse">
            <a:avLst/>
          </a:prstGeom>
          <a:solidFill>
            <a:srgbClr val="E3A83B"/>
          </a:solidFill>
          <a:ln w="12700">
            <a:solidFill>
              <a:srgbClr val="E3A83B"/>
            </a:solidFill>
            <a:prstDash val="solid"/>
          </a:ln>
        </p:spPr>
      </p:sp>
      <p:pic>
        <p:nvPicPr>
          <p:cNvPr id="18" name="Image 3" descr="FaEyeSlash">    </p:cNvPr>
          <p:cNvPicPr>
            <a:picLocks noChangeAspect="1"/>
          </p:cNvPicPr>
          <p:nvPr/>
        </p:nvPicPr>
        <p:blipFill>
          <a:blip r:embed="rId4"/>
          <a:stretch>
            <a:fillRect/>
          </a:stretch>
        </p:blipFill>
        <p:spPr>
          <a:xfrm>
            <a:off x="702259" y="5182819"/>
            <a:ext cx="332842" cy="332842"/>
          </a:xfrm>
          <a:prstGeom prst="rect">
            <a:avLst/>
          </a:prstGeom>
        </p:spPr>
      </p:pic>
      <p:sp>
        <p:nvSpPr>
          <p:cNvPr id="19" name="Text 13"/>
          <p:cNvSpPr txBox="1"/>
          <p:nvPr/>
        </p:nvSpPr>
        <p:spPr>
          <a:xfrm>
            <a:off x="1417320" y="4983480"/>
            <a:ext cx="4937760" cy="365760"/>
          </a:xfrm>
          <a:prstGeom prst="rect">
            <a:avLst/>
          </a:prstGeom>
          <a:noFill/>
          <a:ln/>
        </p:spPr>
        <p:txBody>
          <a:bodyPr wrap="square" lIns="0" tIns="0" rIns="0" bIns="0" rtlCol="0" anchor="t"/>
          <a:lstStyle/>
          <a:p>
            <a:pPr indent="0" marL="0">
              <a:buNone/>
            </a:pPr>
            <a:r>
              <a:rPr lang="en-US" sz="1700" b="1" dirty="0">
                <a:solidFill>
                  <a:srgbClr val="0B2545"/>
                </a:solidFill>
              </a:rPr>
              <a:t>No real-time visibility</a:t>
            </a:r>
            <a:endParaRPr lang="en-US" sz="1700" dirty="0"/>
          </a:p>
        </p:txBody>
      </p:sp>
      <p:sp>
        <p:nvSpPr>
          <p:cNvPr id="20" name="Text 14"/>
          <p:cNvSpPr txBox="1"/>
          <p:nvPr/>
        </p:nvSpPr>
        <p:spPr>
          <a:xfrm>
            <a:off x="1417320" y="5367528"/>
            <a:ext cx="4937760" cy="731520"/>
          </a:xfrm>
          <a:prstGeom prst="rect">
            <a:avLst/>
          </a:prstGeom>
          <a:noFill/>
          <a:ln/>
        </p:spPr>
        <p:txBody>
          <a:bodyPr wrap="square" lIns="0" tIns="0" rIns="0" bIns="0" rtlCol="0" anchor="t"/>
          <a:lstStyle/>
          <a:p>
            <a:pPr indent="0" marL="0">
              <a:buNone/>
            </a:pPr>
            <a:r>
              <a:rPr lang="en-US" sz="1400" dirty="0">
                <a:solidFill>
                  <a:srgbClr val="1A2433"/>
                </a:solidFill>
              </a:rPr>
              <a:t>Students cannot see where their clearance is held up, or their balance, results and notices in one place.</a:t>
            </a:r>
            <a:endParaRPr lang="en-US" sz="1400" dirty="0"/>
          </a:p>
        </p:txBody>
      </p:sp>
      <p:sp>
        <p:nvSpPr>
          <p:cNvPr id="21" name="card"/>
          <p:cNvSpPr/>
          <p:nvPr/>
        </p:nvSpPr>
        <p:spPr>
          <a:xfrm>
            <a:off x="6812280" y="1463040"/>
            <a:ext cx="4828032" cy="4572000"/>
          </a:xfrm>
          <a:prstGeom prst="roundRect">
            <a:avLst>
              <a:gd name="adj" fmla="val 2400"/>
            </a:avLst>
          </a:prstGeom>
          <a:solidFill>
            <a:srgbClr val="0B2545"/>
          </a:solidFill>
          <a:ln w="12700">
            <a:solidFill>
              <a:srgbClr val="0B2545"/>
            </a:solidFill>
            <a:prstDash val="solid"/>
          </a:ln>
          <a:effectLst>
            <a:outerShdw sx="100000" sy="100000" kx="0" ky="0" algn="bl" rotWithShape="0" blurRad="76200" dist="25400" dir="5400000">
              <a:srgbClr val="000000">
                <a:alpha val="12000"/>
              </a:srgbClr>
            </a:outerShdw>
          </a:effectLst>
        </p:spPr>
      </p:sp>
      <p:sp>
        <p:nvSpPr>
          <p:cNvPr id="22" name="Text 16"/>
          <p:cNvSpPr txBox="1"/>
          <p:nvPr/>
        </p:nvSpPr>
        <p:spPr>
          <a:xfrm>
            <a:off x="7178040" y="1783080"/>
            <a:ext cx="4114800" cy="320040"/>
          </a:xfrm>
          <a:prstGeom prst="rect">
            <a:avLst/>
          </a:prstGeom>
          <a:noFill/>
          <a:ln/>
        </p:spPr>
        <p:txBody>
          <a:bodyPr wrap="square" lIns="0" tIns="0" rIns="0" bIns="0" rtlCol="0" anchor="t"/>
          <a:lstStyle/>
          <a:p>
            <a:pPr indent="0" marL="0">
              <a:buNone/>
            </a:pPr>
            <a:r>
              <a:rPr lang="en-US" sz="1300" b="1" spc="200" kern="0" dirty="0">
                <a:solidFill>
                  <a:srgbClr val="E3A83B"/>
                </a:solidFill>
              </a:rPr>
              <a:t>PROBLEM STATEMENT</a:t>
            </a:r>
            <a:endParaRPr lang="en-US" sz="1300" dirty="0"/>
          </a:p>
        </p:txBody>
      </p:sp>
      <p:sp>
        <p:nvSpPr>
          <p:cNvPr id="23" name="Text 17"/>
          <p:cNvSpPr txBox="1"/>
          <p:nvPr/>
        </p:nvSpPr>
        <p:spPr>
          <a:xfrm>
            <a:off x="7178040" y="2240280"/>
            <a:ext cx="4114800" cy="3566160"/>
          </a:xfrm>
          <a:prstGeom prst="rect">
            <a:avLst/>
          </a:prstGeom>
          <a:noFill/>
          <a:ln/>
        </p:spPr>
        <p:txBody>
          <a:bodyPr wrap="square" lIns="0" tIns="0" rIns="0" bIns="0" rtlCol="0" anchor="t"/>
          <a:lstStyle/>
          <a:p>
            <a:pPr indent="0" marL="0">
              <a:buNone/>
            </a:pPr>
            <a:r>
              <a:rPr lang="en-US" sz="1700" dirty="0">
                <a:solidFill>
                  <a:srgbClr val="FFFFFF"/>
                </a:solidFill>
                <a:latin typeface="Cambria" pitchFamily="34" charset="0"/>
                <a:ea typeface="Cambria" pitchFamily="34" charset="-122"/>
                <a:cs typeface="Cambria" pitchFamily="34" charset="-120"/>
              </a:rPr>
              <a:t>Administrative and student processes at DMISEU Chipata Campus are manual and paper-based. This makes them slow, error-prone and hard to track, for students and staff alike. There is no single system where a student can apply, pay, register, learn, see results and get cleared for exams.</a:t>
            </a:r>
            <a:endParaRPr lang="en-US" sz="17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Aims &amp; objectives</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0th Review</a:t>
            </a:r>
            <a:endParaRPr lang="en-US" sz="1100" dirty="0"/>
          </a:p>
        </p:txBody>
      </p:sp>
      <p:sp>
        <p:nvSpPr>
          <p:cNvPr id="5" name="card"/>
          <p:cNvSpPr/>
          <p:nvPr/>
        </p:nvSpPr>
        <p:spPr>
          <a:xfrm>
            <a:off x="548640" y="1371600"/>
            <a:ext cx="11091672" cy="1097280"/>
          </a:xfrm>
          <a:prstGeom prst="roundRect">
            <a:avLst>
              <a:gd name="adj" fmla="val 10000"/>
            </a:avLst>
          </a:prstGeom>
          <a:solidFill>
            <a:srgbClr val="EEF3F9"/>
          </a:solidFill>
          <a:ln w="12700">
            <a:solidFill>
              <a:srgbClr val="EEF3F9"/>
            </a:solidFill>
            <a:prstDash val="solid"/>
          </a:ln>
        </p:spPr>
      </p:sp>
      <p:sp>
        <p:nvSpPr>
          <p:cNvPr id="6" name="icon circle"/>
          <p:cNvSpPr/>
          <p:nvPr/>
        </p:nvSpPr>
        <p:spPr>
          <a:xfrm>
            <a:off x="777240" y="1572768"/>
            <a:ext cx="694944" cy="694944"/>
          </a:xfrm>
          <a:prstGeom prst="ellipse">
            <a:avLst/>
          </a:prstGeom>
          <a:solidFill>
            <a:srgbClr val="0B2545"/>
          </a:solidFill>
          <a:ln w="12700">
            <a:solidFill>
              <a:srgbClr val="0B2545"/>
            </a:solidFill>
            <a:prstDash val="solid"/>
          </a:ln>
        </p:spPr>
      </p:sp>
      <p:pic>
        <p:nvPicPr>
          <p:cNvPr id="7" name="Image 0" descr="FaBullseye">    </p:cNvPr>
          <p:cNvPicPr>
            <a:picLocks noChangeAspect="1"/>
          </p:cNvPicPr>
          <p:nvPr/>
        </p:nvPicPr>
        <p:blipFill>
          <a:blip r:embed="rId1"/>
          <a:stretch>
            <a:fillRect/>
          </a:stretch>
        </p:blipFill>
        <p:spPr>
          <a:xfrm>
            <a:off x="944027" y="1739555"/>
            <a:ext cx="361371" cy="361371"/>
          </a:xfrm>
          <a:prstGeom prst="rect">
            <a:avLst/>
          </a:prstGeom>
        </p:spPr>
      </p:pic>
      <p:sp>
        <p:nvSpPr>
          <p:cNvPr id="8" name="Text 5"/>
          <p:cNvSpPr txBox="1"/>
          <p:nvPr/>
        </p:nvSpPr>
        <p:spPr>
          <a:xfrm>
            <a:off x="1691640" y="1463040"/>
            <a:ext cx="9692640" cy="914400"/>
          </a:xfrm>
          <a:prstGeom prst="rect">
            <a:avLst/>
          </a:prstGeom>
          <a:noFill/>
          <a:ln/>
        </p:spPr>
        <p:txBody>
          <a:bodyPr wrap="square" lIns="0" tIns="0" rIns="0" bIns="0" rtlCol="0" anchor="ctr"/>
          <a:lstStyle/>
          <a:p>
            <a:pPr indent="0" marL="0">
              <a:buNone/>
            </a:pPr>
            <a:r>
              <a:rPr lang="en-US" sz="1700" b="1" dirty="0">
                <a:solidFill>
                  <a:srgbClr val="004080"/>
                </a:solidFill>
              </a:rPr>
              <a:t>Aim  </a:t>
            </a:r>
            <a:pPr indent="0" marL="0">
              <a:buNone/>
            </a:pPr>
            <a:r>
              <a:rPr lang="en-US" sz="1700" dirty="0">
                <a:solidFill>
                  <a:srgbClr val="0B2545"/>
                </a:solidFill>
              </a:rPr>
              <a:t>To design and implement a secure online school portal that automates the administrative and student processes of DMISEU Chipata Campus.</a:t>
            </a:r>
            <a:endParaRPr lang="en-US" sz="1700" dirty="0"/>
          </a:p>
        </p:txBody>
      </p:sp>
      <p:sp>
        <p:nvSpPr>
          <p:cNvPr id="9" name="objective number"/>
          <p:cNvSpPr/>
          <p:nvPr/>
        </p:nvSpPr>
        <p:spPr>
          <a:xfrm>
            <a:off x="548640" y="2788920"/>
            <a:ext cx="457200" cy="457200"/>
          </a:xfrm>
          <a:prstGeom prst="ellipse">
            <a:avLst/>
          </a:prstGeom>
          <a:solidFill>
            <a:srgbClr val="004080"/>
          </a:solidFill>
          <a:ln w="12700">
            <a:solidFill>
              <a:srgbClr val="004080"/>
            </a:solidFill>
            <a:prstDash val="solid"/>
          </a:ln>
        </p:spPr>
      </p:sp>
      <p:sp>
        <p:nvSpPr>
          <p:cNvPr id="10" name="Text 7"/>
          <p:cNvSpPr txBox="1"/>
          <p:nvPr/>
        </p:nvSpPr>
        <p:spPr>
          <a:xfrm>
            <a:off x="54864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11" name="Text 8"/>
          <p:cNvSpPr txBox="1"/>
          <p:nvPr/>
        </p:nvSpPr>
        <p:spPr>
          <a:xfrm>
            <a:off x="1188720" y="2743200"/>
            <a:ext cx="4800600" cy="594360"/>
          </a:xfrm>
          <a:prstGeom prst="rect">
            <a:avLst/>
          </a:prstGeom>
          <a:noFill/>
          <a:ln/>
        </p:spPr>
        <p:txBody>
          <a:bodyPr wrap="square" lIns="0" tIns="0" rIns="0" bIns="0" rtlCol="0" anchor="ctr"/>
          <a:lstStyle/>
          <a:p>
            <a:pPr indent="0" marL="0">
              <a:buNone/>
            </a:pPr>
            <a:r>
              <a:rPr lang="en-US" sz="1500" dirty="0">
                <a:solidFill>
                  <a:srgbClr val="1A2433"/>
                </a:solidFill>
              </a:rPr>
              <a:t>Provide online admission applications and review by the registry</a:t>
            </a:r>
            <a:endParaRPr lang="en-US" sz="1500" dirty="0"/>
          </a:p>
        </p:txBody>
      </p:sp>
      <p:sp>
        <p:nvSpPr>
          <p:cNvPr id="12" name="objective number"/>
          <p:cNvSpPr/>
          <p:nvPr/>
        </p:nvSpPr>
        <p:spPr>
          <a:xfrm>
            <a:off x="6172200" y="2788920"/>
            <a:ext cx="457200" cy="457200"/>
          </a:xfrm>
          <a:prstGeom prst="ellipse">
            <a:avLst/>
          </a:prstGeom>
          <a:solidFill>
            <a:srgbClr val="E3A83B"/>
          </a:solidFill>
          <a:ln w="12700">
            <a:solidFill>
              <a:srgbClr val="E3A83B"/>
            </a:solidFill>
            <a:prstDash val="solid"/>
          </a:ln>
        </p:spPr>
      </p:sp>
      <p:sp>
        <p:nvSpPr>
          <p:cNvPr id="13" name="Text 10"/>
          <p:cNvSpPr txBox="1"/>
          <p:nvPr/>
        </p:nvSpPr>
        <p:spPr>
          <a:xfrm>
            <a:off x="61722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4" name="Text 11"/>
          <p:cNvSpPr txBox="1"/>
          <p:nvPr/>
        </p:nvSpPr>
        <p:spPr>
          <a:xfrm>
            <a:off x="6812280" y="2743200"/>
            <a:ext cx="4800600" cy="594360"/>
          </a:xfrm>
          <a:prstGeom prst="rect">
            <a:avLst/>
          </a:prstGeom>
          <a:noFill/>
          <a:ln/>
        </p:spPr>
        <p:txBody>
          <a:bodyPr wrap="square" lIns="0" tIns="0" rIns="0" bIns="0" rtlCol="0" anchor="ctr"/>
          <a:lstStyle/>
          <a:p>
            <a:pPr indent="0" marL="0">
              <a:buNone/>
            </a:pPr>
            <a:r>
              <a:rPr lang="en-US" sz="1500" dirty="0">
                <a:solidFill>
                  <a:srgbClr val="1A2433"/>
                </a:solidFill>
              </a:rPr>
              <a:t>Give each role (student, lecturer, 8 staff roles) its own secure dashboard</a:t>
            </a:r>
            <a:endParaRPr lang="en-US" sz="1500" dirty="0"/>
          </a:p>
        </p:txBody>
      </p:sp>
      <p:sp>
        <p:nvSpPr>
          <p:cNvPr id="15" name="objective number"/>
          <p:cNvSpPr/>
          <p:nvPr/>
        </p:nvSpPr>
        <p:spPr>
          <a:xfrm>
            <a:off x="548640" y="3657600"/>
            <a:ext cx="457200" cy="457200"/>
          </a:xfrm>
          <a:prstGeom prst="ellipse">
            <a:avLst/>
          </a:prstGeom>
          <a:solidFill>
            <a:srgbClr val="004080"/>
          </a:solidFill>
          <a:ln w="12700">
            <a:solidFill>
              <a:srgbClr val="004080"/>
            </a:solidFill>
            <a:prstDash val="solid"/>
          </a:ln>
        </p:spPr>
      </p:sp>
      <p:sp>
        <p:nvSpPr>
          <p:cNvPr id="16" name="Text 13"/>
          <p:cNvSpPr txBox="1"/>
          <p:nvPr/>
        </p:nvSpPr>
        <p:spPr>
          <a:xfrm>
            <a:off x="548640" y="3657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7" name="Text 14"/>
          <p:cNvSpPr txBox="1"/>
          <p:nvPr/>
        </p:nvSpPr>
        <p:spPr>
          <a:xfrm>
            <a:off x="1188720" y="3611880"/>
            <a:ext cx="4800600" cy="594360"/>
          </a:xfrm>
          <a:prstGeom prst="rect">
            <a:avLst/>
          </a:prstGeom>
          <a:noFill/>
          <a:ln/>
        </p:spPr>
        <p:txBody>
          <a:bodyPr wrap="square" lIns="0" tIns="0" rIns="0" bIns="0" rtlCol="0" anchor="ctr"/>
          <a:lstStyle/>
          <a:p>
            <a:pPr indent="0" marL="0">
              <a:buNone/>
            </a:pPr>
            <a:r>
              <a:rPr lang="en-US" sz="1500" dirty="0">
                <a:solidFill>
                  <a:srgbClr val="1A2433"/>
                </a:solidFill>
              </a:rPr>
              <a:t>Keep a fee ledger and verify uploaded proofs of payment</a:t>
            </a:r>
            <a:endParaRPr lang="en-US" sz="1500" dirty="0"/>
          </a:p>
        </p:txBody>
      </p:sp>
      <p:sp>
        <p:nvSpPr>
          <p:cNvPr id="18" name="objective number"/>
          <p:cNvSpPr/>
          <p:nvPr/>
        </p:nvSpPr>
        <p:spPr>
          <a:xfrm>
            <a:off x="6172200" y="3657600"/>
            <a:ext cx="457200" cy="457200"/>
          </a:xfrm>
          <a:prstGeom prst="ellipse">
            <a:avLst/>
          </a:prstGeom>
          <a:solidFill>
            <a:srgbClr val="E3A83B"/>
          </a:solidFill>
          <a:ln w="12700">
            <a:solidFill>
              <a:srgbClr val="E3A83B"/>
            </a:solidFill>
            <a:prstDash val="solid"/>
          </a:ln>
        </p:spPr>
      </p:sp>
      <p:sp>
        <p:nvSpPr>
          <p:cNvPr id="19" name="Text 16"/>
          <p:cNvSpPr txBox="1"/>
          <p:nvPr/>
        </p:nvSpPr>
        <p:spPr>
          <a:xfrm>
            <a:off x="6172200" y="3657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0" name="Text 17"/>
          <p:cNvSpPr txBox="1"/>
          <p:nvPr/>
        </p:nvSpPr>
        <p:spPr>
          <a:xfrm>
            <a:off x="6812280" y="3611880"/>
            <a:ext cx="4800600" cy="594360"/>
          </a:xfrm>
          <a:prstGeom prst="rect">
            <a:avLst/>
          </a:prstGeom>
          <a:noFill/>
          <a:ln/>
        </p:spPr>
        <p:txBody>
          <a:bodyPr wrap="square" lIns="0" tIns="0" rIns="0" bIns="0" rtlCol="0" anchor="ctr"/>
          <a:lstStyle/>
          <a:p>
            <a:pPr indent="0" marL="0">
              <a:buNone/>
            </a:pPr>
            <a:r>
              <a:rPr lang="en-US" sz="1500" dirty="0">
                <a:solidFill>
                  <a:srgbClr val="1A2433"/>
                </a:solidFill>
              </a:rPr>
              <a:t>Automate semester registration with fee checks and five sequential approvals</a:t>
            </a:r>
            <a:endParaRPr lang="en-US" sz="1500" dirty="0"/>
          </a:p>
        </p:txBody>
      </p:sp>
      <p:sp>
        <p:nvSpPr>
          <p:cNvPr id="21" name="objective number"/>
          <p:cNvSpPr/>
          <p:nvPr/>
        </p:nvSpPr>
        <p:spPr>
          <a:xfrm>
            <a:off x="548640" y="4526280"/>
            <a:ext cx="457200" cy="457200"/>
          </a:xfrm>
          <a:prstGeom prst="ellipse">
            <a:avLst/>
          </a:prstGeom>
          <a:solidFill>
            <a:srgbClr val="004080"/>
          </a:solidFill>
          <a:ln w="12700">
            <a:solidFill>
              <a:srgbClr val="004080"/>
            </a:solidFill>
            <a:prstDash val="solid"/>
          </a:ln>
        </p:spPr>
      </p:sp>
      <p:sp>
        <p:nvSpPr>
          <p:cNvPr id="22" name="Text 19"/>
          <p:cNvSpPr txBox="1"/>
          <p:nvPr/>
        </p:nvSpPr>
        <p:spPr>
          <a:xfrm>
            <a:off x="548640" y="45262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23" name="Text 20"/>
          <p:cNvSpPr txBox="1"/>
          <p:nvPr/>
        </p:nvSpPr>
        <p:spPr>
          <a:xfrm>
            <a:off x="1188720" y="4480560"/>
            <a:ext cx="4800600" cy="594360"/>
          </a:xfrm>
          <a:prstGeom prst="rect">
            <a:avLst/>
          </a:prstGeom>
          <a:noFill/>
          <a:ln/>
        </p:spPr>
        <p:txBody>
          <a:bodyPr wrap="square" lIns="0" tIns="0" rIns="0" bIns="0" rtlCol="0" anchor="ctr"/>
          <a:lstStyle/>
          <a:p>
            <a:pPr indent="0" marL="0">
              <a:buNone/>
            </a:pPr>
            <a:r>
              <a:rPr lang="en-US" sz="1500" dirty="0">
                <a:solidFill>
                  <a:srgbClr val="1A2433"/>
                </a:solidFill>
              </a:rPr>
              <a:t>Let lecturers publish notes, assignments and marks; compute grades automatically</a:t>
            </a:r>
            <a:endParaRPr lang="en-US" sz="1500" dirty="0"/>
          </a:p>
        </p:txBody>
      </p:sp>
      <p:sp>
        <p:nvSpPr>
          <p:cNvPr id="24" name="objective number"/>
          <p:cNvSpPr/>
          <p:nvPr/>
        </p:nvSpPr>
        <p:spPr>
          <a:xfrm>
            <a:off x="6172200" y="4526280"/>
            <a:ext cx="457200" cy="457200"/>
          </a:xfrm>
          <a:prstGeom prst="ellipse">
            <a:avLst/>
          </a:prstGeom>
          <a:solidFill>
            <a:srgbClr val="E3A83B"/>
          </a:solidFill>
          <a:ln w="12700">
            <a:solidFill>
              <a:srgbClr val="E3A83B"/>
            </a:solidFill>
            <a:prstDash val="solid"/>
          </a:ln>
        </p:spPr>
      </p:sp>
      <p:sp>
        <p:nvSpPr>
          <p:cNvPr id="25" name="Text 22"/>
          <p:cNvSpPr txBox="1"/>
          <p:nvPr/>
        </p:nvSpPr>
        <p:spPr>
          <a:xfrm>
            <a:off x="6172200" y="45262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6" name="Text 23"/>
          <p:cNvSpPr txBox="1"/>
          <p:nvPr/>
        </p:nvSpPr>
        <p:spPr>
          <a:xfrm>
            <a:off x="6812280" y="4480560"/>
            <a:ext cx="4800600" cy="594360"/>
          </a:xfrm>
          <a:prstGeom prst="rect">
            <a:avLst/>
          </a:prstGeom>
          <a:noFill/>
          <a:ln/>
        </p:spPr>
        <p:txBody>
          <a:bodyPr wrap="square" lIns="0" tIns="0" rIns="0" bIns="0" rtlCol="0" anchor="ctr"/>
          <a:lstStyle/>
          <a:p>
            <a:pPr indent="0" marL="0">
              <a:buNone/>
            </a:pPr>
            <a:r>
              <a:rPr lang="en-US" sz="1500" dirty="0">
                <a:solidFill>
                  <a:srgbClr val="1A2433"/>
                </a:solidFill>
              </a:rPr>
              <a:t>Digitise the No Due Certificate and issue printable hall tickets</a:t>
            </a:r>
            <a:endParaRPr lang="en-US" sz="1500" dirty="0"/>
          </a:p>
        </p:txBody>
      </p:sp>
      <p:sp>
        <p:nvSpPr>
          <p:cNvPr id="27" name="objective number"/>
          <p:cNvSpPr/>
          <p:nvPr/>
        </p:nvSpPr>
        <p:spPr>
          <a:xfrm>
            <a:off x="548640" y="5394960"/>
            <a:ext cx="457200" cy="457200"/>
          </a:xfrm>
          <a:prstGeom prst="ellipse">
            <a:avLst/>
          </a:prstGeom>
          <a:solidFill>
            <a:srgbClr val="004080"/>
          </a:solidFill>
          <a:ln w="12700">
            <a:solidFill>
              <a:srgbClr val="004080"/>
            </a:solidFill>
            <a:prstDash val="solid"/>
          </a:ln>
        </p:spPr>
      </p:sp>
      <p:sp>
        <p:nvSpPr>
          <p:cNvPr id="28" name="Text 25"/>
          <p:cNvSpPr txBox="1"/>
          <p:nvPr/>
        </p:nvSpPr>
        <p:spPr>
          <a:xfrm>
            <a:off x="548640" y="5394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7</a:t>
            </a:r>
            <a:endParaRPr lang="en-US" sz="1500" dirty="0"/>
          </a:p>
        </p:txBody>
      </p:sp>
      <p:sp>
        <p:nvSpPr>
          <p:cNvPr id="29" name="Text 26"/>
          <p:cNvSpPr txBox="1"/>
          <p:nvPr/>
        </p:nvSpPr>
        <p:spPr>
          <a:xfrm>
            <a:off x="1188720" y="5349240"/>
            <a:ext cx="4800600" cy="594360"/>
          </a:xfrm>
          <a:prstGeom prst="rect">
            <a:avLst/>
          </a:prstGeom>
          <a:noFill/>
          <a:ln/>
        </p:spPr>
        <p:txBody>
          <a:bodyPr wrap="square" lIns="0" tIns="0" rIns="0" bIns="0" rtlCol="0" anchor="ctr"/>
          <a:lstStyle/>
          <a:p>
            <a:pPr indent="0" marL="0">
              <a:buNone/>
            </a:pPr>
            <a:r>
              <a:rPr lang="en-US" sz="1500" dirty="0">
                <a:solidFill>
                  <a:srgbClr val="1A2433"/>
                </a:solidFill>
              </a:rPr>
              <a:t>Support direct-entry students through semester exemptions</a:t>
            </a:r>
            <a:endParaRPr lang="en-US" sz="1500" dirty="0"/>
          </a:p>
        </p:txBody>
      </p:sp>
      <p:sp>
        <p:nvSpPr>
          <p:cNvPr id="30" name="objective number"/>
          <p:cNvSpPr/>
          <p:nvPr/>
        </p:nvSpPr>
        <p:spPr>
          <a:xfrm>
            <a:off x="6172200" y="5394960"/>
            <a:ext cx="457200" cy="457200"/>
          </a:xfrm>
          <a:prstGeom prst="ellipse">
            <a:avLst/>
          </a:prstGeom>
          <a:solidFill>
            <a:srgbClr val="E3A83B"/>
          </a:solidFill>
          <a:ln w="12700">
            <a:solidFill>
              <a:srgbClr val="E3A83B"/>
            </a:solidFill>
            <a:prstDash val="solid"/>
          </a:ln>
        </p:spPr>
      </p:sp>
      <p:sp>
        <p:nvSpPr>
          <p:cNvPr id="31" name="Text 28"/>
          <p:cNvSpPr txBox="1"/>
          <p:nvPr/>
        </p:nvSpPr>
        <p:spPr>
          <a:xfrm>
            <a:off x="6172200" y="5394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8</a:t>
            </a:r>
            <a:endParaRPr lang="en-US" sz="1500" dirty="0"/>
          </a:p>
        </p:txBody>
      </p:sp>
      <p:sp>
        <p:nvSpPr>
          <p:cNvPr id="32" name="Text 29"/>
          <p:cNvSpPr txBox="1"/>
          <p:nvPr/>
        </p:nvSpPr>
        <p:spPr>
          <a:xfrm>
            <a:off x="6812280" y="5349240"/>
            <a:ext cx="4800600" cy="594360"/>
          </a:xfrm>
          <a:prstGeom prst="rect">
            <a:avLst/>
          </a:prstGeom>
          <a:noFill/>
          <a:ln/>
        </p:spPr>
        <p:txBody>
          <a:bodyPr wrap="square" lIns="0" tIns="0" rIns="0" bIns="0" rtlCol="0" anchor="ctr"/>
          <a:lstStyle/>
          <a:p>
            <a:pPr indent="0" marL="0">
              <a:buNone/>
            </a:pPr>
            <a:r>
              <a:rPr lang="en-US" sz="1500" dirty="0">
                <a:solidFill>
                  <a:srgbClr val="1A2433"/>
                </a:solidFill>
              </a:rPr>
              <a:t>Notify users of every decision, hold and announcement</a:t>
            </a:r>
            <a:endParaRPr lang="en-US" sz="15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Scope &amp; limitations of the study</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0th Review</a:t>
            </a:r>
            <a:endParaRPr lang="en-US" sz="1100" dirty="0"/>
          </a:p>
        </p:txBody>
      </p:sp>
      <p:sp>
        <p:nvSpPr>
          <p:cNvPr id="5" name="card"/>
          <p:cNvSpPr/>
          <p:nvPr/>
        </p:nvSpPr>
        <p:spPr>
          <a:xfrm>
            <a:off x="548640" y="1371600"/>
            <a:ext cx="5440680" cy="4800600"/>
          </a:xfrm>
          <a:prstGeom prst="roundRect">
            <a:avLst>
              <a:gd name="adj" fmla="val 2286"/>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6" name="icon circle"/>
          <p:cNvSpPr/>
          <p:nvPr/>
        </p:nvSpPr>
        <p:spPr>
          <a:xfrm>
            <a:off x="822960" y="1645920"/>
            <a:ext cx="548640" cy="548640"/>
          </a:xfrm>
          <a:prstGeom prst="ellipse">
            <a:avLst/>
          </a:prstGeom>
          <a:solidFill>
            <a:srgbClr val="1E7E34"/>
          </a:solidFill>
          <a:ln w="12700">
            <a:solidFill>
              <a:srgbClr val="1E7E34"/>
            </a:solidFill>
            <a:prstDash val="solid"/>
          </a:ln>
        </p:spPr>
      </p:sp>
      <p:pic>
        <p:nvPicPr>
          <p:cNvPr id="7" name="Image 0" descr="FaCheck">    </p:cNvPr>
          <p:cNvPicPr>
            <a:picLocks noChangeAspect="1"/>
          </p:cNvPicPr>
          <p:nvPr/>
        </p:nvPicPr>
        <p:blipFill>
          <a:blip r:embed="rId1"/>
          <a:stretch>
            <a:fillRect/>
          </a:stretch>
        </p:blipFill>
        <p:spPr>
          <a:xfrm>
            <a:off x="954634" y="1777594"/>
            <a:ext cx="285293" cy="285293"/>
          </a:xfrm>
          <a:prstGeom prst="rect">
            <a:avLst/>
          </a:prstGeom>
        </p:spPr>
      </p:pic>
      <p:sp>
        <p:nvSpPr>
          <p:cNvPr id="8" name="Text 5"/>
          <p:cNvSpPr txBox="1"/>
          <p:nvPr/>
        </p:nvSpPr>
        <p:spPr>
          <a:xfrm>
            <a:off x="1554480" y="1691640"/>
            <a:ext cx="3657600" cy="457200"/>
          </a:xfrm>
          <a:prstGeom prst="rect">
            <a:avLst/>
          </a:prstGeom>
          <a:noFill/>
          <a:ln/>
        </p:spPr>
        <p:txBody>
          <a:bodyPr wrap="square" lIns="0" tIns="0" rIns="0" bIns="0" rtlCol="0" anchor="t"/>
          <a:lstStyle/>
          <a:p>
            <a:pPr indent="0" marL="0">
              <a:buNone/>
            </a:pPr>
            <a:r>
              <a:rPr lang="en-US" sz="2000" b="1" dirty="0">
                <a:solidFill>
                  <a:srgbClr val="0B2545"/>
                </a:solidFill>
                <a:latin typeface="Cambria" pitchFamily="34" charset="0"/>
                <a:ea typeface="Cambria" pitchFamily="34" charset="-122"/>
                <a:cs typeface="Cambria" pitchFamily="34" charset="-120"/>
              </a:rPr>
              <a:t>In scope</a:t>
            </a:r>
            <a:endParaRPr lang="en-US" sz="2000" dirty="0"/>
          </a:p>
        </p:txBody>
      </p:sp>
      <p:sp>
        <p:nvSpPr>
          <p:cNvPr id="9" name="Text 6"/>
          <p:cNvSpPr txBox="1"/>
          <p:nvPr/>
        </p:nvSpPr>
        <p:spPr>
          <a:xfrm>
            <a:off x="822960" y="2377440"/>
            <a:ext cx="4937760" cy="36576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A2433"/>
                </a:solidFill>
              </a:rPr>
              <a:t>DMISEU Chipata Campus: 5 schools, 19 Diploma &amp; Bachelor programmes</a:t>
            </a:r>
            <a:endParaRPr lang="en-US" sz="1500" dirty="0"/>
          </a:p>
          <a:p>
            <a:pPr marL="203200" indent="-203200">
              <a:spcAft>
                <a:spcPts val="800"/>
              </a:spcAft>
              <a:buSzPct val="100000"/>
              <a:buChar char="•"/>
            </a:pPr>
            <a:r>
              <a:rPr lang="en-US" sz="1500" dirty="0">
                <a:solidFill>
                  <a:srgbClr val="1A2433"/>
                </a:solidFill>
              </a:rPr>
              <a:t>Students, lecturers / class advisors and 8 staff roles</a:t>
            </a:r>
            <a:endParaRPr lang="en-US" sz="1500" dirty="0"/>
          </a:p>
          <a:p>
            <a:pPr marL="203200" indent="-203200">
              <a:spcAft>
                <a:spcPts val="800"/>
              </a:spcAft>
              <a:buSzPct val="100000"/>
              <a:buChar char="•"/>
            </a:pPr>
            <a:r>
              <a:rPr lang="en-US" sz="1500" dirty="0">
                <a:solidFill>
                  <a:srgbClr val="1A2433"/>
                </a:solidFill>
              </a:rPr>
              <a:t>Admissions, fees, semester registration, notes, assignments, results</a:t>
            </a:r>
            <a:endParaRPr lang="en-US" sz="1500" dirty="0"/>
          </a:p>
          <a:p>
            <a:pPr marL="203200" indent="-203200">
              <a:spcAft>
                <a:spcPts val="800"/>
              </a:spcAft>
              <a:buSzPct val="100000"/>
              <a:buChar char="•"/>
            </a:pPr>
            <a:r>
              <a:rPr lang="en-US" sz="1500" dirty="0">
                <a:solidFill>
                  <a:srgbClr val="1A2433"/>
                </a:solidFill>
              </a:rPr>
              <a:t>No Due clearance, exam timetables per programme &amp; semester, hall tickets</a:t>
            </a:r>
            <a:endParaRPr lang="en-US" sz="1500" dirty="0"/>
          </a:p>
          <a:p>
            <a:pPr marL="203200" indent="-203200">
              <a:spcAft>
                <a:spcPts val="800"/>
              </a:spcAft>
              <a:buSzPct val="100000"/>
              <a:buChar char="•"/>
            </a:pPr>
            <a:r>
              <a:rPr lang="en-US" sz="1500" dirty="0">
                <a:solidFill>
                  <a:srgbClr val="1A2433"/>
                </a:solidFill>
              </a:rPr>
              <a:t>Direct-entry exemptions, notifications and announcements</a:t>
            </a:r>
            <a:endParaRPr lang="en-US" sz="1500" dirty="0"/>
          </a:p>
          <a:p>
            <a:pPr marL="203200" indent="-203200">
              <a:spcAft>
                <a:spcPts val="800"/>
              </a:spcAft>
              <a:buSzPct val="100000"/>
              <a:buChar char="•"/>
            </a:pPr>
            <a:r>
              <a:rPr lang="en-US" sz="1500" dirty="0">
                <a:solidFill>
                  <a:srgbClr val="1A2433"/>
                </a:solidFill>
              </a:rPr>
              <a:t>Web access from any modern browser, desktop or phone</a:t>
            </a:r>
            <a:endParaRPr lang="en-US" sz="1500" dirty="0"/>
          </a:p>
        </p:txBody>
      </p:sp>
      <p:sp>
        <p:nvSpPr>
          <p:cNvPr id="10" name="card"/>
          <p:cNvSpPr/>
          <p:nvPr/>
        </p:nvSpPr>
        <p:spPr>
          <a:xfrm>
            <a:off x="6199632" y="1371600"/>
            <a:ext cx="5440680" cy="4800600"/>
          </a:xfrm>
          <a:prstGeom prst="roundRect">
            <a:avLst>
              <a:gd name="adj" fmla="val 2286"/>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11" name="icon circle"/>
          <p:cNvSpPr/>
          <p:nvPr/>
        </p:nvSpPr>
        <p:spPr>
          <a:xfrm>
            <a:off x="6473952" y="1645920"/>
            <a:ext cx="548640" cy="548640"/>
          </a:xfrm>
          <a:prstGeom prst="ellipse">
            <a:avLst/>
          </a:prstGeom>
          <a:solidFill>
            <a:srgbClr val="E3A83B"/>
          </a:solidFill>
          <a:ln w="12700">
            <a:solidFill>
              <a:srgbClr val="E3A83B"/>
            </a:solidFill>
            <a:prstDash val="solid"/>
          </a:ln>
        </p:spPr>
      </p:sp>
      <p:pic>
        <p:nvPicPr>
          <p:cNvPr id="12" name="Image 1" descr="FaExclamation">    </p:cNvPr>
          <p:cNvPicPr>
            <a:picLocks noChangeAspect="1"/>
          </p:cNvPicPr>
          <p:nvPr/>
        </p:nvPicPr>
        <p:blipFill>
          <a:blip r:embed="rId2"/>
          <a:stretch>
            <a:fillRect/>
          </a:stretch>
        </p:blipFill>
        <p:spPr>
          <a:xfrm>
            <a:off x="6605626" y="1777594"/>
            <a:ext cx="285293" cy="285293"/>
          </a:xfrm>
          <a:prstGeom prst="rect">
            <a:avLst/>
          </a:prstGeom>
        </p:spPr>
      </p:pic>
      <p:sp>
        <p:nvSpPr>
          <p:cNvPr id="13" name="Text 9"/>
          <p:cNvSpPr txBox="1"/>
          <p:nvPr/>
        </p:nvSpPr>
        <p:spPr>
          <a:xfrm>
            <a:off x="7205472" y="1691640"/>
            <a:ext cx="3657600" cy="457200"/>
          </a:xfrm>
          <a:prstGeom prst="rect">
            <a:avLst/>
          </a:prstGeom>
          <a:noFill/>
          <a:ln/>
        </p:spPr>
        <p:txBody>
          <a:bodyPr wrap="square" lIns="0" tIns="0" rIns="0" bIns="0" rtlCol="0" anchor="t"/>
          <a:lstStyle/>
          <a:p>
            <a:pPr indent="0" marL="0">
              <a:buNone/>
            </a:pPr>
            <a:r>
              <a:rPr lang="en-US" sz="2000" b="1" dirty="0">
                <a:solidFill>
                  <a:srgbClr val="0B2545"/>
                </a:solidFill>
                <a:latin typeface="Cambria" pitchFamily="34" charset="0"/>
                <a:ea typeface="Cambria" pitchFamily="34" charset="-122"/>
                <a:cs typeface="Cambria" pitchFamily="34" charset="-120"/>
              </a:rPr>
              <a:t>Limitations</a:t>
            </a:r>
            <a:endParaRPr lang="en-US" sz="2000" dirty="0"/>
          </a:p>
        </p:txBody>
      </p:sp>
      <p:sp>
        <p:nvSpPr>
          <p:cNvPr id="14" name="Text 10"/>
          <p:cNvSpPr txBox="1"/>
          <p:nvPr/>
        </p:nvSpPr>
        <p:spPr>
          <a:xfrm>
            <a:off x="6473952" y="2377440"/>
            <a:ext cx="4937760" cy="36576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A2433"/>
                </a:solidFill>
              </a:rPr>
              <a:t>No online payment gateway yet: students upload proof and Accounts verifies</a:t>
            </a:r>
            <a:endParaRPr lang="en-US" sz="1500" dirty="0"/>
          </a:p>
          <a:p>
            <a:pPr marL="203200" indent="-203200">
              <a:spcAft>
                <a:spcPts val="800"/>
              </a:spcAft>
              <a:buSzPct val="100000"/>
              <a:buChar char="•"/>
            </a:pPr>
            <a:r>
              <a:rPr lang="en-US" sz="1500" dirty="0">
                <a:solidFill>
                  <a:srgbClr val="1A2433"/>
                </a:solidFill>
              </a:rPr>
              <a:t>No SMS or e-mail delivery; notifications are inside the portal</a:t>
            </a:r>
            <a:endParaRPr lang="en-US" sz="1500" dirty="0"/>
          </a:p>
          <a:p>
            <a:pPr marL="203200" indent="-203200">
              <a:spcAft>
                <a:spcPts val="800"/>
              </a:spcAft>
              <a:buSzPct val="100000"/>
              <a:buChar char="•"/>
            </a:pPr>
            <a:r>
              <a:rPr lang="en-US" sz="1500" dirty="0">
                <a:solidFill>
                  <a:srgbClr val="1A2433"/>
                </a:solidFill>
              </a:rPr>
              <a:t>Single campus; other DMISEU campuses are not connected</a:t>
            </a:r>
            <a:endParaRPr lang="en-US" sz="1500" dirty="0"/>
          </a:p>
          <a:p>
            <a:pPr marL="203200" indent="-203200">
              <a:spcAft>
                <a:spcPts val="800"/>
              </a:spcAft>
              <a:buSzPct val="100000"/>
              <a:buChar char="•"/>
            </a:pPr>
            <a:r>
              <a:rPr lang="en-US" sz="1500" dirty="0">
                <a:solidFill>
                  <a:srgbClr val="1A2433"/>
                </a:solidFill>
              </a:rPr>
              <a:t>Needs an internet connection; no offline mode</a:t>
            </a:r>
            <a:endParaRPr lang="en-US" sz="1500" dirty="0"/>
          </a:p>
          <a:p>
            <a:pPr marL="203200" indent="-203200">
              <a:spcAft>
                <a:spcPts val="800"/>
              </a:spcAft>
              <a:buSzPct val="100000"/>
              <a:buChar char="•"/>
            </a:pPr>
            <a:r>
              <a:rPr lang="en-US" sz="1500" dirty="0">
                <a:solidFill>
                  <a:srgbClr val="1A2433"/>
                </a:solidFill>
              </a:rPr>
              <a:t>Grade scale is configurable and must be set to the official one</a:t>
            </a:r>
            <a:endParaRPr lang="en-US" sz="1500" dirty="0"/>
          </a:p>
          <a:p>
            <a:pPr marL="203200" indent="-203200">
              <a:spcAft>
                <a:spcPts val="800"/>
              </a:spcAft>
              <a:buSzPct val="100000"/>
              <a:buChar char="•"/>
            </a:pPr>
            <a:r>
              <a:rPr lang="en-US" sz="1500" dirty="0">
                <a:solidFill>
                  <a:srgbClr val="1A2433"/>
                </a:solidFill>
              </a:rPr>
              <a:t>Not yet load-tested with the full student population</a:t>
            </a:r>
            <a:endParaRPr lang="en-US" sz="15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Development requirements</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0th Review</a:t>
            </a:r>
            <a:endParaRPr lang="en-US" sz="1100" dirty="0"/>
          </a:p>
        </p:txBody>
      </p:sp>
      <p:sp>
        <p:nvSpPr>
          <p:cNvPr id="5" name="card"/>
          <p:cNvSpPr/>
          <p:nvPr/>
        </p:nvSpPr>
        <p:spPr>
          <a:xfrm>
            <a:off x="548640" y="1371600"/>
            <a:ext cx="3566160" cy="4800600"/>
          </a:xfrm>
          <a:prstGeom prst="roundRect">
            <a:avLst>
              <a:gd name="adj" fmla="val 3077"/>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6" name="icon circle"/>
          <p:cNvSpPr/>
          <p:nvPr/>
        </p:nvSpPr>
        <p:spPr>
          <a:xfrm>
            <a:off x="822960" y="1645920"/>
            <a:ext cx="640080" cy="640080"/>
          </a:xfrm>
          <a:prstGeom prst="ellipse">
            <a:avLst/>
          </a:prstGeom>
          <a:solidFill>
            <a:srgbClr val="004080"/>
          </a:solidFill>
          <a:ln w="12700">
            <a:solidFill>
              <a:srgbClr val="004080"/>
            </a:solidFill>
            <a:prstDash val="solid"/>
          </a:ln>
        </p:spPr>
      </p:sp>
      <p:pic>
        <p:nvPicPr>
          <p:cNvPr id="7" name="Image 0" descr="FaLaptop">    </p:cNvPr>
          <p:cNvPicPr>
            <a:picLocks noChangeAspect="1"/>
          </p:cNvPicPr>
          <p:nvPr/>
        </p:nvPicPr>
        <p:blipFill>
          <a:blip r:embed="rId1"/>
          <a:stretch>
            <a:fillRect/>
          </a:stretch>
        </p:blipFill>
        <p:spPr>
          <a:xfrm>
            <a:off x="976579" y="1799539"/>
            <a:ext cx="332842" cy="332842"/>
          </a:xfrm>
          <a:prstGeom prst="rect">
            <a:avLst/>
          </a:prstGeom>
        </p:spPr>
      </p:pic>
      <p:sp>
        <p:nvSpPr>
          <p:cNvPr id="8" name="Text 5"/>
          <p:cNvSpPr txBox="1"/>
          <p:nvPr/>
        </p:nvSpPr>
        <p:spPr>
          <a:xfrm>
            <a:off x="1600200" y="1737360"/>
            <a:ext cx="2377440" cy="457200"/>
          </a:xfrm>
          <a:prstGeom prst="rect">
            <a:avLst/>
          </a:prstGeom>
          <a:noFill/>
          <a:ln/>
        </p:spPr>
        <p:txBody>
          <a:bodyPr wrap="square" lIns="0" tIns="0" rIns="0" bIns="0" rtlCol="0" anchor="t"/>
          <a:lstStyle/>
          <a:p>
            <a:pPr indent="0" marL="0">
              <a:buNone/>
            </a:pPr>
            <a:r>
              <a:rPr lang="en-US" sz="2000" b="1" dirty="0">
                <a:solidFill>
                  <a:srgbClr val="0B2545"/>
                </a:solidFill>
                <a:latin typeface="Cambria" pitchFamily="34" charset="0"/>
                <a:ea typeface="Cambria" pitchFamily="34" charset="-122"/>
                <a:cs typeface="Cambria" pitchFamily="34" charset="-120"/>
              </a:rPr>
              <a:t>Hardware</a:t>
            </a:r>
            <a:endParaRPr lang="en-US" sz="2000" dirty="0"/>
          </a:p>
        </p:txBody>
      </p:sp>
      <p:sp>
        <p:nvSpPr>
          <p:cNvPr id="9" name="Text 6"/>
          <p:cNvSpPr txBox="1"/>
          <p:nvPr/>
        </p:nvSpPr>
        <p:spPr>
          <a:xfrm>
            <a:off x="822960" y="2514600"/>
            <a:ext cx="3063240" cy="34747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A2433"/>
                </a:solidFill>
              </a:rPr>
              <a:t>Development laptop: dual-core CPU, 8 GB RAM, 256 GB storage</a:t>
            </a:r>
            <a:endParaRPr lang="en-US" sz="1500" dirty="0"/>
          </a:p>
          <a:p>
            <a:pPr marL="203200" indent="-203200">
              <a:spcAft>
                <a:spcPts val="800"/>
              </a:spcAft>
              <a:buSzPct val="100000"/>
              <a:buChar char="•"/>
            </a:pPr>
            <a:r>
              <a:rPr lang="en-US" sz="1500" dirty="0">
                <a:solidFill>
                  <a:srgbClr val="1A2433"/>
                </a:solidFill>
              </a:rPr>
              <a:t>Server (deployment): 2 vCPU, 4 GB RAM, 40 GB SSD</a:t>
            </a:r>
            <a:endParaRPr lang="en-US" sz="1500" dirty="0"/>
          </a:p>
          <a:p>
            <a:pPr marL="203200" indent="-203200">
              <a:spcAft>
                <a:spcPts val="800"/>
              </a:spcAft>
              <a:buSzPct val="100000"/>
              <a:buChar char="•"/>
            </a:pPr>
            <a:r>
              <a:rPr lang="en-US" sz="1500" dirty="0">
                <a:solidFill>
                  <a:srgbClr val="1A2433"/>
                </a:solidFill>
              </a:rPr>
              <a:t>Client: any PC or smartphone with a browser</a:t>
            </a:r>
            <a:endParaRPr lang="en-US" sz="1500" dirty="0"/>
          </a:p>
          <a:p>
            <a:pPr marL="203200" indent="-203200">
              <a:spcAft>
                <a:spcPts val="800"/>
              </a:spcAft>
              <a:buSzPct val="100000"/>
              <a:buChar char="•"/>
            </a:pPr>
            <a:r>
              <a:rPr lang="en-US" sz="1500" dirty="0">
                <a:solidFill>
                  <a:srgbClr val="1A2433"/>
                </a:solidFill>
              </a:rPr>
              <a:t>Internet connection / campus LAN</a:t>
            </a:r>
            <a:endParaRPr lang="en-US" sz="1500" dirty="0"/>
          </a:p>
        </p:txBody>
      </p:sp>
      <p:sp>
        <p:nvSpPr>
          <p:cNvPr id="10" name="card"/>
          <p:cNvSpPr/>
          <p:nvPr/>
        </p:nvSpPr>
        <p:spPr>
          <a:xfrm>
            <a:off x="4297680" y="1371600"/>
            <a:ext cx="3566160" cy="4800600"/>
          </a:xfrm>
          <a:prstGeom prst="roundRect">
            <a:avLst>
              <a:gd name="adj" fmla="val 3077"/>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11" name="icon circle"/>
          <p:cNvSpPr/>
          <p:nvPr/>
        </p:nvSpPr>
        <p:spPr>
          <a:xfrm>
            <a:off x="4572000" y="1645920"/>
            <a:ext cx="640080" cy="640080"/>
          </a:xfrm>
          <a:prstGeom prst="ellipse">
            <a:avLst/>
          </a:prstGeom>
          <a:solidFill>
            <a:srgbClr val="E3A83B"/>
          </a:solidFill>
          <a:ln w="12700">
            <a:solidFill>
              <a:srgbClr val="E3A83B"/>
            </a:solidFill>
            <a:prstDash val="solid"/>
          </a:ln>
        </p:spPr>
      </p:sp>
      <p:pic>
        <p:nvPicPr>
          <p:cNvPr id="12" name="Image 1" descr="FaCode">    </p:cNvPr>
          <p:cNvPicPr>
            <a:picLocks noChangeAspect="1"/>
          </p:cNvPicPr>
          <p:nvPr/>
        </p:nvPicPr>
        <p:blipFill>
          <a:blip r:embed="rId2"/>
          <a:stretch>
            <a:fillRect/>
          </a:stretch>
        </p:blipFill>
        <p:spPr>
          <a:xfrm>
            <a:off x="4725619" y="1799539"/>
            <a:ext cx="332842" cy="332842"/>
          </a:xfrm>
          <a:prstGeom prst="rect">
            <a:avLst/>
          </a:prstGeom>
        </p:spPr>
      </p:pic>
      <p:sp>
        <p:nvSpPr>
          <p:cNvPr id="13" name="Text 9"/>
          <p:cNvSpPr txBox="1"/>
          <p:nvPr/>
        </p:nvSpPr>
        <p:spPr>
          <a:xfrm>
            <a:off x="5349240" y="1737360"/>
            <a:ext cx="2377440" cy="457200"/>
          </a:xfrm>
          <a:prstGeom prst="rect">
            <a:avLst/>
          </a:prstGeom>
          <a:noFill/>
          <a:ln/>
        </p:spPr>
        <p:txBody>
          <a:bodyPr wrap="square" lIns="0" tIns="0" rIns="0" bIns="0" rtlCol="0" anchor="t"/>
          <a:lstStyle/>
          <a:p>
            <a:pPr indent="0" marL="0">
              <a:buNone/>
            </a:pPr>
            <a:r>
              <a:rPr lang="en-US" sz="2000" b="1" dirty="0">
                <a:solidFill>
                  <a:srgbClr val="0B2545"/>
                </a:solidFill>
                <a:latin typeface="Cambria" pitchFamily="34" charset="0"/>
                <a:ea typeface="Cambria" pitchFamily="34" charset="-122"/>
                <a:cs typeface="Cambria" pitchFamily="34" charset="-120"/>
              </a:rPr>
              <a:t>Software &amp; tools</a:t>
            </a:r>
            <a:endParaRPr lang="en-US" sz="2000" dirty="0"/>
          </a:p>
        </p:txBody>
      </p:sp>
      <p:sp>
        <p:nvSpPr>
          <p:cNvPr id="14" name="Text 10"/>
          <p:cNvSpPr txBox="1"/>
          <p:nvPr/>
        </p:nvSpPr>
        <p:spPr>
          <a:xfrm>
            <a:off x="4572000" y="2514600"/>
            <a:ext cx="3063240" cy="34747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A2433"/>
                </a:solidFill>
              </a:rPr>
              <a:t>Node.js runtime and npm</a:t>
            </a:r>
            <a:endParaRPr lang="en-US" sz="1500" dirty="0"/>
          </a:p>
          <a:p>
            <a:pPr marL="203200" indent="-203200">
              <a:spcAft>
                <a:spcPts val="800"/>
              </a:spcAft>
              <a:buSzPct val="100000"/>
              <a:buChar char="•"/>
            </a:pPr>
            <a:r>
              <a:rPr lang="en-US" sz="1500" dirty="0">
                <a:solidFill>
                  <a:srgbClr val="1A2433"/>
                </a:solidFill>
              </a:rPr>
              <a:t>Express 5 web framework</a:t>
            </a:r>
            <a:endParaRPr lang="en-US" sz="1500" dirty="0"/>
          </a:p>
          <a:p>
            <a:pPr marL="203200" indent="-203200">
              <a:spcAft>
                <a:spcPts val="800"/>
              </a:spcAft>
              <a:buSzPct val="100000"/>
              <a:buChar char="•"/>
            </a:pPr>
            <a:r>
              <a:rPr lang="en-US" sz="1500" dirty="0">
                <a:solidFill>
                  <a:srgbClr val="1A2433"/>
                </a:solidFill>
              </a:rPr>
              <a:t>MySQL 8 database (mysql2 driver)</a:t>
            </a:r>
            <a:endParaRPr lang="en-US" sz="1500" dirty="0"/>
          </a:p>
          <a:p>
            <a:pPr marL="203200" indent="-203200">
              <a:spcAft>
                <a:spcPts val="800"/>
              </a:spcAft>
              <a:buSzPct val="100000"/>
              <a:buChar char="•"/>
            </a:pPr>
            <a:r>
              <a:rPr lang="en-US" sz="1500" dirty="0">
                <a:solidFill>
                  <a:srgbClr val="1A2433"/>
                </a:solidFill>
              </a:rPr>
              <a:t>VS Code editor, Git &amp; GitHub</a:t>
            </a:r>
            <a:endParaRPr lang="en-US" sz="1500" dirty="0"/>
          </a:p>
          <a:p>
            <a:pPr marL="203200" indent="-203200">
              <a:spcAft>
                <a:spcPts val="800"/>
              </a:spcAft>
              <a:buSzPct val="100000"/>
              <a:buChar char="•"/>
            </a:pPr>
            <a:r>
              <a:rPr lang="en-US" sz="1500" dirty="0">
                <a:solidFill>
                  <a:srgbClr val="1A2433"/>
                </a:solidFill>
              </a:rPr>
              <a:t>Google Chrome (testing), curl / Postman</a:t>
            </a:r>
            <a:endParaRPr lang="en-US" sz="1500" dirty="0"/>
          </a:p>
        </p:txBody>
      </p:sp>
      <p:sp>
        <p:nvSpPr>
          <p:cNvPr id="15" name="card"/>
          <p:cNvSpPr/>
          <p:nvPr/>
        </p:nvSpPr>
        <p:spPr>
          <a:xfrm>
            <a:off x="8046720" y="1371600"/>
            <a:ext cx="3566160" cy="4800600"/>
          </a:xfrm>
          <a:prstGeom prst="roundRect">
            <a:avLst>
              <a:gd name="adj" fmla="val 3077"/>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16" name="icon circle"/>
          <p:cNvSpPr/>
          <p:nvPr/>
        </p:nvSpPr>
        <p:spPr>
          <a:xfrm>
            <a:off x="8321040" y="1645920"/>
            <a:ext cx="640080" cy="640080"/>
          </a:xfrm>
          <a:prstGeom prst="ellipse">
            <a:avLst/>
          </a:prstGeom>
          <a:solidFill>
            <a:srgbClr val="004080"/>
          </a:solidFill>
          <a:ln w="12700">
            <a:solidFill>
              <a:srgbClr val="004080"/>
            </a:solidFill>
            <a:prstDash val="solid"/>
          </a:ln>
        </p:spPr>
      </p:sp>
      <p:pic>
        <p:nvPicPr>
          <p:cNvPr id="17" name="Image 2" descr="FaCubes">    </p:cNvPr>
          <p:cNvPicPr>
            <a:picLocks noChangeAspect="1"/>
          </p:cNvPicPr>
          <p:nvPr/>
        </p:nvPicPr>
        <p:blipFill>
          <a:blip r:embed="rId3"/>
          <a:stretch>
            <a:fillRect/>
          </a:stretch>
        </p:blipFill>
        <p:spPr>
          <a:xfrm>
            <a:off x="8474659" y="1799539"/>
            <a:ext cx="332842" cy="332842"/>
          </a:xfrm>
          <a:prstGeom prst="rect">
            <a:avLst/>
          </a:prstGeom>
        </p:spPr>
      </p:pic>
      <p:sp>
        <p:nvSpPr>
          <p:cNvPr id="18" name="Text 13"/>
          <p:cNvSpPr txBox="1"/>
          <p:nvPr/>
        </p:nvSpPr>
        <p:spPr>
          <a:xfrm>
            <a:off x="9098280" y="1737360"/>
            <a:ext cx="2377440" cy="457200"/>
          </a:xfrm>
          <a:prstGeom prst="rect">
            <a:avLst/>
          </a:prstGeom>
          <a:noFill/>
          <a:ln/>
        </p:spPr>
        <p:txBody>
          <a:bodyPr wrap="square" lIns="0" tIns="0" rIns="0" bIns="0" rtlCol="0" anchor="t"/>
          <a:lstStyle/>
          <a:p>
            <a:pPr indent="0" marL="0">
              <a:buNone/>
            </a:pPr>
            <a:r>
              <a:rPr lang="en-US" sz="2000" b="1" dirty="0">
                <a:solidFill>
                  <a:srgbClr val="0B2545"/>
                </a:solidFill>
                <a:latin typeface="Cambria" pitchFamily="34" charset="0"/>
                <a:ea typeface="Cambria" pitchFamily="34" charset="-122"/>
                <a:cs typeface="Cambria" pitchFamily="34" charset="-120"/>
              </a:rPr>
              <a:t>Libraries</a:t>
            </a:r>
            <a:endParaRPr lang="en-US" sz="2000" dirty="0"/>
          </a:p>
        </p:txBody>
      </p:sp>
      <p:sp>
        <p:nvSpPr>
          <p:cNvPr id="19" name="Text 14"/>
          <p:cNvSpPr txBox="1"/>
          <p:nvPr/>
        </p:nvSpPr>
        <p:spPr>
          <a:xfrm>
            <a:off x="8321040" y="2514600"/>
            <a:ext cx="3063240" cy="34747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A2433"/>
                </a:solidFill>
              </a:rPr>
              <a:t>bcrypt — password hashing</a:t>
            </a:r>
            <a:endParaRPr lang="en-US" sz="1500" dirty="0"/>
          </a:p>
          <a:p>
            <a:pPr marL="203200" indent="-203200">
              <a:spcAft>
                <a:spcPts val="800"/>
              </a:spcAft>
              <a:buSzPct val="100000"/>
              <a:buChar char="•"/>
            </a:pPr>
            <a:r>
              <a:rPr lang="en-US" sz="1500" dirty="0">
                <a:solidFill>
                  <a:srgbClr val="1A2433"/>
                </a:solidFill>
              </a:rPr>
              <a:t>jsonwebtoken — login tokens</a:t>
            </a:r>
            <a:endParaRPr lang="en-US" sz="1500" dirty="0"/>
          </a:p>
          <a:p>
            <a:pPr marL="203200" indent="-203200">
              <a:spcAft>
                <a:spcPts val="800"/>
              </a:spcAft>
              <a:buSzPct val="100000"/>
              <a:buChar char="•"/>
            </a:pPr>
            <a:r>
              <a:rPr lang="en-US" sz="1500" dirty="0">
                <a:solidFill>
                  <a:srgbClr val="1A2433"/>
                </a:solidFill>
              </a:rPr>
              <a:t>multer — file uploads</a:t>
            </a:r>
            <a:endParaRPr lang="en-US" sz="1500" dirty="0"/>
          </a:p>
          <a:p>
            <a:pPr marL="203200" indent="-203200">
              <a:spcAft>
                <a:spcPts val="800"/>
              </a:spcAft>
              <a:buSzPct val="100000"/>
              <a:buChar char="•"/>
            </a:pPr>
            <a:r>
              <a:rPr lang="en-US" sz="1500" dirty="0">
                <a:solidFill>
                  <a:srgbClr val="1A2433"/>
                </a:solidFill>
              </a:rPr>
              <a:t>dotenv — configuration</a:t>
            </a:r>
            <a:endParaRPr lang="en-US" sz="1500" dirty="0"/>
          </a:p>
          <a:p>
            <a:pPr marL="203200" indent="-203200">
              <a:spcAft>
                <a:spcPts val="800"/>
              </a:spcAft>
              <a:buSzPct val="100000"/>
              <a:buChar char="•"/>
            </a:pPr>
            <a:r>
              <a:rPr lang="en-US" sz="1500" dirty="0">
                <a:solidFill>
                  <a:srgbClr val="1A2433"/>
                </a:solidFill>
              </a:rPr>
              <a:t>nodemon — auto-restart in development</a:t>
            </a:r>
            <a:endParaRPr lang="en-US" sz="15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Justification of the study</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0th Review</a:t>
            </a:r>
            <a:endParaRPr lang="en-US" sz="1100" dirty="0"/>
          </a:p>
        </p:txBody>
      </p:sp>
      <p:sp>
        <p:nvSpPr>
          <p:cNvPr id="5" name="card"/>
          <p:cNvSpPr/>
          <p:nvPr/>
        </p:nvSpPr>
        <p:spPr>
          <a:xfrm>
            <a:off x="548640" y="1417320"/>
            <a:ext cx="3566160" cy="2148840"/>
          </a:xfrm>
          <a:prstGeom prst="roundRect">
            <a:avLst>
              <a:gd name="adj" fmla="val 5106"/>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6" name="icon circle"/>
          <p:cNvSpPr/>
          <p:nvPr/>
        </p:nvSpPr>
        <p:spPr>
          <a:xfrm>
            <a:off x="822960" y="1691640"/>
            <a:ext cx="566928" cy="566928"/>
          </a:xfrm>
          <a:prstGeom prst="ellipse">
            <a:avLst/>
          </a:prstGeom>
          <a:solidFill>
            <a:srgbClr val="004080"/>
          </a:solidFill>
          <a:ln w="12700">
            <a:solidFill>
              <a:srgbClr val="004080"/>
            </a:solidFill>
            <a:prstDash val="solid"/>
          </a:ln>
        </p:spPr>
      </p:sp>
      <p:pic>
        <p:nvPicPr>
          <p:cNvPr id="7" name="Image 0" descr="FaBolt">    </p:cNvPr>
          <p:cNvPicPr>
            <a:picLocks noChangeAspect="1"/>
          </p:cNvPicPr>
          <p:nvPr/>
        </p:nvPicPr>
        <p:blipFill>
          <a:blip r:embed="rId1"/>
          <a:stretch>
            <a:fillRect/>
          </a:stretch>
        </p:blipFill>
        <p:spPr>
          <a:xfrm>
            <a:off x="959023" y="1827703"/>
            <a:ext cx="294803" cy="294803"/>
          </a:xfrm>
          <a:prstGeom prst="rect">
            <a:avLst/>
          </a:prstGeom>
        </p:spPr>
      </p:pic>
      <p:sp>
        <p:nvSpPr>
          <p:cNvPr id="8" name="Text 5"/>
          <p:cNvSpPr txBox="1"/>
          <p:nvPr/>
        </p:nvSpPr>
        <p:spPr>
          <a:xfrm>
            <a:off x="1554480" y="1764792"/>
            <a:ext cx="2377440" cy="457200"/>
          </a:xfrm>
          <a:prstGeom prst="rect">
            <a:avLst/>
          </a:prstGeom>
          <a:noFill/>
          <a:ln/>
        </p:spPr>
        <p:txBody>
          <a:bodyPr wrap="square" lIns="0" tIns="0" rIns="0" bIns="0" rtlCol="0" anchor="t"/>
          <a:lstStyle/>
          <a:p>
            <a:pPr indent="0" marL="0">
              <a:buNone/>
            </a:pPr>
            <a:r>
              <a:rPr lang="en-US" sz="1800" b="1" dirty="0">
                <a:solidFill>
                  <a:srgbClr val="0B2545"/>
                </a:solidFill>
              </a:rPr>
              <a:t>Saves time</a:t>
            </a:r>
            <a:endParaRPr lang="en-US" sz="1800" dirty="0"/>
          </a:p>
        </p:txBody>
      </p:sp>
      <p:sp>
        <p:nvSpPr>
          <p:cNvPr id="9" name="Text 6"/>
          <p:cNvSpPr txBox="1"/>
          <p:nvPr/>
        </p:nvSpPr>
        <p:spPr>
          <a:xfrm>
            <a:off x="822960" y="2423160"/>
            <a:ext cx="3017520" cy="1005840"/>
          </a:xfrm>
          <a:prstGeom prst="rect">
            <a:avLst/>
          </a:prstGeom>
          <a:noFill/>
          <a:ln/>
        </p:spPr>
        <p:txBody>
          <a:bodyPr wrap="square" lIns="0" tIns="0" rIns="0" bIns="0" rtlCol="0" anchor="t"/>
          <a:lstStyle/>
          <a:p>
            <a:pPr indent="0" marL="0">
              <a:buNone/>
            </a:pPr>
            <a:r>
              <a:rPr lang="en-US" sz="1500" dirty="0">
                <a:solidFill>
                  <a:srgbClr val="1A2433"/>
                </a:solidFill>
              </a:rPr>
              <a:t>Clearance and registration move between offices instantly instead of by foot.</a:t>
            </a:r>
            <a:endParaRPr lang="en-US" sz="1500" dirty="0"/>
          </a:p>
        </p:txBody>
      </p:sp>
      <p:sp>
        <p:nvSpPr>
          <p:cNvPr id="10" name="card"/>
          <p:cNvSpPr/>
          <p:nvPr/>
        </p:nvSpPr>
        <p:spPr>
          <a:xfrm>
            <a:off x="4297680" y="1417320"/>
            <a:ext cx="3566160" cy="2148840"/>
          </a:xfrm>
          <a:prstGeom prst="roundRect">
            <a:avLst>
              <a:gd name="adj" fmla="val 5106"/>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11" name="icon circle"/>
          <p:cNvSpPr/>
          <p:nvPr/>
        </p:nvSpPr>
        <p:spPr>
          <a:xfrm>
            <a:off x="4572000" y="1691640"/>
            <a:ext cx="566928" cy="566928"/>
          </a:xfrm>
          <a:prstGeom prst="ellipse">
            <a:avLst/>
          </a:prstGeom>
          <a:solidFill>
            <a:srgbClr val="E3A83B"/>
          </a:solidFill>
          <a:ln w="12700">
            <a:solidFill>
              <a:srgbClr val="E3A83B"/>
            </a:solidFill>
            <a:prstDash val="solid"/>
          </a:ln>
        </p:spPr>
      </p:sp>
      <p:pic>
        <p:nvPicPr>
          <p:cNvPr id="12" name="Image 1" descr="FaBullseye">    </p:cNvPr>
          <p:cNvPicPr>
            <a:picLocks noChangeAspect="1"/>
          </p:cNvPicPr>
          <p:nvPr/>
        </p:nvPicPr>
        <p:blipFill>
          <a:blip r:embed="rId2"/>
          <a:stretch>
            <a:fillRect/>
          </a:stretch>
        </p:blipFill>
        <p:spPr>
          <a:xfrm>
            <a:off x="4708063" y="1827703"/>
            <a:ext cx="294803" cy="294803"/>
          </a:xfrm>
          <a:prstGeom prst="rect">
            <a:avLst/>
          </a:prstGeom>
        </p:spPr>
      </p:pic>
      <p:sp>
        <p:nvSpPr>
          <p:cNvPr id="13" name="Text 9"/>
          <p:cNvSpPr txBox="1"/>
          <p:nvPr/>
        </p:nvSpPr>
        <p:spPr>
          <a:xfrm>
            <a:off x="5303520" y="1764792"/>
            <a:ext cx="2377440" cy="457200"/>
          </a:xfrm>
          <a:prstGeom prst="rect">
            <a:avLst/>
          </a:prstGeom>
          <a:noFill/>
          <a:ln/>
        </p:spPr>
        <p:txBody>
          <a:bodyPr wrap="square" lIns="0" tIns="0" rIns="0" bIns="0" rtlCol="0" anchor="t"/>
          <a:lstStyle/>
          <a:p>
            <a:pPr indent="0" marL="0">
              <a:buNone/>
            </a:pPr>
            <a:r>
              <a:rPr lang="en-US" sz="1800" b="1" dirty="0">
                <a:solidFill>
                  <a:srgbClr val="0B2545"/>
                </a:solidFill>
              </a:rPr>
              <a:t>Fewer errors</a:t>
            </a:r>
            <a:endParaRPr lang="en-US" sz="1800" dirty="0"/>
          </a:p>
        </p:txBody>
      </p:sp>
      <p:sp>
        <p:nvSpPr>
          <p:cNvPr id="14" name="Text 10"/>
          <p:cNvSpPr txBox="1"/>
          <p:nvPr/>
        </p:nvSpPr>
        <p:spPr>
          <a:xfrm>
            <a:off x="4572000" y="2423160"/>
            <a:ext cx="3017520" cy="1005840"/>
          </a:xfrm>
          <a:prstGeom prst="rect">
            <a:avLst/>
          </a:prstGeom>
          <a:noFill/>
          <a:ln/>
        </p:spPr>
        <p:txBody>
          <a:bodyPr wrap="square" lIns="0" tIns="0" rIns="0" bIns="0" rtlCol="0" anchor="t"/>
          <a:lstStyle/>
          <a:p>
            <a:pPr indent="0" marL="0">
              <a:buNone/>
            </a:pPr>
            <a:r>
              <a:rPr lang="en-US" sz="1500" dirty="0">
                <a:solidFill>
                  <a:srgbClr val="1A2433"/>
                </a:solidFill>
              </a:rPr>
              <a:t>Fee percentages, totals and grades are calculated by the system, not by hand.</a:t>
            </a:r>
            <a:endParaRPr lang="en-US" sz="1500" dirty="0"/>
          </a:p>
        </p:txBody>
      </p:sp>
      <p:sp>
        <p:nvSpPr>
          <p:cNvPr id="15" name="card"/>
          <p:cNvSpPr/>
          <p:nvPr/>
        </p:nvSpPr>
        <p:spPr>
          <a:xfrm>
            <a:off x="8046720" y="1417320"/>
            <a:ext cx="3566160" cy="2148840"/>
          </a:xfrm>
          <a:prstGeom prst="roundRect">
            <a:avLst>
              <a:gd name="adj" fmla="val 5106"/>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16" name="icon circle"/>
          <p:cNvSpPr/>
          <p:nvPr/>
        </p:nvSpPr>
        <p:spPr>
          <a:xfrm>
            <a:off x="8321040" y="1691640"/>
            <a:ext cx="566928" cy="566928"/>
          </a:xfrm>
          <a:prstGeom prst="ellipse">
            <a:avLst/>
          </a:prstGeom>
          <a:solidFill>
            <a:srgbClr val="004080"/>
          </a:solidFill>
          <a:ln w="12700">
            <a:solidFill>
              <a:srgbClr val="004080"/>
            </a:solidFill>
            <a:prstDash val="solid"/>
          </a:ln>
        </p:spPr>
      </p:sp>
      <p:pic>
        <p:nvPicPr>
          <p:cNvPr id="17" name="Image 2" descr="FaSearch">    </p:cNvPr>
          <p:cNvPicPr>
            <a:picLocks noChangeAspect="1"/>
          </p:cNvPicPr>
          <p:nvPr/>
        </p:nvPicPr>
        <p:blipFill>
          <a:blip r:embed="rId3"/>
          <a:stretch>
            <a:fillRect/>
          </a:stretch>
        </p:blipFill>
        <p:spPr>
          <a:xfrm>
            <a:off x="8457103" y="1827703"/>
            <a:ext cx="294803" cy="294803"/>
          </a:xfrm>
          <a:prstGeom prst="rect">
            <a:avLst/>
          </a:prstGeom>
        </p:spPr>
      </p:pic>
      <p:sp>
        <p:nvSpPr>
          <p:cNvPr id="18" name="Text 13"/>
          <p:cNvSpPr txBox="1"/>
          <p:nvPr/>
        </p:nvSpPr>
        <p:spPr>
          <a:xfrm>
            <a:off x="9052560" y="1764792"/>
            <a:ext cx="2377440" cy="457200"/>
          </a:xfrm>
          <a:prstGeom prst="rect">
            <a:avLst/>
          </a:prstGeom>
          <a:noFill/>
          <a:ln/>
        </p:spPr>
        <p:txBody>
          <a:bodyPr wrap="square" lIns="0" tIns="0" rIns="0" bIns="0" rtlCol="0" anchor="t"/>
          <a:lstStyle/>
          <a:p>
            <a:pPr indent="0" marL="0">
              <a:buNone/>
            </a:pPr>
            <a:r>
              <a:rPr lang="en-US" sz="1800" b="1" dirty="0">
                <a:solidFill>
                  <a:srgbClr val="0B2545"/>
                </a:solidFill>
              </a:rPr>
              <a:t>Transparency</a:t>
            </a:r>
            <a:endParaRPr lang="en-US" sz="1800" dirty="0"/>
          </a:p>
        </p:txBody>
      </p:sp>
      <p:sp>
        <p:nvSpPr>
          <p:cNvPr id="19" name="Text 14"/>
          <p:cNvSpPr txBox="1"/>
          <p:nvPr/>
        </p:nvSpPr>
        <p:spPr>
          <a:xfrm>
            <a:off x="8321040" y="2423160"/>
            <a:ext cx="3017520" cy="1005840"/>
          </a:xfrm>
          <a:prstGeom prst="rect">
            <a:avLst/>
          </a:prstGeom>
          <a:noFill/>
          <a:ln/>
        </p:spPr>
        <p:txBody>
          <a:bodyPr wrap="square" lIns="0" tIns="0" rIns="0" bIns="0" rtlCol="0" anchor="t"/>
          <a:lstStyle/>
          <a:p>
            <a:pPr indent="0" marL="0">
              <a:buNone/>
            </a:pPr>
            <a:r>
              <a:rPr lang="en-US" sz="1500" dirty="0">
                <a:solidFill>
                  <a:srgbClr val="1A2433"/>
                </a:solidFill>
              </a:rPr>
              <a:t>Students see exactly which office has signed or put them on hold, and why.</a:t>
            </a:r>
            <a:endParaRPr lang="en-US" sz="1500" dirty="0"/>
          </a:p>
        </p:txBody>
      </p:sp>
      <p:sp>
        <p:nvSpPr>
          <p:cNvPr id="20" name="card"/>
          <p:cNvSpPr/>
          <p:nvPr/>
        </p:nvSpPr>
        <p:spPr>
          <a:xfrm>
            <a:off x="548640" y="3794760"/>
            <a:ext cx="3566160" cy="2148840"/>
          </a:xfrm>
          <a:prstGeom prst="roundRect">
            <a:avLst>
              <a:gd name="adj" fmla="val 5106"/>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21" name="icon circle"/>
          <p:cNvSpPr/>
          <p:nvPr/>
        </p:nvSpPr>
        <p:spPr>
          <a:xfrm>
            <a:off x="822960" y="4069080"/>
            <a:ext cx="566928" cy="566928"/>
          </a:xfrm>
          <a:prstGeom prst="ellipse">
            <a:avLst/>
          </a:prstGeom>
          <a:solidFill>
            <a:srgbClr val="E3A83B"/>
          </a:solidFill>
          <a:ln w="12700">
            <a:solidFill>
              <a:srgbClr val="E3A83B"/>
            </a:solidFill>
            <a:prstDash val="solid"/>
          </a:ln>
        </p:spPr>
      </p:sp>
      <p:pic>
        <p:nvPicPr>
          <p:cNvPr id="22" name="Image 3" descr="FaGlobeAfrica">    </p:cNvPr>
          <p:cNvPicPr>
            <a:picLocks noChangeAspect="1"/>
          </p:cNvPicPr>
          <p:nvPr/>
        </p:nvPicPr>
        <p:blipFill>
          <a:blip r:embed="rId4"/>
          <a:stretch>
            <a:fillRect/>
          </a:stretch>
        </p:blipFill>
        <p:spPr>
          <a:xfrm>
            <a:off x="959023" y="4205143"/>
            <a:ext cx="294803" cy="294803"/>
          </a:xfrm>
          <a:prstGeom prst="rect">
            <a:avLst/>
          </a:prstGeom>
        </p:spPr>
      </p:pic>
      <p:sp>
        <p:nvSpPr>
          <p:cNvPr id="23" name="Text 17"/>
          <p:cNvSpPr txBox="1"/>
          <p:nvPr/>
        </p:nvSpPr>
        <p:spPr>
          <a:xfrm>
            <a:off x="1554480" y="4142232"/>
            <a:ext cx="2377440" cy="457200"/>
          </a:xfrm>
          <a:prstGeom prst="rect">
            <a:avLst/>
          </a:prstGeom>
          <a:noFill/>
          <a:ln/>
        </p:spPr>
        <p:txBody>
          <a:bodyPr wrap="square" lIns="0" tIns="0" rIns="0" bIns="0" rtlCol="0" anchor="t"/>
          <a:lstStyle/>
          <a:p>
            <a:pPr indent="0" marL="0">
              <a:buNone/>
            </a:pPr>
            <a:r>
              <a:rPr lang="en-US" sz="1800" b="1" dirty="0">
                <a:solidFill>
                  <a:srgbClr val="0B2545"/>
                </a:solidFill>
              </a:rPr>
              <a:t>Access anywhere</a:t>
            </a:r>
            <a:endParaRPr lang="en-US" sz="1800" dirty="0"/>
          </a:p>
        </p:txBody>
      </p:sp>
      <p:sp>
        <p:nvSpPr>
          <p:cNvPr id="24" name="Text 18"/>
          <p:cNvSpPr txBox="1"/>
          <p:nvPr/>
        </p:nvSpPr>
        <p:spPr>
          <a:xfrm>
            <a:off x="822960" y="4800600"/>
            <a:ext cx="3017520" cy="1005840"/>
          </a:xfrm>
          <a:prstGeom prst="rect">
            <a:avLst/>
          </a:prstGeom>
          <a:noFill/>
          <a:ln/>
        </p:spPr>
        <p:txBody>
          <a:bodyPr wrap="square" lIns="0" tIns="0" rIns="0" bIns="0" rtlCol="0" anchor="t"/>
          <a:lstStyle/>
          <a:p>
            <a:pPr indent="0" marL="0">
              <a:buNone/>
            </a:pPr>
            <a:r>
              <a:rPr lang="en-US" sz="1500" dirty="0">
                <a:solidFill>
                  <a:srgbClr val="1A2433"/>
                </a:solidFill>
              </a:rPr>
              <a:t>Available 24/7 from a phone or PC, on and off campus.</a:t>
            </a:r>
            <a:endParaRPr lang="en-US" sz="1500" dirty="0"/>
          </a:p>
        </p:txBody>
      </p:sp>
      <p:sp>
        <p:nvSpPr>
          <p:cNvPr id="25" name="card"/>
          <p:cNvSpPr/>
          <p:nvPr/>
        </p:nvSpPr>
        <p:spPr>
          <a:xfrm>
            <a:off x="4297680" y="3794760"/>
            <a:ext cx="3566160" cy="2148840"/>
          </a:xfrm>
          <a:prstGeom prst="roundRect">
            <a:avLst>
              <a:gd name="adj" fmla="val 5106"/>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26" name="icon circle"/>
          <p:cNvSpPr/>
          <p:nvPr/>
        </p:nvSpPr>
        <p:spPr>
          <a:xfrm>
            <a:off x="4572000" y="4069080"/>
            <a:ext cx="566928" cy="566928"/>
          </a:xfrm>
          <a:prstGeom prst="ellipse">
            <a:avLst/>
          </a:prstGeom>
          <a:solidFill>
            <a:srgbClr val="004080"/>
          </a:solidFill>
          <a:ln w="12700">
            <a:solidFill>
              <a:srgbClr val="004080"/>
            </a:solidFill>
            <a:prstDash val="solid"/>
          </a:ln>
        </p:spPr>
      </p:sp>
      <p:pic>
        <p:nvPicPr>
          <p:cNvPr id="27" name="Image 4" descr="FaLeaf">    </p:cNvPr>
          <p:cNvPicPr>
            <a:picLocks noChangeAspect="1"/>
          </p:cNvPicPr>
          <p:nvPr/>
        </p:nvPicPr>
        <p:blipFill>
          <a:blip r:embed="rId5"/>
          <a:stretch>
            <a:fillRect/>
          </a:stretch>
        </p:blipFill>
        <p:spPr>
          <a:xfrm>
            <a:off x="4708063" y="4205143"/>
            <a:ext cx="294803" cy="294803"/>
          </a:xfrm>
          <a:prstGeom prst="rect">
            <a:avLst/>
          </a:prstGeom>
        </p:spPr>
      </p:pic>
      <p:sp>
        <p:nvSpPr>
          <p:cNvPr id="28" name="Text 21"/>
          <p:cNvSpPr txBox="1"/>
          <p:nvPr/>
        </p:nvSpPr>
        <p:spPr>
          <a:xfrm>
            <a:off x="5303520" y="4142232"/>
            <a:ext cx="2377440" cy="457200"/>
          </a:xfrm>
          <a:prstGeom prst="rect">
            <a:avLst/>
          </a:prstGeom>
          <a:noFill/>
          <a:ln/>
        </p:spPr>
        <p:txBody>
          <a:bodyPr wrap="square" lIns="0" tIns="0" rIns="0" bIns="0" rtlCol="0" anchor="t"/>
          <a:lstStyle/>
          <a:p>
            <a:pPr indent="0" marL="0">
              <a:buNone/>
            </a:pPr>
            <a:r>
              <a:rPr lang="en-US" sz="1800" b="1" dirty="0">
                <a:solidFill>
                  <a:srgbClr val="0B2545"/>
                </a:solidFill>
              </a:rPr>
              <a:t>Less paper &amp; cost</a:t>
            </a:r>
            <a:endParaRPr lang="en-US" sz="1800" dirty="0"/>
          </a:p>
        </p:txBody>
      </p:sp>
      <p:sp>
        <p:nvSpPr>
          <p:cNvPr id="29" name="Text 22"/>
          <p:cNvSpPr txBox="1"/>
          <p:nvPr/>
        </p:nvSpPr>
        <p:spPr>
          <a:xfrm>
            <a:off x="4572000" y="4800600"/>
            <a:ext cx="3017520" cy="1005840"/>
          </a:xfrm>
          <a:prstGeom prst="rect">
            <a:avLst/>
          </a:prstGeom>
          <a:noFill/>
          <a:ln/>
        </p:spPr>
        <p:txBody>
          <a:bodyPr wrap="square" lIns="0" tIns="0" rIns="0" bIns="0" rtlCol="0" anchor="t"/>
          <a:lstStyle/>
          <a:p>
            <a:pPr indent="0" marL="0">
              <a:buNone/>
            </a:pPr>
            <a:r>
              <a:rPr lang="en-US" sz="1500" dirty="0">
                <a:solidFill>
                  <a:srgbClr val="1A2433"/>
                </a:solidFill>
              </a:rPr>
              <a:t>Forms, printed lists and typed hall tickets are replaced by digital records.</a:t>
            </a:r>
            <a:endParaRPr lang="en-US" sz="1500" dirty="0"/>
          </a:p>
        </p:txBody>
      </p:sp>
      <p:sp>
        <p:nvSpPr>
          <p:cNvPr id="30" name="card"/>
          <p:cNvSpPr/>
          <p:nvPr/>
        </p:nvSpPr>
        <p:spPr>
          <a:xfrm>
            <a:off x="8046720" y="3794760"/>
            <a:ext cx="3566160" cy="2148840"/>
          </a:xfrm>
          <a:prstGeom prst="roundRect">
            <a:avLst>
              <a:gd name="adj" fmla="val 5106"/>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31" name="icon circle"/>
          <p:cNvSpPr/>
          <p:nvPr/>
        </p:nvSpPr>
        <p:spPr>
          <a:xfrm>
            <a:off x="8321040" y="4069080"/>
            <a:ext cx="566928" cy="566928"/>
          </a:xfrm>
          <a:prstGeom prst="ellipse">
            <a:avLst/>
          </a:prstGeom>
          <a:solidFill>
            <a:srgbClr val="E3A83B"/>
          </a:solidFill>
          <a:ln w="12700">
            <a:solidFill>
              <a:srgbClr val="E3A83B"/>
            </a:solidFill>
            <a:prstDash val="solid"/>
          </a:ln>
        </p:spPr>
      </p:sp>
      <p:pic>
        <p:nvPicPr>
          <p:cNvPr id="32" name="Image 5" descr="FaChartBar">    </p:cNvPr>
          <p:cNvPicPr>
            <a:picLocks noChangeAspect="1"/>
          </p:cNvPicPr>
          <p:nvPr/>
        </p:nvPicPr>
        <p:blipFill>
          <a:blip r:embed="rId6"/>
          <a:stretch>
            <a:fillRect/>
          </a:stretch>
        </p:blipFill>
        <p:spPr>
          <a:xfrm>
            <a:off x="8457103" y="4205143"/>
            <a:ext cx="294803" cy="294803"/>
          </a:xfrm>
          <a:prstGeom prst="rect">
            <a:avLst/>
          </a:prstGeom>
        </p:spPr>
      </p:pic>
      <p:sp>
        <p:nvSpPr>
          <p:cNvPr id="33" name="Text 25"/>
          <p:cNvSpPr txBox="1"/>
          <p:nvPr/>
        </p:nvSpPr>
        <p:spPr>
          <a:xfrm>
            <a:off x="9052560" y="4142232"/>
            <a:ext cx="2377440" cy="457200"/>
          </a:xfrm>
          <a:prstGeom prst="rect">
            <a:avLst/>
          </a:prstGeom>
          <a:noFill/>
          <a:ln/>
        </p:spPr>
        <p:txBody>
          <a:bodyPr wrap="square" lIns="0" tIns="0" rIns="0" bIns="0" rtlCol="0" anchor="t"/>
          <a:lstStyle/>
          <a:p>
            <a:pPr indent="0" marL="0">
              <a:buNone/>
            </a:pPr>
            <a:r>
              <a:rPr lang="en-US" sz="1800" b="1" dirty="0">
                <a:solidFill>
                  <a:srgbClr val="0B2545"/>
                </a:solidFill>
              </a:rPr>
              <a:t>Better decisions</a:t>
            </a:r>
            <a:endParaRPr lang="en-US" sz="1800" dirty="0"/>
          </a:p>
        </p:txBody>
      </p:sp>
      <p:sp>
        <p:nvSpPr>
          <p:cNvPr id="34" name="Text 26"/>
          <p:cNvSpPr txBox="1"/>
          <p:nvPr/>
        </p:nvSpPr>
        <p:spPr>
          <a:xfrm>
            <a:off x="8321040" y="4800600"/>
            <a:ext cx="3017520" cy="1005840"/>
          </a:xfrm>
          <a:prstGeom prst="rect">
            <a:avLst/>
          </a:prstGeom>
          <a:noFill/>
          <a:ln/>
        </p:spPr>
        <p:txBody>
          <a:bodyPr wrap="square" lIns="0" tIns="0" rIns="0" bIns="0" rtlCol="0" anchor="t"/>
          <a:lstStyle/>
          <a:p>
            <a:pPr indent="0" marL="0">
              <a:buNone/>
            </a:pPr>
            <a:r>
              <a:rPr lang="en-US" sz="1500" dirty="0">
                <a:solidFill>
                  <a:srgbClr val="1A2433"/>
                </a:solidFill>
              </a:rPr>
              <a:t>Live figures on fees, registrations and clearance for management.</a:t>
            </a:r>
            <a:endParaRPr lang="en-US" sz="15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6400800" cy="137160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1st Review</a:t>
            </a:r>
            <a:endParaRPr lang="en-US" sz="4400" dirty="0"/>
          </a:p>
        </p:txBody>
      </p:sp>
      <p:sp>
        <p:nvSpPr>
          <p:cNvPr id="3" name="Text 0"/>
          <p:cNvSpPr/>
          <p:nvPr>
            <p:ph idx="101" type="body" hasCustomPrompt="1"/>
          </p:nvPr>
        </p:nvSpPr>
        <p:spPr>
          <a:xfrm>
            <a:off x="731520" y="3657600"/>
            <a:ext cx="6400800" cy="2377440"/>
          </a:xfrm>
          <a:prstGeom prst="rect">
            <a:avLst/>
          </a:prstGeom>
          <a:noFill/>
          <a:ln/>
        </p:spPr>
        <p:txBody>
          <a:bodyPr wrap="square" lIns="0" tIns="0" rIns="0" bIns="0" rtlCol="0" anchor="t"/>
          <a:lstStyle/>
          <a:p>
            <a:pPr indent="0" marL="0">
              <a:buNone/>
            </a:pPr>
            <a:r>
              <a:rPr lang="en-US" sz="1800" dirty="0">
                <a:solidFill>
                  <a:srgbClr val="D6E2F1"/>
                </a:solidFill>
              </a:rPr>
              <a:t>18/09/2026  ·  Background, literature review of systems related to the project idea, and why the proposed system is better than existing systems</a:t>
            </a:r>
            <a:endParaRPr lang="en-US" sz="1800" dirty="0"/>
          </a:p>
        </p:txBody>
      </p:sp>
      <p:sp>
        <p:nvSpPr>
          <p:cNvPr id="4" name="icon circle"/>
          <p:cNvSpPr/>
          <p:nvPr/>
        </p:nvSpPr>
        <p:spPr>
          <a:xfrm>
            <a:off x="8503920" y="2011680"/>
            <a:ext cx="2560320" cy="2560320"/>
          </a:xfrm>
          <a:prstGeom prst="ellipse">
            <a:avLst/>
          </a:prstGeom>
          <a:solidFill>
            <a:srgbClr val="163A63"/>
          </a:solidFill>
          <a:ln w="12700">
            <a:solidFill>
              <a:srgbClr val="163A63"/>
            </a:solidFill>
            <a:prstDash val="solid"/>
          </a:ln>
        </p:spPr>
      </p:sp>
      <p:pic>
        <p:nvPicPr>
          <p:cNvPr id="5" name="Image 0" descr="FaBookOpen">    </p:cNvPr>
          <p:cNvPicPr>
            <a:picLocks noChangeAspect="1"/>
          </p:cNvPicPr>
          <p:nvPr/>
        </p:nvPicPr>
        <p:blipFill>
          <a:blip r:embed="rId1"/>
          <a:stretch>
            <a:fillRect/>
          </a:stretch>
        </p:blipFill>
        <p:spPr>
          <a:xfrm>
            <a:off x="9118397" y="2626157"/>
            <a:ext cx="1331366" cy="133136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Background</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1st Review</a:t>
            </a:r>
            <a:endParaRPr lang="en-US" sz="1100" dirty="0"/>
          </a:p>
        </p:txBody>
      </p:sp>
      <p:sp>
        <p:nvSpPr>
          <p:cNvPr id="5" name="Text 3"/>
          <p:cNvSpPr txBox="1"/>
          <p:nvPr/>
        </p:nvSpPr>
        <p:spPr>
          <a:xfrm>
            <a:off x="548640" y="1417320"/>
            <a:ext cx="5760720" cy="4754880"/>
          </a:xfrm>
          <a:prstGeom prst="rect">
            <a:avLst/>
          </a:prstGeom>
          <a:noFill/>
          <a:ln/>
        </p:spPr>
        <p:txBody>
          <a:bodyPr wrap="square" lIns="0" tIns="0" rIns="0" bIns="0" rtlCol="0" anchor="t"/>
          <a:lstStyle/>
          <a:p>
            <a:pPr indent="0" marL="0">
              <a:buNone/>
            </a:pPr>
            <a:r>
              <a:rPr lang="en-US" sz="1500" b="1" dirty="0">
                <a:solidFill>
                  <a:srgbClr val="0B2545"/>
                </a:solidFill>
              </a:rPr>
              <a:t>DMI-St. Eugene University</a:t>
            </a:r>
            <a:endParaRPr lang="en-US" sz="1500" dirty="0"/>
          </a:p>
          <a:p>
            <a:pPr indent="0" marL="0">
              <a:spcAft>
                <a:spcPts val="1400"/>
              </a:spcAft>
              <a:buNone/>
            </a:pPr>
            <a:r>
              <a:rPr lang="en-US" sz="1500" dirty="0">
                <a:solidFill>
                  <a:srgbClr val="1A2433"/>
                </a:solidFill>
              </a:rPr>
              <a:t>A private university in Zambia with its main campus on Great North Road, Lusaka. The Chipata Campus offers Diploma and Bachelor programmes in five schools: Computing &amp; IT, Business &amp; Management, Social Sciences, Education, and Food &amp; Nutrition Sciences.</a:t>
            </a:r>
            <a:endParaRPr lang="en-US" sz="1500" dirty="0"/>
          </a:p>
          <a:p>
            <a:pPr indent="0" marL="0">
              <a:buNone/>
            </a:pPr>
            <a:r>
              <a:rPr lang="en-US" sz="1500" b="1" dirty="0">
                <a:solidFill>
                  <a:srgbClr val="0B2545"/>
                </a:solidFill>
              </a:rPr>
              <a:t>The current process</a:t>
            </a:r>
            <a:endParaRPr lang="en-US" sz="1500" dirty="0"/>
          </a:p>
          <a:p>
            <a:pPr indent="0" marL="0">
              <a:spcAft>
                <a:spcPts val="1400"/>
              </a:spcAft>
              <a:buNone/>
            </a:pPr>
            <a:r>
              <a:rPr lang="en-US" sz="1500" dirty="0">
                <a:solidFill>
                  <a:srgbClr val="1A2433"/>
                </a:solidFill>
              </a:rPr>
              <a:t>Before each mid-semester test a student collects a paper No Due Certificate, then gets it signed office by office. The Controller of Examinations then issues a typed hall ticket. Semester registration follows a similar paper trail.</a:t>
            </a:r>
            <a:endParaRPr lang="en-US" sz="1500" dirty="0"/>
          </a:p>
          <a:p>
            <a:pPr indent="0" marL="0">
              <a:buNone/>
            </a:pPr>
            <a:r>
              <a:rPr lang="en-US" sz="1500" dirty="0">
                <a:solidFill>
                  <a:srgbClr val="1A2433"/>
                </a:solidFill>
              </a:rPr>
              <a:t>Universities across the region, including the University of Zambia, have moved these steps online, as the literature review shows.</a:t>
            </a:r>
            <a:endParaRPr lang="en-US" sz="1500" dirty="0"/>
          </a:p>
        </p:txBody>
      </p:sp>
      <p:sp>
        <p:nvSpPr>
          <p:cNvPr id="6" name="Text 4"/>
          <p:cNvSpPr txBox="1"/>
          <p:nvPr/>
        </p:nvSpPr>
        <p:spPr>
          <a:xfrm>
            <a:off x="6766560" y="1417320"/>
            <a:ext cx="4846320" cy="365760"/>
          </a:xfrm>
          <a:prstGeom prst="rect">
            <a:avLst/>
          </a:prstGeom>
          <a:noFill/>
          <a:ln/>
        </p:spPr>
        <p:txBody>
          <a:bodyPr wrap="square" lIns="0" tIns="0" rIns="0" bIns="0" rtlCol="0" anchor="t"/>
          <a:lstStyle/>
          <a:p>
            <a:pPr indent="0" marL="0">
              <a:buNone/>
            </a:pPr>
            <a:r>
              <a:rPr lang="en-US" sz="1500" b="1" dirty="0">
                <a:solidFill>
                  <a:srgbClr val="5B7A99"/>
                </a:solidFill>
              </a:rPr>
              <a:t>Today: the paper No Due Certificate</a:t>
            </a:r>
            <a:endParaRPr lang="en-US" sz="1500" dirty="0"/>
          </a:p>
        </p:txBody>
      </p:sp>
      <p:sp>
        <p:nvSpPr>
          <p:cNvPr id="7" name="Accounts office — dues in K"/>
          <p:cNvSpPr/>
          <p:nvPr/>
        </p:nvSpPr>
        <p:spPr>
          <a:xfrm>
            <a:off x="6766560" y="1874520"/>
            <a:ext cx="3291840" cy="502920"/>
          </a:xfrm>
          <a:prstGeom prst="roundRect">
            <a:avLst>
              <a:gd name="adj" fmla="val 14545"/>
            </a:avLst>
          </a:prstGeom>
          <a:solidFill>
            <a:srgbClr val="EEF3F9"/>
          </a:solidFill>
          <a:ln w="15875">
            <a:solidFill>
              <a:srgbClr val="004080"/>
            </a:solidFill>
            <a:prstDash val="solid"/>
          </a:ln>
        </p:spPr>
      </p:sp>
      <p:sp>
        <p:nvSpPr>
          <p:cNvPr id="8" name="Text 6"/>
          <p:cNvSpPr txBox="1"/>
          <p:nvPr/>
        </p:nvSpPr>
        <p:spPr>
          <a:xfrm>
            <a:off x="6821424" y="1874520"/>
            <a:ext cx="3182112" cy="502920"/>
          </a:xfrm>
          <a:prstGeom prst="rect">
            <a:avLst/>
          </a:prstGeom>
          <a:noFill/>
          <a:ln/>
        </p:spPr>
        <p:txBody>
          <a:bodyPr wrap="square" lIns="0" tIns="0" rIns="0" bIns="0" rtlCol="0" anchor="ctr"/>
          <a:lstStyle/>
          <a:p>
            <a:pPr algn="ctr" indent="0" marL="0">
              <a:buNone/>
            </a:pPr>
            <a:r>
              <a:rPr lang="en-US" sz="1300" b="1" dirty="0">
                <a:solidFill>
                  <a:srgbClr val="0B2545"/>
                </a:solidFill>
              </a:rPr>
              <a:t>Accounts office — dues in K</a:t>
            </a:r>
            <a:endParaRPr lang="en-US" sz="1300" dirty="0"/>
          </a:p>
        </p:txBody>
      </p:sp>
      <p:sp>
        <p:nvSpPr>
          <p:cNvPr id="9" name="connector"/>
          <p:cNvSpPr/>
          <p:nvPr/>
        </p:nvSpPr>
        <p:spPr>
          <a:xfrm>
            <a:off x="8412480" y="2377440"/>
            <a:ext cx="914" cy="210312"/>
          </a:xfrm>
          <a:prstGeom prst="line">
            <a:avLst/>
          </a:prstGeom>
          <a:noFill/>
          <a:ln w="15875">
            <a:solidFill>
              <a:srgbClr val="5B7A99"/>
            </a:solidFill>
            <a:prstDash val="solid"/>
            <a:tailEnd type="triangle"/>
          </a:ln>
        </p:spPr>
      </p:sp>
      <p:pic>
        <p:nvPicPr>
          <p:cNvPr id="10" name="Image 0" descr="walk">    </p:cNvPr>
          <p:cNvPicPr>
            <a:picLocks noChangeAspect="1"/>
          </p:cNvPicPr>
          <p:nvPr/>
        </p:nvPicPr>
        <p:blipFill>
          <a:blip r:embed="rId1"/>
          <a:stretch>
            <a:fillRect/>
          </a:stretch>
        </p:blipFill>
        <p:spPr>
          <a:xfrm>
            <a:off x="10241280" y="1965960"/>
            <a:ext cx="320040" cy="320040"/>
          </a:xfrm>
          <a:prstGeom prst="rect">
            <a:avLst/>
          </a:prstGeom>
        </p:spPr>
      </p:pic>
      <p:sp>
        <p:nvSpPr>
          <p:cNvPr id="11" name="Class Advisor"/>
          <p:cNvSpPr/>
          <p:nvPr/>
        </p:nvSpPr>
        <p:spPr>
          <a:xfrm>
            <a:off x="6766560" y="2587752"/>
            <a:ext cx="3291840" cy="502920"/>
          </a:xfrm>
          <a:prstGeom prst="roundRect">
            <a:avLst>
              <a:gd name="adj" fmla="val 14545"/>
            </a:avLst>
          </a:prstGeom>
          <a:solidFill>
            <a:srgbClr val="EEF3F9"/>
          </a:solidFill>
          <a:ln w="15875">
            <a:solidFill>
              <a:srgbClr val="004080"/>
            </a:solidFill>
            <a:prstDash val="solid"/>
          </a:ln>
        </p:spPr>
      </p:sp>
      <p:sp>
        <p:nvSpPr>
          <p:cNvPr id="12" name="Text 9"/>
          <p:cNvSpPr txBox="1"/>
          <p:nvPr/>
        </p:nvSpPr>
        <p:spPr>
          <a:xfrm>
            <a:off x="6821424" y="2587752"/>
            <a:ext cx="3182112" cy="502920"/>
          </a:xfrm>
          <a:prstGeom prst="rect">
            <a:avLst/>
          </a:prstGeom>
          <a:noFill/>
          <a:ln/>
        </p:spPr>
        <p:txBody>
          <a:bodyPr wrap="square" lIns="0" tIns="0" rIns="0" bIns="0" rtlCol="0" anchor="ctr"/>
          <a:lstStyle/>
          <a:p>
            <a:pPr algn="ctr" indent="0" marL="0">
              <a:buNone/>
            </a:pPr>
            <a:r>
              <a:rPr lang="en-US" sz="1300" b="1" dirty="0">
                <a:solidFill>
                  <a:srgbClr val="0B2545"/>
                </a:solidFill>
              </a:rPr>
              <a:t>Class Advisor</a:t>
            </a:r>
            <a:endParaRPr lang="en-US" sz="1300" dirty="0"/>
          </a:p>
        </p:txBody>
      </p:sp>
      <p:sp>
        <p:nvSpPr>
          <p:cNvPr id="13" name="connector"/>
          <p:cNvSpPr/>
          <p:nvPr/>
        </p:nvSpPr>
        <p:spPr>
          <a:xfrm>
            <a:off x="8412480" y="3090672"/>
            <a:ext cx="914" cy="210312"/>
          </a:xfrm>
          <a:prstGeom prst="line">
            <a:avLst/>
          </a:prstGeom>
          <a:noFill/>
          <a:ln w="15875">
            <a:solidFill>
              <a:srgbClr val="5B7A99"/>
            </a:solidFill>
            <a:prstDash val="solid"/>
            <a:tailEnd type="triangle"/>
          </a:ln>
        </p:spPr>
      </p:sp>
      <p:pic>
        <p:nvPicPr>
          <p:cNvPr id="14" name="Image 1" descr="walk">    </p:cNvPr>
          <p:cNvPicPr>
            <a:picLocks noChangeAspect="1"/>
          </p:cNvPicPr>
          <p:nvPr/>
        </p:nvPicPr>
        <p:blipFill>
          <a:blip r:embed="rId2"/>
          <a:stretch>
            <a:fillRect/>
          </a:stretch>
        </p:blipFill>
        <p:spPr>
          <a:xfrm>
            <a:off x="10241280" y="2679192"/>
            <a:ext cx="320040" cy="320040"/>
          </a:xfrm>
          <a:prstGeom prst="rect">
            <a:avLst/>
          </a:prstGeom>
        </p:spPr>
      </p:pic>
      <p:sp>
        <p:nvSpPr>
          <p:cNvPr id="15" name="Hostel"/>
          <p:cNvSpPr/>
          <p:nvPr/>
        </p:nvSpPr>
        <p:spPr>
          <a:xfrm>
            <a:off x="6766560" y="3300984"/>
            <a:ext cx="3291840" cy="502920"/>
          </a:xfrm>
          <a:prstGeom prst="roundRect">
            <a:avLst>
              <a:gd name="adj" fmla="val 14545"/>
            </a:avLst>
          </a:prstGeom>
          <a:solidFill>
            <a:srgbClr val="EEF3F9"/>
          </a:solidFill>
          <a:ln w="15875">
            <a:solidFill>
              <a:srgbClr val="004080"/>
            </a:solidFill>
            <a:prstDash val="solid"/>
          </a:ln>
        </p:spPr>
      </p:sp>
      <p:sp>
        <p:nvSpPr>
          <p:cNvPr id="16" name="Text 12"/>
          <p:cNvSpPr txBox="1"/>
          <p:nvPr/>
        </p:nvSpPr>
        <p:spPr>
          <a:xfrm>
            <a:off x="6821424" y="3300984"/>
            <a:ext cx="3182112" cy="502920"/>
          </a:xfrm>
          <a:prstGeom prst="rect">
            <a:avLst/>
          </a:prstGeom>
          <a:noFill/>
          <a:ln/>
        </p:spPr>
        <p:txBody>
          <a:bodyPr wrap="square" lIns="0" tIns="0" rIns="0" bIns="0" rtlCol="0" anchor="ctr"/>
          <a:lstStyle/>
          <a:p>
            <a:pPr algn="ctr" indent="0" marL="0">
              <a:buNone/>
            </a:pPr>
            <a:r>
              <a:rPr lang="en-US" sz="1300" b="1" dirty="0">
                <a:solidFill>
                  <a:srgbClr val="0B2545"/>
                </a:solidFill>
              </a:rPr>
              <a:t>Hostel</a:t>
            </a:r>
            <a:endParaRPr lang="en-US" sz="1300" dirty="0"/>
          </a:p>
        </p:txBody>
      </p:sp>
      <p:sp>
        <p:nvSpPr>
          <p:cNvPr id="17" name="connector"/>
          <p:cNvSpPr/>
          <p:nvPr/>
        </p:nvSpPr>
        <p:spPr>
          <a:xfrm>
            <a:off x="8412480" y="3803904"/>
            <a:ext cx="914" cy="210312"/>
          </a:xfrm>
          <a:prstGeom prst="line">
            <a:avLst/>
          </a:prstGeom>
          <a:noFill/>
          <a:ln w="15875">
            <a:solidFill>
              <a:srgbClr val="5B7A99"/>
            </a:solidFill>
            <a:prstDash val="solid"/>
            <a:tailEnd type="triangle"/>
          </a:ln>
        </p:spPr>
      </p:sp>
      <p:pic>
        <p:nvPicPr>
          <p:cNvPr id="18" name="Image 2" descr="walk">    </p:cNvPr>
          <p:cNvPicPr>
            <a:picLocks noChangeAspect="1"/>
          </p:cNvPicPr>
          <p:nvPr/>
        </p:nvPicPr>
        <p:blipFill>
          <a:blip r:embed="rId3"/>
          <a:stretch>
            <a:fillRect/>
          </a:stretch>
        </p:blipFill>
        <p:spPr>
          <a:xfrm>
            <a:off x="10241280" y="3392424"/>
            <a:ext cx="320040" cy="320040"/>
          </a:xfrm>
          <a:prstGeom prst="rect">
            <a:avLst/>
          </a:prstGeom>
        </p:spPr>
      </p:pic>
      <p:sp>
        <p:nvSpPr>
          <p:cNvPr id="19" name="Head of Department"/>
          <p:cNvSpPr/>
          <p:nvPr/>
        </p:nvSpPr>
        <p:spPr>
          <a:xfrm>
            <a:off x="6766560" y="4014216"/>
            <a:ext cx="3291840" cy="502920"/>
          </a:xfrm>
          <a:prstGeom prst="roundRect">
            <a:avLst>
              <a:gd name="adj" fmla="val 14545"/>
            </a:avLst>
          </a:prstGeom>
          <a:solidFill>
            <a:srgbClr val="FFFFFF"/>
          </a:solidFill>
          <a:ln w="15875">
            <a:solidFill>
              <a:srgbClr val="E3A83B"/>
            </a:solidFill>
            <a:prstDash val="solid"/>
          </a:ln>
        </p:spPr>
      </p:sp>
      <p:sp>
        <p:nvSpPr>
          <p:cNvPr id="20" name="Text 15"/>
          <p:cNvSpPr txBox="1"/>
          <p:nvPr/>
        </p:nvSpPr>
        <p:spPr>
          <a:xfrm>
            <a:off x="6821424" y="4014216"/>
            <a:ext cx="3182112" cy="502920"/>
          </a:xfrm>
          <a:prstGeom prst="rect">
            <a:avLst/>
          </a:prstGeom>
          <a:noFill/>
          <a:ln/>
        </p:spPr>
        <p:txBody>
          <a:bodyPr wrap="square" lIns="0" tIns="0" rIns="0" bIns="0" rtlCol="0" anchor="ctr"/>
          <a:lstStyle/>
          <a:p>
            <a:pPr algn="ctr" indent="0" marL="0">
              <a:buNone/>
            </a:pPr>
            <a:r>
              <a:rPr lang="en-US" sz="1300" b="1" dirty="0">
                <a:solidFill>
                  <a:srgbClr val="0B2545"/>
                </a:solidFill>
              </a:rPr>
              <a:t>Head of Department</a:t>
            </a:r>
            <a:endParaRPr lang="en-US" sz="1300" dirty="0"/>
          </a:p>
        </p:txBody>
      </p:sp>
      <p:sp>
        <p:nvSpPr>
          <p:cNvPr id="21" name="connector"/>
          <p:cNvSpPr/>
          <p:nvPr/>
        </p:nvSpPr>
        <p:spPr>
          <a:xfrm>
            <a:off x="8412480" y="4517136"/>
            <a:ext cx="914" cy="210312"/>
          </a:xfrm>
          <a:prstGeom prst="line">
            <a:avLst/>
          </a:prstGeom>
          <a:noFill/>
          <a:ln w="15875">
            <a:solidFill>
              <a:srgbClr val="5B7A99"/>
            </a:solidFill>
            <a:prstDash val="solid"/>
            <a:tailEnd type="triangle"/>
          </a:ln>
        </p:spPr>
      </p:sp>
      <p:pic>
        <p:nvPicPr>
          <p:cNvPr id="22" name="Image 3" descr="walk">    </p:cNvPr>
          <p:cNvPicPr>
            <a:picLocks noChangeAspect="1"/>
          </p:cNvPicPr>
          <p:nvPr/>
        </p:nvPicPr>
        <p:blipFill>
          <a:blip r:embed="rId4"/>
          <a:stretch>
            <a:fillRect/>
          </a:stretch>
        </p:blipFill>
        <p:spPr>
          <a:xfrm>
            <a:off x="10241280" y="4105656"/>
            <a:ext cx="320040" cy="320040"/>
          </a:xfrm>
          <a:prstGeom prst="rect">
            <a:avLst/>
          </a:prstGeom>
        </p:spPr>
      </p:pic>
      <p:sp>
        <p:nvSpPr>
          <p:cNvPr id="23" name="Dean of Students"/>
          <p:cNvSpPr/>
          <p:nvPr/>
        </p:nvSpPr>
        <p:spPr>
          <a:xfrm>
            <a:off x="6766560" y="4727448"/>
            <a:ext cx="3291840" cy="502920"/>
          </a:xfrm>
          <a:prstGeom prst="roundRect">
            <a:avLst>
              <a:gd name="adj" fmla="val 14545"/>
            </a:avLst>
          </a:prstGeom>
          <a:solidFill>
            <a:srgbClr val="FFFFFF"/>
          </a:solidFill>
          <a:ln w="15875">
            <a:solidFill>
              <a:srgbClr val="E3A83B"/>
            </a:solidFill>
            <a:prstDash val="solid"/>
          </a:ln>
        </p:spPr>
      </p:sp>
      <p:sp>
        <p:nvSpPr>
          <p:cNvPr id="24" name="Text 18"/>
          <p:cNvSpPr txBox="1"/>
          <p:nvPr/>
        </p:nvSpPr>
        <p:spPr>
          <a:xfrm>
            <a:off x="6821424" y="4727448"/>
            <a:ext cx="3182112" cy="502920"/>
          </a:xfrm>
          <a:prstGeom prst="rect">
            <a:avLst/>
          </a:prstGeom>
          <a:noFill/>
          <a:ln/>
        </p:spPr>
        <p:txBody>
          <a:bodyPr wrap="square" lIns="0" tIns="0" rIns="0" bIns="0" rtlCol="0" anchor="ctr"/>
          <a:lstStyle/>
          <a:p>
            <a:pPr algn="ctr" indent="0" marL="0">
              <a:buNone/>
            </a:pPr>
            <a:r>
              <a:rPr lang="en-US" sz="1300" b="1" dirty="0">
                <a:solidFill>
                  <a:srgbClr val="0B2545"/>
                </a:solidFill>
              </a:rPr>
              <a:t>Dean of Students</a:t>
            </a:r>
            <a:endParaRPr lang="en-US" sz="1300" dirty="0"/>
          </a:p>
        </p:txBody>
      </p:sp>
      <p:sp>
        <p:nvSpPr>
          <p:cNvPr id="25" name="connector"/>
          <p:cNvSpPr/>
          <p:nvPr/>
        </p:nvSpPr>
        <p:spPr>
          <a:xfrm>
            <a:off x="8412480" y="5230368"/>
            <a:ext cx="914" cy="210312"/>
          </a:xfrm>
          <a:prstGeom prst="line">
            <a:avLst/>
          </a:prstGeom>
          <a:noFill/>
          <a:ln w="15875">
            <a:solidFill>
              <a:srgbClr val="5B7A99"/>
            </a:solidFill>
            <a:prstDash val="solid"/>
            <a:tailEnd type="triangle"/>
          </a:ln>
        </p:spPr>
      </p:sp>
      <p:pic>
        <p:nvPicPr>
          <p:cNvPr id="26" name="Image 4" descr="walk">    </p:cNvPr>
          <p:cNvPicPr>
            <a:picLocks noChangeAspect="1"/>
          </p:cNvPicPr>
          <p:nvPr/>
        </p:nvPicPr>
        <p:blipFill>
          <a:blip r:embed="rId5"/>
          <a:stretch>
            <a:fillRect/>
          </a:stretch>
        </p:blipFill>
        <p:spPr>
          <a:xfrm>
            <a:off x="10241280" y="4818888"/>
            <a:ext cx="320040" cy="320040"/>
          </a:xfrm>
          <a:prstGeom prst="rect">
            <a:avLst/>
          </a:prstGeom>
        </p:spPr>
      </p:pic>
      <p:sp>
        <p:nvSpPr>
          <p:cNvPr id="27" name="Dean (Academic)"/>
          <p:cNvSpPr/>
          <p:nvPr/>
        </p:nvSpPr>
        <p:spPr>
          <a:xfrm>
            <a:off x="6766560" y="5440680"/>
            <a:ext cx="3291840" cy="502920"/>
          </a:xfrm>
          <a:prstGeom prst="roundRect">
            <a:avLst>
              <a:gd name="adj" fmla="val 14545"/>
            </a:avLst>
          </a:prstGeom>
          <a:solidFill>
            <a:srgbClr val="FFFFFF"/>
          </a:solidFill>
          <a:ln w="15875">
            <a:solidFill>
              <a:srgbClr val="E3A83B"/>
            </a:solidFill>
            <a:prstDash val="solid"/>
          </a:ln>
        </p:spPr>
      </p:sp>
      <p:sp>
        <p:nvSpPr>
          <p:cNvPr id="28" name="Text 21"/>
          <p:cNvSpPr txBox="1"/>
          <p:nvPr/>
        </p:nvSpPr>
        <p:spPr>
          <a:xfrm>
            <a:off x="6821424" y="5440680"/>
            <a:ext cx="3182112" cy="502920"/>
          </a:xfrm>
          <a:prstGeom prst="rect">
            <a:avLst/>
          </a:prstGeom>
          <a:noFill/>
          <a:ln/>
        </p:spPr>
        <p:txBody>
          <a:bodyPr wrap="square" lIns="0" tIns="0" rIns="0" bIns="0" rtlCol="0" anchor="ctr"/>
          <a:lstStyle/>
          <a:p>
            <a:pPr algn="ctr" indent="0" marL="0">
              <a:buNone/>
            </a:pPr>
            <a:r>
              <a:rPr lang="en-US" sz="1300" b="1" dirty="0">
                <a:solidFill>
                  <a:srgbClr val="0B2545"/>
                </a:solidFill>
              </a:rPr>
              <a:t>Dean (Academic)</a:t>
            </a:r>
            <a:endParaRPr lang="en-US" sz="1300" dirty="0"/>
          </a:p>
        </p:txBody>
      </p:sp>
      <p:pic>
        <p:nvPicPr>
          <p:cNvPr id="29" name="Image 5" descr="walk">    </p:cNvPr>
          <p:cNvPicPr>
            <a:picLocks noChangeAspect="1"/>
          </p:cNvPicPr>
          <p:nvPr/>
        </p:nvPicPr>
        <p:blipFill>
          <a:blip r:embed="rId6"/>
          <a:stretch>
            <a:fillRect/>
          </a:stretch>
        </p:blipFill>
        <p:spPr>
          <a:xfrm>
            <a:off x="10241280" y="5532120"/>
            <a:ext cx="320040" cy="320040"/>
          </a:xfrm>
          <a:prstGeom prst="rect">
            <a:avLst/>
          </a:prstGeom>
        </p:spPr>
      </p:pic>
      <p:sp>
        <p:nvSpPr>
          <p:cNvPr id="30" name="Text 22"/>
          <p:cNvSpPr txBox="1"/>
          <p:nvPr/>
        </p:nvSpPr>
        <p:spPr>
          <a:xfrm>
            <a:off x="10652760" y="3566160"/>
            <a:ext cx="1005840" cy="914400"/>
          </a:xfrm>
          <a:prstGeom prst="rect">
            <a:avLst/>
          </a:prstGeom>
          <a:noFill/>
          <a:ln/>
        </p:spPr>
        <p:txBody>
          <a:bodyPr wrap="square" lIns="0" tIns="0" rIns="0" bIns="0" rtlCol="0" anchor="t"/>
          <a:lstStyle/>
          <a:p>
            <a:pPr indent="0" marL="0">
              <a:buNone/>
            </a:pPr>
            <a:r>
              <a:rPr lang="en-US" sz="1100" i="1" dirty="0">
                <a:solidFill>
                  <a:srgbClr val="5B7A99"/>
                </a:solidFill>
              </a:rPr>
              <a:t>one walk and signature per office</a:t>
            </a:r>
            <a:endParaRPr lang="en-US" sz="1100" dirty="0"/>
          </a:p>
        </p:txBody>
      </p:sp>
      <p:sp>
        <p:nvSpPr>
          <p:cNvPr id="31" name="Text 23"/>
          <p:cNvSpPr txBox="1"/>
          <p:nvPr/>
        </p:nvSpPr>
        <p:spPr>
          <a:xfrm>
            <a:off x="6766560" y="6126480"/>
            <a:ext cx="4846320" cy="274320"/>
          </a:xfrm>
          <a:prstGeom prst="rect">
            <a:avLst/>
          </a:prstGeom>
          <a:noFill/>
          <a:ln/>
        </p:spPr>
        <p:txBody>
          <a:bodyPr wrap="square" lIns="0" tIns="0" rIns="0" bIns="0" rtlCol="0" anchor="t"/>
          <a:lstStyle/>
          <a:p>
            <a:pPr indent="0" marL="0">
              <a:buNone/>
            </a:pPr>
            <a:r>
              <a:rPr lang="en-US" sz="1100" i="1" dirty="0">
                <a:solidFill>
                  <a:srgbClr val="5B7A99"/>
                </a:solidFill>
              </a:rPr>
              <a:t>Hall ticket typed and stamped by the Controller of Examinations</a:t>
            </a:r>
            <a:endParaRPr lang="en-US" sz="11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Literature review: related systems</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1st Review</a:t>
            </a:r>
            <a:endParaRPr lang="en-US" sz="1100" dirty="0"/>
          </a:p>
        </p:txBody>
      </p:sp>
      <p:sp>
        <p:nvSpPr>
          <p:cNvPr id="5" name="card"/>
          <p:cNvSpPr/>
          <p:nvPr/>
        </p:nvSpPr>
        <p:spPr>
          <a:xfrm>
            <a:off x="548640" y="1371600"/>
            <a:ext cx="3566160" cy="4846320"/>
          </a:xfrm>
          <a:prstGeom prst="roundRect">
            <a:avLst>
              <a:gd name="adj" fmla="val 3077"/>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1572768"/>
            <a:ext cx="3017520" cy="548640"/>
          </a:xfrm>
          <a:prstGeom prst="rect">
            <a:avLst/>
          </a:prstGeom>
          <a:noFill/>
          <a:ln/>
        </p:spPr>
        <p:txBody>
          <a:bodyPr wrap="square" lIns="0" tIns="0" rIns="0" bIns="0" rtlCol="0" anchor="t"/>
          <a:lstStyle/>
          <a:p>
            <a:pPr indent="0" marL="0">
              <a:buNone/>
            </a:pPr>
            <a:r>
              <a:rPr lang="en-US" sz="1400" b="1" dirty="0">
                <a:solidFill>
                  <a:srgbClr val="004080"/>
                </a:solidFill>
              </a:rPr>
              <a:t>Lubanga, Majawa, Kapondera &amp; Chawinga (2018)</a:t>
            </a:r>
            <a:endParaRPr lang="en-US" sz="1400" dirty="0"/>
          </a:p>
        </p:txBody>
      </p:sp>
      <p:sp>
        <p:nvSpPr>
          <p:cNvPr id="7" name="Text 5"/>
          <p:cNvSpPr txBox="1"/>
          <p:nvPr/>
        </p:nvSpPr>
        <p:spPr>
          <a:xfrm>
            <a:off x="822960" y="2148840"/>
            <a:ext cx="3017520" cy="777240"/>
          </a:xfrm>
          <a:prstGeom prst="rect">
            <a:avLst/>
          </a:prstGeom>
          <a:noFill/>
          <a:ln/>
        </p:spPr>
        <p:txBody>
          <a:bodyPr wrap="square" lIns="0" tIns="0" rIns="0" bIns="0" rtlCol="0" anchor="t"/>
          <a:lstStyle/>
          <a:p>
            <a:pPr indent="0" marL="0">
              <a:buNone/>
            </a:pPr>
            <a:r>
              <a:rPr lang="en-US" sz="1500" b="1" dirty="0">
                <a:solidFill>
                  <a:srgbClr val="0B2545"/>
                </a:solidFill>
                <a:latin typeface="Cambria" pitchFamily="34" charset="0"/>
                <a:ea typeface="Cambria" pitchFamily="34" charset="-122"/>
                <a:cs typeface="Cambria" pitchFamily="34" charset="-120"/>
              </a:rPr>
              <a:t>Web-based student information management system — Mzuzu University, Malawi</a:t>
            </a:r>
            <a:endParaRPr lang="en-US" sz="1500" dirty="0"/>
          </a:p>
        </p:txBody>
      </p:sp>
      <p:sp>
        <p:nvSpPr>
          <p:cNvPr id="8" name="Text 6"/>
          <p:cNvSpPr txBox="1"/>
          <p:nvPr/>
        </p:nvSpPr>
        <p:spPr>
          <a:xfrm>
            <a:off x="822960" y="3017520"/>
            <a:ext cx="3017520" cy="2011680"/>
          </a:xfrm>
          <a:prstGeom prst="rect">
            <a:avLst/>
          </a:prstGeom>
          <a:noFill/>
          <a:ln/>
        </p:spPr>
        <p:txBody>
          <a:bodyPr wrap="square" lIns="0" tIns="0" rIns="0" bIns="0" rtlCol="0" anchor="t"/>
          <a:lstStyle/>
          <a:p>
            <a:pPr indent="0" marL="0">
              <a:buNone/>
            </a:pPr>
            <a:r>
              <a:rPr lang="en-US" sz="1400" dirty="0">
                <a:solidFill>
                  <a:srgbClr val="1A2433"/>
                </a:solidFill>
              </a:rPr>
              <a:t>Online registration and admissions cut the time students spend registering each semester. Problems: server overload at peak times, costly internet data, slow updates.</a:t>
            </a:r>
            <a:endParaRPr lang="en-US" sz="1400" dirty="0"/>
          </a:p>
        </p:txBody>
      </p:sp>
      <p:sp>
        <p:nvSpPr>
          <p:cNvPr id="9" name="lesson"/>
          <p:cNvSpPr/>
          <p:nvPr/>
        </p:nvSpPr>
        <p:spPr>
          <a:xfrm>
            <a:off x="731520" y="5120640"/>
            <a:ext cx="3200400" cy="914400"/>
          </a:xfrm>
          <a:prstGeom prst="roundRect">
            <a:avLst>
              <a:gd name="adj" fmla="val 8000"/>
            </a:avLst>
          </a:prstGeom>
          <a:solidFill>
            <a:srgbClr val="EEF3F9"/>
          </a:solidFill>
          <a:ln w="12700">
            <a:solidFill>
              <a:srgbClr val="EEF3F9"/>
            </a:solidFill>
            <a:prstDash val="solid"/>
          </a:ln>
        </p:spPr>
      </p:sp>
      <p:sp>
        <p:nvSpPr>
          <p:cNvPr id="10" name="Text 8"/>
          <p:cNvSpPr txBox="1"/>
          <p:nvPr/>
        </p:nvSpPr>
        <p:spPr>
          <a:xfrm>
            <a:off x="868680" y="5166360"/>
            <a:ext cx="2926080" cy="822960"/>
          </a:xfrm>
          <a:prstGeom prst="rect">
            <a:avLst/>
          </a:prstGeom>
          <a:noFill/>
          <a:ln/>
        </p:spPr>
        <p:txBody>
          <a:bodyPr wrap="square" lIns="0" tIns="0" rIns="0" bIns="0" rtlCol="0" anchor="ctr"/>
          <a:lstStyle/>
          <a:p>
            <a:pPr indent="0" marL="0">
              <a:buNone/>
            </a:pPr>
            <a:r>
              <a:rPr lang="en-US" sz="1300" b="1" dirty="0">
                <a:solidFill>
                  <a:srgbClr val="004080"/>
                </a:solidFill>
              </a:rPr>
              <a:t>Lesson: </a:t>
            </a:r>
            <a:pPr indent="0" marL="0">
              <a:buNone/>
            </a:pPr>
            <a:r>
              <a:rPr lang="en-US" sz="1300" dirty="0">
                <a:solidFill>
                  <a:srgbClr val="1A2433"/>
                </a:solidFill>
              </a:rPr>
              <a:t>Design for peak load and low data use; keep pages light.</a:t>
            </a:r>
            <a:endParaRPr lang="en-US" sz="1300" dirty="0"/>
          </a:p>
        </p:txBody>
      </p:sp>
      <p:sp>
        <p:nvSpPr>
          <p:cNvPr id="11" name="card"/>
          <p:cNvSpPr/>
          <p:nvPr/>
        </p:nvSpPr>
        <p:spPr>
          <a:xfrm>
            <a:off x="4297680" y="1371600"/>
            <a:ext cx="3566160" cy="4846320"/>
          </a:xfrm>
          <a:prstGeom prst="roundRect">
            <a:avLst>
              <a:gd name="adj" fmla="val 3077"/>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4572000" y="1572768"/>
            <a:ext cx="3017520" cy="548640"/>
          </a:xfrm>
          <a:prstGeom prst="rect">
            <a:avLst/>
          </a:prstGeom>
          <a:noFill/>
          <a:ln/>
        </p:spPr>
        <p:txBody>
          <a:bodyPr wrap="square" lIns="0" tIns="0" rIns="0" bIns="0" rtlCol="0" anchor="t"/>
          <a:lstStyle/>
          <a:p>
            <a:pPr indent="0" marL="0">
              <a:buNone/>
            </a:pPr>
            <a:r>
              <a:rPr lang="en-US" sz="1400" b="1" dirty="0">
                <a:solidFill>
                  <a:srgbClr val="004080"/>
                </a:solidFill>
              </a:rPr>
              <a:t>Kaggwa (2010)</a:t>
            </a:r>
            <a:endParaRPr lang="en-US" sz="1400" dirty="0"/>
          </a:p>
        </p:txBody>
      </p:sp>
      <p:sp>
        <p:nvSpPr>
          <p:cNvPr id="13" name="Text 11"/>
          <p:cNvSpPr txBox="1"/>
          <p:nvPr/>
        </p:nvSpPr>
        <p:spPr>
          <a:xfrm>
            <a:off x="4572000" y="2148840"/>
            <a:ext cx="3017520" cy="777240"/>
          </a:xfrm>
          <a:prstGeom prst="rect">
            <a:avLst/>
          </a:prstGeom>
          <a:noFill/>
          <a:ln/>
        </p:spPr>
        <p:txBody>
          <a:bodyPr wrap="square" lIns="0" tIns="0" rIns="0" bIns="0" rtlCol="0" anchor="t"/>
          <a:lstStyle/>
          <a:p>
            <a:pPr indent="0" marL="0">
              <a:buNone/>
            </a:pPr>
            <a:r>
              <a:rPr lang="en-US" sz="1500" b="1" dirty="0">
                <a:solidFill>
                  <a:srgbClr val="0B2545"/>
                </a:solidFill>
                <a:latin typeface="Cambria" pitchFamily="34" charset="0"/>
                <a:ea typeface="Cambria" pitchFamily="34" charset="-122"/>
                <a:cs typeface="Cambria" pitchFamily="34" charset="-120"/>
              </a:rPr>
              <a:t>Web-based students’ academic management system — Kampala International University, Uganda</a:t>
            </a:r>
            <a:endParaRPr lang="en-US" sz="1500" dirty="0"/>
          </a:p>
        </p:txBody>
      </p:sp>
      <p:sp>
        <p:nvSpPr>
          <p:cNvPr id="14" name="Text 12"/>
          <p:cNvSpPr txBox="1"/>
          <p:nvPr/>
        </p:nvSpPr>
        <p:spPr>
          <a:xfrm>
            <a:off x="4572000" y="3017520"/>
            <a:ext cx="3017520" cy="2011680"/>
          </a:xfrm>
          <a:prstGeom prst="rect">
            <a:avLst/>
          </a:prstGeom>
          <a:noFill/>
          <a:ln/>
        </p:spPr>
        <p:txBody>
          <a:bodyPr wrap="square" lIns="0" tIns="0" rIns="0" bIns="0" rtlCol="0" anchor="t"/>
          <a:lstStyle/>
          <a:p>
            <a:pPr indent="0" marL="0">
              <a:buNone/>
            </a:pPr>
            <a:r>
              <a:rPr lang="en-US" sz="1400" dirty="0">
                <a:solidFill>
                  <a:srgbClr val="1A2433"/>
                </a:solidFill>
              </a:rPr>
              <a:t>Replaced paper files that caused redundant, ambiguous data. Centralised notices, study materials, results and timetables; 60% of surveyed students supported it.</a:t>
            </a:r>
            <a:endParaRPr lang="en-US" sz="1400" dirty="0"/>
          </a:p>
        </p:txBody>
      </p:sp>
      <p:sp>
        <p:nvSpPr>
          <p:cNvPr id="15" name="lesson"/>
          <p:cNvSpPr/>
          <p:nvPr/>
        </p:nvSpPr>
        <p:spPr>
          <a:xfrm>
            <a:off x="4480560" y="5120640"/>
            <a:ext cx="3200400" cy="914400"/>
          </a:xfrm>
          <a:prstGeom prst="roundRect">
            <a:avLst>
              <a:gd name="adj" fmla="val 8000"/>
            </a:avLst>
          </a:prstGeom>
          <a:solidFill>
            <a:srgbClr val="EEF3F9"/>
          </a:solidFill>
          <a:ln w="12700">
            <a:solidFill>
              <a:srgbClr val="EEF3F9"/>
            </a:solidFill>
            <a:prstDash val="solid"/>
          </a:ln>
        </p:spPr>
      </p:sp>
      <p:sp>
        <p:nvSpPr>
          <p:cNvPr id="16" name="Text 14"/>
          <p:cNvSpPr txBox="1"/>
          <p:nvPr/>
        </p:nvSpPr>
        <p:spPr>
          <a:xfrm>
            <a:off x="4617720" y="5166360"/>
            <a:ext cx="2926080" cy="822960"/>
          </a:xfrm>
          <a:prstGeom prst="rect">
            <a:avLst/>
          </a:prstGeom>
          <a:noFill/>
          <a:ln/>
        </p:spPr>
        <p:txBody>
          <a:bodyPr wrap="square" lIns="0" tIns="0" rIns="0" bIns="0" rtlCol="0" anchor="ctr"/>
          <a:lstStyle/>
          <a:p>
            <a:pPr indent="0" marL="0">
              <a:buNone/>
            </a:pPr>
            <a:r>
              <a:rPr lang="en-US" sz="1300" b="1" dirty="0">
                <a:solidFill>
                  <a:srgbClr val="004080"/>
                </a:solidFill>
              </a:rPr>
              <a:t>Lesson: </a:t>
            </a:r>
            <a:pPr indent="0" marL="0">
              <a:buNone/>
            </a:pPr>
            <a:r>
              <a:rPr lang="en-US" sz="1300" dirty="0">
                <a:solidFill>
                  <a:srgbClr val="1A2433"/>
                </a:solidFill>
              </a:rPr>
              <a:t>Centralise notes, assignments and results in one portal.</a:t>
            </a:r>
            <a:endParaRPr lang="en-US" sz="1300" dirty="0"/>
          </a:p>
        </p:txBody>
      </p:sp>
      <p:sp>
        <p:nvSpPr>
          <p:cNvPr id="17" name="card"/>
          <p:cNvSpPr/>
          <p:nvPr/>
        </p:nvSpPr>
        <p:spPr>
          <a:xfrm>
            <a:off x="8046720" y="1371600"/>
            <a:ext cx="3566160" cy="4846320"/>
          </a:xfrm>
          <a:prstGeom prst="roundRect">
            <a:avLst>
              <a:gd name="adj" fmla="val 3077"/>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18" name="Text 16"/>
          <p:cNvSpPr txBox="1"/>
          <p:nvPr/>
        </p:nvSpPr>
        <p:spPr>
          <a:xfrm>
            <a:off x="8321040" y="1572768"/>
            <a:ext cx="3017520" cy="548640"/>
          </a:xfrm>
          <a:prstGeom prst="rect">
            <a:avLst/>
          </a:prstGeom>
          <a:noFill/>
          <a:ln/>
        </p:spPr>
        <p:txBody>
          <a:bodyPr wrap="square" lIns="0" tIns="0" rIns="0" bIns="0" rtlCol="0" anchor="t"/>
          <a:lstStyle/>
          <a:p>
            <a:pPr indent="0" marL="0">
              <a:buNone/>
            </a:pPr>
            <a:r>
              <a:rPr lang="en-US" sz="1400" b="1" dirty="0">
                <a:solidFill>
                  <a:srgbClr val="004080"/>
                </a:solidFill>
              </a:rPr>
              <a:t>University of Zambia (n.d.)</a:t>
            </a:r>
            <a:endParaRPr lang="en-US" sz="1400" dirty="0"/>
          </a:p>
        </p:txBody>
      </p:sp>
      <p:sp>
        <p:nvSpPr>
          <p:cNvPr id="19" name="Text 17"/>
          <p:cNvSpPr txBox="1"/>
          <p:nvPr/>
        </p:nvSpPr>
        <p:spPr>
          <a:xfrm>
            <a:off x="8321040" y="2148840"/>
            <a:ext cx="3017520" cy="777240"/>
          </a:xfrm>
          <a:prstGeom prst="rect">
            <a:avLst/>
          </a:prstGeom>
          <a:noFill/>
          <a:ln/>
        </p:spPr>
        <p:txBody>
          <a:bodyPr wrap="square" lIns="0" tIns="0" rIns="0" bIns="0" rtlCol="0" anchor="t"/>
          <a:lstStyle/>
          <a:p>
            <a:pPr indent="0" marL="0">
              <a:buNone/>
            </a:pPr>
            <a:r>
              <a:rPr lang="en-US" sz="1500" b="1" dirty="0">
                <a:solidFill>
                  <a:srgbClr val="0B2545"/>
                </a:solidFill>
                <a:latin typeface="Cambria" pitchFamily="34" charset="0"/>
                <a:ea typeface="Cambria" pitchFamily="34" charset="-122"/>
                <a:cs typeface="Cambria" pitchFamily="34" charset="-120"/>
              </a:rPr>
              <a:t>Student Information System (SIS) — online course registration</a:t>
            </a:r>
            <a:endParaRPr lang="en-US" sz="1500" dirty="0"/>
          </a:p>
        </p:txBody>
      </p:sp>
      <p:sp>
        <p:nvSpPr>
          <p:cNvPr id="20" name="Text 18"/>
          <p:cNvSpPr txBox="1"/>
          <p:nvPr/>
        </p:nvSpPr>
        <p:spPr>
          <a:xfrm>
            <a:off x="8321040" y="3017520"/>
            <a:ext cx="3017520" cy="2011680"/>
          </a:xfrm>
          <a:prstGeom prst="rect">
            <a:avLst/>
          </a:prstGeom>
          <a:noFill/>
          <a:ln/>
        </p:spPr>
        <p:txBody>
          <a:bodyPr wrap="square" lIns="0" tIns="0" rIns="0" bIns="0" rtlCol="0" anchor="t"/>
          <a:lstStyle/>
          <a:p>
            <a:pPr indent="0" marL="0">
              <a:buNone/>
            </a:pPr>
            <a:r>
              <a:rPr lang="en-US" sz="1400" dirty="0">
                <a:solidFill>
                  <a:srgbClr val="1A2433"/>
                </a:solidFill>
              </a:rPr>
              <a:t>Student submits courses, HOD or Assistant Dean approves, then fees are paid. Status becomes "Registered" once a minimum share of fees (37.5% of tuition) is paid.</a:t>
            </a:r>
            <a:endParaRPr lang="en-US" sz="1400" dirty="0"/>
          </a:p>
        </p:txBody>
      </p:sp>
      <p:sp>
        <p:nvSpPr>
          <p:cNvPr id="21" name="lesson"/>
          <p:cNvSpPr/>
          <p:nvPr/>
        </p:nvSpPr>
        <p:spPr>
          <a:xfrm>
            <a:off x="8229600" y="5120640"/>
            <a:ext cx="3200400" cy="914400"/>
          </a:xfrm>
          <a:prstGeom prst="roundRect">
            <a:avLst>
              <a:gd name="adj" fmla="val 8000"/>
            </a:avLst>
          </a:prstGeom>
          <a:solidFill>
            <a:srgbClr val="EEF3F9"/>
          </a:solidFill>
          <a:ln w="12700">
            <a:solidFill>
              <a:srgbClr val="EEF3F9"/>
            </a:solidFill>
            <a:prstDash val="solid"/>
          </a:ln>
        </p:spPr>
      </p:sp>
      <p:sp>
        <p:nvSpPr>
          <p:cNvPr id="22" name="Text 20"/>
          <p:cNvSpPr txBox="1"/>
          <p:nvPr/>
        </p:nvSpPr>
        <p:spPr>
          <a:xfrm>
            <a:off x="8366760" y="5166360"/>
            <a:ext cx="2926080" cy="822960"/>
          </a:xfrm>
          <a:prstGeom prst="rect">
            <a:avLst/>
          </a:prstGeom>
          <a:noFill/>
          <a:ln/>
        </p:spPr>
        <p:txBody>
          <a:bodyPr wrap="square" lIns="0" tIns="0" rIns="0" bIns="0" rtlCol="0" anchor="ctr"/>
          <a:lstStyle/>
          <a:p>
            <a:pPr indent="0" marL="0">
              <a:buNone/>
            </a:pPr>
            <a:r>
              <a:rPr lang="en-US" sz="1300" b="1" dirty="0">
                <a:solidFill>
                  <a:srgbClr val="004080"/>
                </a:solidFill>
              </a:rPr>
              <a:t>Lesson: </a:t>
            </a:r>
            <a:pPr indent="0" marL="0">
              <a:buNone/>
            </a:pPr>
            <a:r>
              <a:rPr lang="en-US" sz="1300" dirty="0">
                <a:solidFill>
                  <a:srgbClr val="1A2433"/>
                </a:solidFill>
              </a:rPr>
              <a:t>Approval chain plus a minimum-fee rule; our portal uses 40% for registration.</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Literature review: theory &amp; enterprise systems</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1st Review</a:t>
            </a:r>
            <a:endParaRPr lang="en-US" sz="1100" dirty="0"/>
          </a:p>
        </p:txBody>
      </p:sp>
      <p:sp>
        <p:nvSpPr>
          <p:cNvPr id="5" name="card"/>
          <p:cNvSpPr/>
          <p:nvPr/>
        </p:nvSpPr>
        <p:spPr>
          <a:xfrm>
            <a:off x="548640" y="1371600"/>
            <a:ext cx="7406640" cy="1325880"/>
          </a:xfrm>
          <a:prstGeom prst="roundRect">
            <a:avLst>
              <a:gd name="adj" fmla="val 8276"/>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6" name="icon circle"/>
          <p:cNvSpPr/>
          <p:nvPr/>
        </p:nvSpPr>
        <p:spPr>
          <a:xfrm>
            <a:off x="777240" y="1691640"/>
            <a:ext cx="685800" cy="685800"/>
          </a:xfrm>
          <a:prstGeom prst="ellipse">
            <a:avLst/>
          </a:prstGeom>
          <a:solidFill>
            <a:srgbClr val="004080"/>
          </a:solidFill>
          <a:ln w="12700">
            <a:solidFill>
              <a:srgbClr val="004080"/>
            </a:solidFill>
            <a:prstDash val="solid"/>
          </a:ln>
        </p:spPr>
      </p:sp>
      <p:pic>
        <p:nvPicPr>
          <p:cNvPr id="7" name="Image 0" descr="FaUserCheck">    </p:cNvPr>
          <p:cNvPicPr>
            <a:picLocks noChangeAspect="1"/>
          </p:cNvPicPr>
          <p:nvPr/>
        </p:nvPicPr>
        <p:blipFill>
          <a:blip r:embed="rId1"/>
          <a:stretch>
            <a:fillRect/>
          </a:stretch>
        </p:blipFill>
        <p:spPr>
          <a:xfrm>
            <a:off x="941832" y="1856232"/>
            <a:ext cx="356616" cy="356616"/>
          </a:xfrm>
          <a:prstGeom prst="rect">
            <a:avLst/>
          </a:prstGeom>
        </p:spPr>
      </p:pic>
      <p:sp>
        <p:nvSpPr>
          <p:cNvPr id="8" name="Text 5"/>
          <p:cNvSpPr txBox="1"/>
          <p:nvPr/>
        </p:nvSpPr>
        <p:spPr>
          <a:xfrm>
            <a:off x="1691640" y="1508760"/>
            <a:ext cx="6126480" cy="365760"/>
          </a:xfrm>
          <a:prstGeom prst="rect">
            <a:avLst/>
          </a:prstGeom>
          <a:noFill/>
          <a:ln/>
        </p:spPr>
        <p:txBody>
          <a:bodyPr wrap="square" lIns="0" tIns="0" rIns="0" bIns="0" rtlCol="0" anchor="t"/>
          <a:lstStyle/>
          <a:p>
            <a:pPr indent="0" marL="0">
              <a:buNone/>
            </a:pPr>
            <a:r>
              <a:rPr lang="en-US" sz="1600" b="1" dirty="0">
                <a:solidFill>
                  <a:srgbClr val="0B2545"/>
                </a:solidFill>
              </a:rPr>
              <a:t>Technology Acceptance Model</a:t>
            </a:r>
            <a:pPr indent="0" marL="0">
              <a:buNone/>
            </a:pPr>
            <a:r>
              <a:rPr lang="en-US" sz="1300" dirty="0">
                <a:solidFill>
                  <a:srgbClr val="5B7A99"/>
                </a:solidFill>
              </a:rPr>
              <a:t>   Davis (1989)</a:t>
            </a:r>
            <a:endParaRPr lang="en-US" sz="1600" dirty="0"/>
          </a:p>
        </p:txBody>
      </p:sp>
      <p:sp>
        <p:nvSpPr>
          <p:cNvPr id="9" name="Text 6"/>
          <p:cNvSpPr txBox="1"/>
          <p:nvPr/>
        </p:nvSpPr>
        <p:spPr>
          <a:xfrm>
            <a:off x="1691640" y="1874520"/>
            <a:ext cx="3108960" cy="777240"/>
          </a:xfrm>
          <a:prstGeom prst="rect">
            <a:avLst/>
          </a:prstGeom>
          <a:noFill/>
          <a:ln/>
        </p:spPr>
        <p:txBody>
          <a:bodyPr wrap="square" lIns="0" tIns="0" rIns="0" bIns="0" rtlCol="0" anchor="t"/>
          <a:lstStyle/>
          <a:p>
            <a:pPr indent="0" marL="0">
              <a:buNone/>
            </a:pPr>
            <a:r>
              <a:rPr lang="en-US" sz="1300" dirty="0">
                <a:solidFill>
                  <a:srgbClr val="1A2433"/>
                </a:solidFill>
              </a:rPr>
              <a:t>Users adopt a system when they find it useful and easy to use.</a:t>
            </a:r>
            <a:endParaRPr lang="en-US" sz="1300" dirty="0"/>
          </a:p>
        </p:txBody>
      </p:sp>
      <p:sp>
        <p:nvSpPr>
          <p:cNvPr id="10" name="Text 7"/>
          <p:cNvSpPr txBox="1"/>
          <p:nvPr/>
        </p:nvSpPr>
        <p:spPr>
          <a:xfrm>
            <a:off x="4937760" y="1874520"/>
            <a:ext cx="2880360" cy="777240"/>
          </a:xfrm>
          <a:prstGeom prst="rect">
            <a:avLst/>
          </a:prstGeom>
          <a:noFill/>
          <a:ln/>
        </p:spPr>
        <p:txBody>
          <a:bodyPr wrap="square" lIns="0" tIns="0" rIns="0" bIns="0" rtlCol="0" anchor="t"/>
          <a:lstStyle/>
          <a:p>
            <a:pPr indent="0" marL="0">
              <a:buNone/>
            </a:pPr>
            <a:r>
              <a:rPr lang="en-US" sz="1300" b="1" dirty="0">
                <a:solidFill>
                  <a:srgbClr val="004080"/>
                </a:solidFill>
              </a:rPr>
              <a:t>Applied: </a:t>
            </a:r>
            <a:pPr indent="0" marL="0">
              <a:buNone/>
            </a:pPr>
            <a:r>
              <a:rPr lang="en-US" sz="1300" dirty="0">
                <a:solidFill>
                  <a:srgbClr val="1A2433"/>
                </a:solidFill>
              </a:rPr>
              <a:t>Clear tabs per role, plain-language status messages, one-click printing.</a:t>
            </a:r>
            <a:endParaRPr lang="en-US" sz="1300" dirty="0"/>
          </a:p>
        </p:txBody>
      </p:sp>
      <p:sp>
        <p:nvSpPr>
          <p:cNvPr id="11" name="card"/>
          <p:cNvSpPr/>
          <p:nvPr/>
        </p:nvSpPr>
        <p:spPr>
          <a:xfrm>
            <a:off x="548640" y="2852928"/>
            <a:ext cx="7406640" cy="1325880"/>
          </a:xfrm>
          <a:prstGeom prst="roundRect">
            <a:avLst>
              <a:gd name="adj" fmla="val 8276"/>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12" name="icon circle"/>
          <p:cNvSpPr/>
          <p:nvPr/>
        </p:nvSpPr>
        <p:spPr>
          <a:xfrm>
            <a:off x="777240" y="3172968"/>
            <a:ext cx="685800" cy="685800"/>
          </a:xfrm>
          <a:prstGeom prst="ellipse">
            <a:avLst/>
          </a:prstGeom>
          <a:solidFill>
            <a:srgbClr val="E3A83B"/>
          </a:solidFill>
          <a:ln w="12700">
            <a:solidFill>
              <a:srgbClr val="E3A83B"/>
            </a:solidFill>
            <a:prstDash val="solid"/>
          </a:ln>
        </p:spPr>
      </p:sp>
      <p:pic>
        <p:nvPicPr>
          <p:cNvPr id="13" name="Image 1" descr="FaLayerGroup">    </p:cNvPr>
          <p:cNvPicPr>
            <a:picLocks noChangeAspect="1"/>
          </p:cNvPicPr>
          <p:nvPr/>
        </p:nvPicPr>
        <p:blipFill>
          <a:blip r:embed="rId2"/>
          <a:stretch>
            <a:fillRect/>
          </a:stretch>
        </p:blipFill>
        <p:spPr>
          <a:xfrm>
            <a:off x="941832" y="3337560"/>
            <a:ext cx="356616" cy="356616"/>
          </a:xfrm>
          <a:prstGeom prst="rect">
            <a:avLst/>
          </a:prstGeom>
        </p:spPr>
      </p:pic>
      <p:sp>
        <p:nvSpPr>
          <p:cNvPr id="14" name="Text 10"/>
          <p:cNvSpPr txBox="1"/>
          <p:nvPr/>
        </p:nvSpPr>
        <p:spPr>
          <a:xfrm>
            <a:off x="1691640" y="2990088"/>
            <a:ext cx="6126480" cy="365760"/>
          </a:xfrm>
          <a:prstGeom prst="rect">
            <a:avLst/>
          </a:prstGeom>
          <a:noFill/>
          <a:ln/>
        </p:spPr>
        <p:txBody>
          <a:bodyPr wrap="square" lIns="0" tIns="0" rIns="0" bIns="0" rtlCol="0" anchor="t"/>
          <a:lstStyle/>
          <a:p>
            <a:pPr indent="0" marL="0">
              <a:buNone/>
            </a:pPr>
            <a:r>
              <a:rPr lang="en-US" sz="1600" b="1" dirty="0">
                <a:solidFill>
                  <a:srgbClr val="0B2545"/>
                </a:solidFill>
              </a:rPr>
              <a:t>IS Success Model</a:t>
            </a:r>
            <a:pPr indent="0" marL="0">
              <a:buNone/>
            </a:pPr>
            <a:r>
              <a:rPr lang="en-US" sz="1300" dirty="0">
                <a:solidFill>
                  <a:srgbClr val="5B7A99"/>
                </a:solidFill>
              </a:rPr>
              <a:t>   DeLone &amp; McLean (2003)</a:t>
            </a:r>
            <a:endParaRPr lang="en-US" sz="1600" dirty="0"/>
          </a:p>
        </p:txBody>
      </p:sp>
      <p:sp>
        <p:nvSpPr>
          <p:cNvPr id="15" name="Text 11"/>
          <p:cNvSpPr txBox="1"/>
          <p:nvPr/>
        </p:nvSpPr>
        <p:spPr>
          <a:xfrm>
            <a:off x="1691640" y="3355848"/>
            <a:ext cx="3108960" cy="777240"/>
          </a:xfrm>
          <a:prstGeom prst="rect">
            <a:avLst/>
          </a:prstGeom>
          <a:noFill/>
          <a:ln/>
        </p:spPr>
        <p:txBody>
          <a:bodyPr wrap="square" lIns="0" tIns="0" rIns="0" bIns="0" rtlCol="0" anchor="t"/>
          <a:lstStyle/>
          <a:p>
            <a:pPr indent="0" marL="0">
              <a:buNone/>
            </a:pPr>
            <a:r>
              <a:rPr lang="en-US" sz="1300" dirty="0">
                <a:solidFill>
                  <a:srgbClr val="1A2433"/>
                </a:solidFill>
              </a:rPr>
              <a:t>System, information and service quality drive use, user satisfaction and net benefits.</a:t>
            </a:r>
            <a:endParaRPr lang="en-US" sz="1300" dirty="0"/>
          </a:p>
        </p:txBody>
      </p:sp>
      <p:sp>
        <p:nvSpPr>
          <p:cNvPr id="16" name="Text 12"/>
          <p:cNvSpPr txBox="1"/>
          <p:nvPr/>
        </p:nvSpPr>
        <p:spPr>
          <a:xfrm>
            <a:off x="4937760" y="3355848"/>
            <a:ext cx="2880360" cy="777240"/>
          </a:xfrm>
          <a:prstGeom prst="rect">
            <a:avLst/>
          </a:prstGeom>
          <a:noFill/>
          <a:ln/>
        </p:spPr>
        <p:txBody>
          <a:bodyPr wrap="square" lIns="0" tIns="0" rIns="0" bIns="0" rtlCol="0" anchor="t"/>
          <a:lstStyle/>
          <a:p>
            <a:pPr indent="0" marL="0">
              <a:buNone/>
            </a:pPr>
            <a:r>
              <a:rPr lang="en-US" sz="1300" b="1" dirty="0">
                <a:solidFill>
                  <a:srgbClr val="004080"/>
                </a:solidFill>
              </a:rPr>
              <a:t>Applied: </a:t>
            </a:r>
            <a:pPr indent="0" marL="0">
              <a:buNone/>
            </a:pPr>
            <a:r>
              <a:rPr lang="en-US" sz="1300" dirty="0">
                <a:solidFill>
                  <a:srgbClr val="1A2433"/>
                </a:solidFill>
              </a:rPr>
              <a:t>Accurate automatic calculations, live data and a clear audit of who signed what.</a:t>
            </a:r>
            <a:endParaRPr lang="en-US" sz="1300" dirty="0"/>
          </a:p>
        </p:txBody>
      </p:sp>
      <p:sp>
        <p:nvSpPr>
          <p:cNvPr id="17" name="card"/>
          <p:cNvSpPr/>
          <p:nvPr/>
        </p:nvSpPr>
        <p:spPr>
          <a:xfrm>
            <a:off x="548640" y="4334256"/>
            <a:ext cx="7406640" cy="1325880"/>
          </a:xfrm>
          <a:prstGeom prst="roundRect">
            <a:avLst>
              <a:gd name="adj" fmla="val 8276"/>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18" name="icon circle"/>
          <p:cNvSpPr/>
          <p:nvPr/>
        </p:nvSpPr>
        <p:spPr>
          <a:xfrm>
            <a:off x="777240" y="4654296"/>
            <a:ext cx="685800" cy="685800"/>
          </a:xfrm>
          <a:prstGeom prst="ellipse">
            <a:avLst/>
          </a:prstGeom>
          <a:solidFill>
            <a:srgbClr val="004080"/>
          </a:solidFill>
          <a:ln w="12700">
            <a:solidFill>
              <a:srgbClr val="004080"/>
            </a:solidFill>
            <a:prstDash val="solid"/>
          </a:ln>
        </p:spPr>
      </p:sp>
      <p:pic>
        <p:nvPicPr>
          <p:cNvPr id="19" name="Image 2" descr="FaBuilding">    </p:cNvPr>
          <p:cNvPicPr>
            <a:picLocks noChangeAspect="1"/>
          </p:cNvPicPr>
          <p:nvPr/>
        </p:nvPicPr>
        <p:blipFill>
          <a:blip r:embed="rId3"/>
          <a:stretch>
            <a:fillRect/>
          </a:stretch>
        </p:blipFill>
        <p:spPr>
          <a:xfrm>
            <a:off x="941832" y="4818888"/>
            <a:ext cx="356616" cy="356616"/>
          </a:xfrm>
          <a:prstGeom prst="rect">
            <a:avLst/>
          </a:prstGeom>
        </p:spPr>
      </p:pic>
      <p:sp>
        <p:nvSpPr>
          <p:cNvPr id="20" name="Text 15"/>
          <p:cNvSpPr txBox="1"/>
          <p:nvPr/>
        </p:nvSpPr>
        <p:spPr>
          <a:xfrm>
            <a:off x="1691640" y="4471416"/>
            <a:ext cx="6126480" cy="365760"/>
          </a:xfrm>
          <a:prstGeom prst="rect">
            <a:avLst/>
          </a:prstGeom>
          <a:noFill/>
          <a:ln/>
        </p:spPr>
        <p:txBody>
          <a:bodyPr wrap="square" lIns="0" tIns="0" rIns="0" bIns="0" rtlCol="0" anchor="t"/>
          <a:lstStyle/>
          <a:p>
            <a:pPr indent="0" marL="0">
              <a:buNone/>
            </a:pPr>
            <a:r>
              <a:rPr lang="en-US" sz="1600" b="1" dirty="0">
                <a:solidFill>
                  <a:srgbClr val="0B2545"/>
                </a:solidFill>
              </a:rPr>
              <a:t>ERP in higher education</a:t>
            </a:r>
            <a:pPr indent="0" marL="0">
              <a:buNone/>
            </a:pPr>
            <a:r>
              <a:rPr lang="en-US" sz="1300" dirty="0">
                <a:solidFill>
                  <a:srgbClr val="5B7A99"/>
                </a:solidFill>
              </a:rPr>
              <a:t>   Rabaa’i (2009)</a:t>
            </a:r>
            <a:endParaRPr lang="en-US" sz="1600" dirty="0"/>
          </a:p>
        </p:txBody>
      </p:sp>
      <p:sp>
        <p:nvSpPr>
          <p:cNvPr id="21" name="Text 16"/>
          <p:cNvSpPr txBox="1"/>
          <p:nvPr/>
        </p:nvSpPr>
        <p:spPr>
          <a:xfrm>
            <a:off x="1691640" y="4837176"/>
            <a:ext cx="3108960" cy="777240"/>
          </a:xfrm>
          <a:prstGeom prst="rect">
            <a:avLst/>
          </a:prstGeom>
          <a:noFill/>
          <a:ln/>
        </p:spPr>
        <p:txBody>
          <a:bodyPr wrap="square" lIns="0" tIns="0" rIns="0" bIns="0" rtlCol="0" anchor="t"/>
          <a:lstStyle/>
          <a:p>
            <a:pPr indent="0" marL="0">
              <a:buNone/>
            </a:pPr>
            <a:r>
              <a:rPr lang="en-US" sz="1300" dirty="0">
                <a:solidFill>
                  <a:srgbClr val="1A2433"/>
                </a:solidFill>
              </a:rPr>
              <a:t>University-wide ERP adoption is growing, but many implementations fail; critical success factors must be managed.</a:t>
            </a:r>
            <a:endParaRPr lang="en-US" sz="1300" dirty="0"/>
          </a:p>
        </p:txBody>
      </p:sp>
      <p:sp>
        <p:nvSpPr>
          <p:cNvPr id="22" name="Text 17"/>
          <p:cNvSpPr txBox="1"/>
          <p:nvPr/>
        </p:nvSpPr>
        <p:spPr>
          <a:xfrm>
            <a:off x="4937760" y="4837176"/>
            <a:ext cx="2880360" cy="777240"/>
          </a:xfrm>
          <a:prstGeom prst="rect">
            <a:avLst/>
          </a:prstGeom>
          <a:noFill/>
          <a:ln/>
        </p:spPr>
        <p:txBody>
          <a:bodyPr wrap="square" lIns="0" tIns="0" rIns="0" bIns="0" rtlCol="0" anchor="t"/>
          <a:lstStyle/>
          <a:p>
            <a:pPr indent="0" marL="0">
              <a:buNone/>
            </a:pPr>
            <a:r>
              <a:rPr lang="en-US" sz="1300" b="1" dirty="0">
                <a:solidFill>
                  <a:srgbClr val="004080"/>
                </a:solidFill>
              </a:rPr>
              <a:t>Applied: </a:t>
            </a:r>
            <a:pPr indent="0" marL="0">
              <a:buNone/>
            </a:pPr>
            <a:r>
              <a:rPr lang="en-US" sz="1300" dirty="0">
                <a:solidFill>
                  <a:srgbClr val="1A2433"/>
                </a:solidFill>
              </a:rPr>
              <a:t>Built step by step around the campus’s own forms, one module at a time.</a:t>
            </a:r>
            <a:endParaRPr lang="en-US" sz="1300" dirty="0"/>
          </a:p>
        </p:txBody>
      </p:sp>
      <p:sp>
        <p:nvSpPr>
          <p:cNvPr id="23" name="card"/>
          <p:cNvSpPr/>
          <p:nvPr/>
        </p:nvSpPr>
        <p:spPr>
          <a:xfrm>
            <a:off x="8229600" y="1371600"/>
            <a:ext cx="3410712" cy="4297680"/>
          </a:xfrm>
          <a:prstGeom prst="roundRect">
            <a:avLst>
              <a:gd name="adj" fmla="val 3217"/>
            </a:avLst>
          </a:prstGeom>
          <a:solidFill>
            <a:srgbClr val="0B2545"/>
          </a:solidFill>
          <a:ln w="12700">
            <a:solidFill>
              <a:srgbClr val="0B2545"/>
            </a:solidFill>
            <a:prstDash val="solid"/>
          </a:ln>
          <a:effectLst>
            <a:outerShdw sx="100000" sy="100000" kx="0" ky="0" algn="bl" rotWithShape="0" blurRad="76200" dist="25400" dir="5400000">
              <a:srgbClr val="000000">
                <a:alpha val="12000"/>
              </a:srgbClr>
            </a:outerShdw>
          </a:effectLst>
        </p:spPr>
      </p:sp>
      <p:sp>
        <p:nvSpPr>
          <p:cNvPr id="24" name="Text 19"/>
          <p:cNvSpPr txBox="1"/>
          <p:nvPr/>
        </p:nvSpPr>
        <p:spPr>
          <a:xfrm>
            <a:off x="8503920" y="1645920"/>
            <a:ext cx="2926080" cy="320040"/>
          </a:xfrm>
          <a:prstGeom prst="rect">
            <a:avLst/>
          </a:prstGeom>
          <a:noFill/>
          <a:ln/>
        </p:spPr>
        <p:txBody>
          <a:bodyPr wrap="square" lIns="0" tIns="0" rIns="0" bIns="0" rtlCol="0" anchor="t"/>
          <a:lstStyle/>
          <a:p>
            <a:pPr indent="0" marL="0">
              <a:buNone/>
            </a:pPr>
            <a:r>
              <a:rPr lang="en-US" sz="1300" b="1" spc="200" kern="0" dirty="0">
                <a:solidFill>
                  <a:srgbClr val="E3A83B"/>
                </a:solidFill>
              </a:rPr>
              <a:t>GAP IDENTIFIED</a:t>
            </a:r>
            <a:endParaRPr lang="en-US" sz="1300" dirty="0"/>
          </a:p>
        </p:txBody>
      </p:sp>
      <p:sp>
        <p:nvSpPr>
          <p:cNvPr id="25" name="Text 20"/>
          <p:cNvSpPr txBox="1"/>
          <p:nvPr/>
        </p:nvSpPr>
        <p:spPr>
          <a:xfrm>
            <a:off x="8503920" y="2103120"/>
            <a:ext cx="2880360" cy="3474720"/>
          </a:xfrm>
          <a:prstGeom prst="rect">
            <a:avLst/>
          </a:prstGeom>
          <a:noFill/>
          <a:ln/>
        </p:spPr>
        <p:txBody>
          <a:bodyPr wrap="square" lIns="0" tIns="0" rIns="0" bIns="0" rtlCol="0" anchor="t"/>
          <a:lstStyle/>
          <a:p>
            <a:pPr indent="0" marL="0">
              <a:buNone/>
            </a:pPr>
            <a:r>
              <a:rPr lang="en-US" sz="1500" dirty="0">
                <a:solidFill>
                  <a:srgbClr val="FFFFFF"/>
                </a:solidFill>
              </a:rPr>
              <a:t>The systems reviewed handle registration, records and results. None of them documents a digital No Due clearance that ends in a hall ticket tailored to the student’s programme and semester, together with fee rules and direct-entry exemptions. This project fills that gap for DMISEU Chipata Campus.</a:t>
            </a:r>
            <a:endParaRPr lang="en-US" sz="15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Why the proposed system is better</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1st Review</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566160"/>
                <a:gridCol w="1828800"/>
                <a:gridCol w="2011680"/>
                <a:gridCol w="1737360"/>
                <a:gridCol w="1947672"/>
              </a:tblGrid>
              <a:tr h="47548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Capability</a:t>
                      </a:r>
                      <a:endParaRPr lang="en-US" sz="13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Current manual process</a:t>
                      </a:r>
                      <a:endParaRPr lang="en-US" sz="13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Typical SIS (e.g. UNZA SIS)</a:t>
                      </a:r>
                      <a:endParaRPr lang="en-US" sz="13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LMS only (e.g. Moodle)</a:t>
                      </a:r>
                      <a:endParaRPr lang="en-US" sz="13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Proposed portal</a:t>
                      </a:r>
                      <a:endParaRPr lang="en-US" sz="13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r>
              <a:tr h="475488">
                <a:tc>
                  <a:txBody>
                    <a:bodyPr/>
                    <a:lstStyle/>
                    <a:p>
                      <a:pPr algn="l" indent="0" marL="0">
                        <a:buNone/>
                      </a:pPr>
                      <a:r>
                        <a:rPr lang="en-US" sz="1300" b="1" dirty="0">
                          <a:solidFill>
                            <a:srgbClr val="1A2433"/>
                          </a:solidFill>
                          <a:latin typeface="Calibri" pitchFamily="34" charset="0"/>
                          <a:ea typeface="Calibri" pitchFamily="34" charset="-122"/>
                          <a:cs typeface="Calibri" pitchFamily="34" charset="-120"/>
                        </a:rPr>
                        <a:t>Online admission applications</a:t>
                      </a:r>
                      <a:endParaRPr lang="en-US" sz="13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1E7E3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1E7E3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8F1FB"/>
                    </a:solidFill>
                  </a:tcPr>
                </a:tc>
              </a:tr>
              <a:tr h="475488">
                <a:tc>
                  <a:txBody>
                    <a:bodyPr/>
                    <a:lstStyle/>
                    <a:p>
                      <a:pPr algn="l" indent="0" marL="0">
                        <a:buNone/>
                      </a:pPr>
                      <a:r>
                        <a:rPr lang="en-US" sz="1300" b="1" dirty="0">
                          <a:solidFill>
                            <a:srgbClr val="1A2433"/>
                          </a:solidFill>
                          <a:latin typeface="Calibri" pitchFamily="34" charset="0"/>
                          <a:ea typeface="Calibri" pitchFamily="34" charset="-122"/>
                          <a:cs typeface="Calibri" pitchFamily="34" charset="-120"/>
                        </a:rPr>
                        <a:t>Semester registration with office approvals</a:t>
                      </a:r>
                      <a:endParaRPr lang="en-US" sz="13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6F9FC"/>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6F9FC"/>
                    </a:solidFill>
                  </a:tcPr>
                </a:tc>
                <a:tc>
                  <a:txBody>
                    <a:bodyPr/>
                    <a:lstStyle/>
                    <a:p>
                      <a:pPr algn="ctr" indent="0" marL="0">
                        <a:buNone/>
                      </a:pPr>
                      <a:r>
                        <a:rPr lang="en-US" sz="1600" b="1" dirty="0">
                          <a:solidFill>
                            <a:srgbClr val="1E7E3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6F9FC"/>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6F9FC"/>
                    </a:solidFill>
                  </a:tcPr>
                </a:tc>
                <a:tc>
                  <a:txBody>
                    <a:bodyPr/>
                    <a:lstStyle/>
                    <a:p>
                      <a:pPr algn="ctr" indent="0" marL="0">
                        <a:buNone/>
                      </a:pPr>
                      <a:r>
                        <a:rPr lang="en-US" sz="1600" b="1" dirty="0">
                          <a:solidFill>
                            <a:srgbClr val="1E7E3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8F1FB"/>
                    </a:solidFill>
                  </a:tcPr>
                </a:tc>
              </a:tr>
              <a:tr h="475488">
                <a:tc>
                  <a:txBody>
                    <a:bodyPr/>
                    <a:lstStyle/>
                    <a:p>
                      <a:pPr algn="l" indent="0" marL="0">
                        <a:buNone/>
                      </a:pPr>
                      <a:r>
                        <a:rPr lang="en-US" sz="1300" b="1" dirty="0">
                          <a:solidFill>
                            <a:srgbClr val="1A2433"/>
                          </a:solidFill>
                          <a:latin typeface="Calibri" pitchFamily="34" charset="0"/>
                          <a:ea typeface="Calibri" pitchFamily="34" charset="-122"/>
                          <a:cs typeface="Calibri" pitchFamily="34" charset="-120"/>
                        </a:rPr>
                        <a:t>Fee ledger + proof-of-payment verification</a:t>
                      </a:r>
                      <a:endParaRPr lang="en-US" sz="13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algn="ctr" indent="0" marL="0">
                        <a:buNone/>
                      </a:pPr>
                      <a:r>
                        <a:rPr lang="en-US" sz="1200" i="1" dirty="0">
                          <a:solidFill>
                            <a:srgbClr val="5B7A99"/>
                          </a:solidFill>
                          <a:latin typeface="Calibri" pitchFamily="34" charset="0"/>
                          <a:ea typeface="Calibri" pitchFamily="34" charset="-122"/>
                          <a:cs typeface="Calibri" pitchFamily="34" charset="-120"/>
                        </a:rPr>
                        <a:t>Fee view</a:t>
                      </a:r>
                      <a:endParaRPr lang="en-US" sz="12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1E7E3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8F1FB"/>
                    </a:solidFill>
                  </a:tcPr>
                </a:tc>
              </a:tr>
              <a:tr h="475488">
                <a:tc>
                  <a:txBody>
                    <a:bodyPr/>
                    <a:lstStyle/>
                    <a:p>
                      <a:pPr algn="l" indent="0" marL="0">
                        <a:buNone/>
                      </a:pPr>
                      <a:r>
                        <a:rPr lang="en-US" sz="1300" b="1" dirty="0">
                          <a:solidFill>
                            <a:srgbClr val="1A2433"/>
                          </a:solidFill>
                          <a:latin typeface="Calibri" pitchFamily="34" charset="0"/>
                          <a:ea typeface="Calibri" pitchFamily="34" charset="-122"/>
                          <a:cs typeface="Calibri" pitchFamily="34" charset="-120"/>
                        </a:rPr>
                        <a:t>Digital No Due clearance (6 offices)</a:t>
                      </a:r>
                      <a:endParaRPr lang="en-US" sz="13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6F9FC"/>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6F9FC"/>
                    </a:solidFill>
                  </a:tcPr>
                </a:tc>
                <a:tc>
                  <a:txBody>
                    <a:bodyPr/>
                    <a:lstStyle/>
                    <a:p>
                      <a:pPr algn="ctr" indent="0" marL="0">
                        <a:buNone/>
                      </a:pPr>
                      <a:r>
                        <a:rPr lang="en-US" sz="1200" i="1" dirty="0">
                          <a:solidFill>
                            <a:srgbClr val="5B7A99"/>
                          </a:solidFill>
                          <a:latin typeface="Calibri" pitchFamily="34" charset="0"/>
                          <a:ea typeface="Calibri" pitchFamily="34" charset="-122"/>
                          <a:cs typeface="Calibri" pitchFamily="34" charset="-120"/>
                        </a:rPr>
                        <a:t>Not documented</a:t>
                      </a:r>
                      <a:endParaRPr lang="en-US" sz="12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6F9FC"/>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6F9FC"/>
                    </a:solidFill>
                  </a:tcPr>
                </a:tc>
                <a:tc>
                  <a:txBody>
                    <a:bodyPr/>
                    <a:lstStyle/>
                    <a:p>
                      <a:pPr algn="ctr" indent="0" marL="0">
                        <a:buNone/>
                      </a:pPr>
                      <a:r>
                        <a:rPr lang="en-US" sz="1600" b="1" dirty="0">
                          <a:solidFill>
                            <a:srgbClr val="1E7E3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8F1FB"/>
                    </a:solidFill>
                  </a:tcPr>
                </a:tc>
              </a:tr>
              <a:tr h="475488">
                <a:tc>
                  <a:txBody>
                    <a:bodyPr/>
                    <a:lstStyle/>
                    <a:p>
                      <a:pPr algn="l" indent="0" marL="0">
                        <a:buNone/>
                      </a:pPr>
                      <a:r>
                        <a:rPr lang="en-US" sz="1300" b="1" dirty="0">
                          <a:solidFill>
                            <a:srgbClr val="1A2433"/>
                          </a:solidFill>
                          <a:latin typeface="Calibri" pitchFamily="34" charset="0"/>
                          <a:ea typeface="Calibri" pitchFamily="34" charset="-122"/>
                          <a:cs typeface="Calibri" pitchFamily="34" charset="-120"/>
                        </a:rPr>
                        <a:t>Hall ticket per programme &amp; semester</a:t>
                      </a:r>
                      <a:endParaRPr lang="en-US" sz="13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algn="ctr" indent="0" marL="0">
                        <a:buNone/>
                      </a:pPr>
                      <a:r>
                        <a:rPr lang="en-US" sz="1200" i="1" dirty="0">
                          <a:solidFill>
                            <a:srgbClr val="5B7A99"/>
                          </a:solidFill>
                          <a:latin typeface="Calibri" pitchFamily="34" charset="0"/>
                          <a:ea typeface="Calibri" pitchFamily="34" charset="-122"/>
                          <a:cs typeface="Calibri" pitchFamily="34" charset="-120"/>
                        </a:rPr>
                        <a:t>Typed by hand</a:t>
                      </a:r>
                      <a:endParaRPr lang="en-US" sz="12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algn="ctr" indent="0" marL="0">
                        <a:buNone/>
                      </a:pPr>
                      <a:r>
                        <a:rPr lang="en-US" sz="1200" i="1" dirty="0">
                          <a:solidFill>
                            <a:srgbClr val="5B7A99"/>
                          </a:solidFill>
                          <a:latin typeface="Calibri" pitchFamily="34" charset="0"/>
                          <a:ea typeface="Calibri" pitchFamily="34" charset="-122"/>
                          <a:cs typeface="Calibri" pitchFamily="34" charset="-120"/>
                        </a:rPr>
                        <a:t>Not documented</a:t>
                      </a:r>
                      <a:endParaRPr lang="en-US" sz="12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1E7E3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8F1FB"/>
                    </a:solidFill>
                  </a:tcPr>
                </a:tc>
              </a:tr>
              <a:tr h="475488">
                <a:tc>
                  <a:txBody>
                    <a:bodyPr/>
                    <a:lstStyle/>
                    <a:p>
                      <a:pPr algn="l" indent="0" marL="0">
                        <a:buNone/>
                      </a:pPr>
                      <a:r>
                        <a:rPr lang="en-US" sz="1300" b="1" dirty="0">
                          <a:solidFill>
                            <a:srgbClr val="1A2433"/>
                          </a:solidFill>
                          <a:latin typeface="Calibri" pitchFamily="34" charset="0"/>
                          <a:ea typeface="Calibri" pitchFamily="34" charset="-122"/>
                          <a:cs typeface="Calibri" pitchFamily="34" charset="-120"/>
                        </a:rPr>
                        <a:t>Notes, assignments and results</a:t>
                      </a:r>
                      <a:endParaRPr lang="en-US" sz="13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6F9FC"/>
                    </a:solidFill>
                  </a:tcPr>
                </a:tc>
                <a:tc>
                  <a:txBody>
                    <a:bodyPr/>
                    <a:lstStyle/>
                    <a:p>
                      <a:pPr algn="ctr" indent="0" marL="0">
                        <a:buNone/>
                      </a:pPr>
                      <a:r>
                        <a:rPr lang="en-US" sz="1200" i="1" dirty="0">
                          <a:solidFill>
                            <a:srgbClr val="5B7A99"/>
                          </a:solidFill>
                          <a:latin typeface="Calibri" pitchFamily="34" charset="0"/>
                          <a:ea typeface="Calibri" pitchFamily="34" charset="-122"/>
                          <a:cs typeface="Calibri" pitchFamily="34" charset="-120"/>
                        </a:rPr>
                        <a:t>Notice boards</a:t>
                      </a:r>
                      <a:endParaRPr lang="en-US" sz="12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6F9FC"/>
                    </a:solidFill>
                  </a:tcPr>
                </a:tc>
                <a:tc>
                  <a:txBody>
                    <a:bodyPr/>
                    <a:lstStyle/>
                    <a:p>
                      <a:pPr algn="ctr" indent="0" marL="0">
                        <a:buNone/>
                      </a:pPr>
                      <a:r>
                        <a:rPr lang="en-US" sz="1200" i="1" dirty="0">
                          <a:solidFill>
                            <a:srgbClr val="5B7A99"/>
                          </a:solidFill>
                          <a:latin typeface="Calibri" pitchFamily="34" charset="0"/>
                          <a:ea typeface="Calibri" pitchFamily="34" charset="-122"/>
                          <a:cs typeface="Calibri" pitchFamily="34" charset="-120"/>
                        </a:rPr>
                        <a:t>Results</a:t>
                      </a:r>
                      <a:endParaRPr lang="en-US" sz="12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6F9FC"/>
                    </a:solidFill>
                  </a:tcPr>
                </a:tc>
                <a:tc>
                  <a:txBody>
                    <a:bodyPr/>
                    <a:lstStyle/>
                    <a:p>
                      <a:pPr algn="ctr" indent="0" marL="0">
                        <a:buNone/>
                      </a:pPr>
                      <a:r>
                        <a:rPr lang="en-US" sz="1600" b="1" dirty="0">
                          <a:solidFill>
                            <a:srgbClr val="1E7E3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6F9FC"/>
                    </a:solidFill>
                  </a:tcPr>
                </a:tc>
                <a:tc>
                  <a:txBody>
                    <a:bodyPr/>
                    <a:lstStyle/>
                    <a:p>
                      <a:pPr algn="ctr" indent="0" marL="0">
                        <a:buNone/>
                      </a:pPr>
                      <a:r>
                        <a:rPr lang="en-US" sz="1600" b="1" dirty="0">
                          <a:solidFill>
                            <a:srgbClr val="1E7E3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8F1FB"/>
                    </a:solidFill>
                  </a:tcPr>
                </a:tc>
              </a:tr>
              <a:tr h="475488">
                <a:tc>
                  <a:txBody>
                    <a:bodyPr/>
                    <a:lstStyle/>
                    <a:p>
                      <a:pPr algn="l" indent="0" marL="0">
                        <a:buNone/>
                      </a:pPr>
                      <a:r>
                        <a:rPr lang="en-US" sz="1300" b="1" dirty="0">
                          <a:solidFill>
                            <a:srgbClr val="1A2433"/>
                          </a:solidFill>
                          <a:latin typeface="Calibri" pitchFamily="34" charset="0"/>
                          <a:ea typeface="Calibri" pitchFamily="34" charset="-122"/>
                          <a:cs typeface="Calibri" pitchFamily="34" charset="-120"/>
                        </a:rPr>
                        <a:t>Direct-entry semester exemptions</a:t>
                      </a:r>
                      <a:endParaRPr lang="en-US" sz="13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algn="ctr" indent="0" marL="0">
                        <a:buNone/>
                      </a:pPr>
                      <a:r>
                        <a:rPr lang="en-US" sz="1200" i="1" dirty="0">
                          <a:solidFill>
                            <a:srgbClr val="5B7A99"/>
                          </a:solidFill>
                          <a:latin typeface="Calibri" pitchFamily="34" charset="0"/>
                          <a:ea typeface="Calibri" pitchFamily="34" charset="-122"/>
                          <a:cs typeface="Calibri" pitchFamily="34" charset="-120"/>
                        </a:rPr>
                        <a:t>On paper</a:t>
                      </a:r>
                      <a:endParaRPr lang="en-US" sz="12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algn="ctr" indent="0" marL="0">
                        <a:buNone/>
                      </a:pPr>
                      <a:r>
                        <a:rPr lang="en-US" sz="1200" i="1" dirty="0">
                          <a:solidFill>
                            <a:srgbClr val="5B7A99"/>
                          </a:solidFill>
                          <a:latin typeface="Calibri" pitchFamily="34" charset="0"/>
                          <a:ea typeface="Calibri" pitchFamily="34" charset="-122"/>
                          <a:cs typeface="Calibri" pitchFamily="34" charset="-120"/>
                        </a:rPr>
                        <a:t>Not documented</a:t>
                      </a:r>
                      <a:endParaRPr lang="en-US" sz="12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1E7E3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8F1FB"/>
                    </a:solidFill>
                  </a:tcPr>
                </a:tc>
              </a:tr>
              <a:tr h="475488">
                <a:tc>
                  <a:txBody>
                    <a:bodyPr/>
                    <a:lstStyle/>
                    <a:p>
                      <a:pPr algn="l" indent="0" marL="0">
                        <a:buNone/>
                      </a:pPr>
                      <a:r>
                        <a:rPr lang="en-US" sz="1300" b="1" dirty="0">
                          <a:solidFill>
                            <a:srgbClr val="1A2433"/>
                          </a:solidFill>
                          <a:latin typeface="Calibri" pitchFamily="34" charset="0"/>
                          <a:ea typeface="Calibri" pitchFamily="34" charset="-122"/>
                          <a:cs typeface="Calibri" pitchFamily="34" charset="-120"/>
                        </a:rPr>
                        <a:t>Built for DMISEU forms; free, open-source stack</a:t>
                      </a:r>
                      <a:endParaRPr lang="en-US" sz="13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6F9FC"/>
                    </a:solidFill>
                  </a:tcPr>
                </a:tc>
                <a:tc>
                  <a:txBody>
                    <a:bodyPr/>
                    <a:lstStyle/>
                    <a:p>
                      <a:pPr algn="ctr" indent="0" marL="0">
                        <a:buNone/>
                      </a:pPr>
                      <a:r>
                        <a:rPr lang="en-US" sz="1200" i="1" dirty="0">
                          <a:solidFill>
                            <a:srgbClr val="5B7A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6F9FC"/>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6F9FC"/>
                    </a:solidFill>
                  </a:tcPr>
                </a:tc>
                <a:tc>
                  <a:txBody>
                    <a:bodyPr/>
                    <a:lstStyle/>
                    <a:p>
                      <a:pPr algn="ctr" indent="0" marL="0">
                        <a:buNone/>
                      </a:pPr>
                      <a:r>
                        <a:rPr lang="en-US" sz="1200" i="1" dirty="0">
                          <a:solidFill>
                            <a:srgbClr val="5B7A99"/>
                          </a:solidFill>
                          <a:latin typeface="Calibri" pitchFamily="34" charset="0"/>
                          <a:ea typeface="Calibri" pitchFamily="34" charset="-122"/>
                          <a:cs typeface="Calibri" pitchFamily="34" charset="-120"/>
                        </a:rPr>
                        <a:t>Generic</a:t>
                      </a:r>
                      <a:endParaRPr lang="en-US" sz="12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6F9FC"/>
                    </a:solidFill>
                  </a:tcPr>
                </a:tc>
                <a:tc>
                  <a:txBody>
                    <a:bodyPr/>
                    <a:lstStyle/>
                    <a:p>
                      <a:pPr algn="ctr" indent="0" marL="0">
                        <a:buNone/>
                      </a:pPr>
                      <a:r>
                        <a:rPr lang="en-US" sz="1600" b="1" dirty="0">
                          <a:solidFill>
                            <a:srgbClr val="1E7E3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36576" marB="36576"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8F1FB"/>
                    </a:solidFill>
                  </a:tcPr>
                </a:tc>
              </a:tr>
            </a:tbl>
          </a:graphicData>
        </a:graphic>
      </p:graphicFrame>
      <p:sp>
        <p:nvSpPr>
          <p:cNvPr id="6" name="Text 3"/>
          <p:cNvSpPr txBox="1"/>
          <p:nvPr/>
        </p:nvSpPr>
        <p:spPr>
          <a:xfrm>
            <a:off x="548640" y="5806440"/>
            <a:ext cx="11064240" cy="411480"/>
          </a:xfrm>
          <a:prstGeom prst="rect">
            <a:avLst/>
          </a:prstGeom>
          <a:noFill/>
          <a:ln/>
        </p:spPr>
        <p:txBody>
          <a:bodyPr wrap="square" lIns="0" tIns="0" rIns="0" bIns="0" rtlCol="0" anchor="t"/>
          <a:lstStyle/>
          <a:p>
            <a:pPr indent="0" marL="0">
              <a:buNone/>
            </a:pPr>
            <a:r>
              <a:rPr lang="en-US" sz="1100" i="1" dirty="0">
                <a:solidFill>
                  <a:srgbClr val="5B7A99"/>
                </a:solidFill>
              </a:rPr>
              <a:t>UNZA SIS capabilities from the University of Zambia’s published registration guide; "Not documented" means no public evidence was found, not that the feature is absent.</a:t>
            </a:r>
            <a:endParaRPr lang="en-US" sz="11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makes the proposed system better</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1st Review</a:t>
            </a:r>
            <a:endParaRPr lang="en-US" sz="1100" dirty="0"/>
          </a:p>
        </p:txBody>
      </p:sp>
      <p:sp>
        <p:nvSpPr>
          <p:cNvPr id="5" name="card"/>
          <p:cNvSpPr/>
          <p:nvPr/>
        </p:nvSpPr>
        <p:spPr>
          <a:xfrm>
            <a:off x="548640" y="1417320"/>
            <a:ext cx="5440680" cy="2148840"/>
          </a:xfrm>
          <a:prstGeom prst="roundRect">
            <a:avLst>
              <a:gd name="adj" fmla="val 5106"/>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6" name="icon circle"/>
          <p:cNvSpPr/>
          <p:nvPr/>
        </p:nvSpPr>
        <p:spPr>
          <a:xfrm>
            <a:off x="822960" y="1691640"/>
            <a:ext cx="731520" cy="731520"/>
          </a:xfrm>
          <a:prstGeom prst="ellipse">
            <a:avLst/>
          </a:prstGeom>
          <a:solidFill>
            <a:srgbClr val="004080"/>
          </a:solidFill>
          <a:ln w="12700">
            <a:solidFill>
              <a:srgbClr val="004080"/>
            </a:solidFill>
            <a:prstDash val="solid"/>
          </a:ln>
        </p:spPr>
      </p:sp>
      <p:pic>
        <p:nvPicPr>
          <p:cNvPr id="7" name="Image 0" descr="FaRoute">    </p:cNvPr>
          <p:cNvPicPr>
            <a:picLocks noChangeAspect="1"/>
          </p:cNvPicPr>
          <p:nvPr/>
        </p:nvPicPr>
        <p:blipFill>
          <a:blip r:embed="rId1"/>
          <a:stretch>
            <a:fillRect/>
          </a:stretch>
        </p:blipFill>
        <p:spPr>
          <a:xfrm>
            <a:off x="998525" y="1867205"/>
            <a:ext cx="380390" cy="380390"/>
          </a:xfrm>
          <a:prstGeom prst="rect">
            <a:avLst/>
          </a:prstGeom>
        </p:spPr>
      </p:pic>
      <p:sp>
        <p:nvSpPr>
          <p:cNvPr id="8" name="Text 5"/>
          <p:cNvSpPr txBox="1"/>
          <p:nvPr/>
        </p:nvSpPr>
        <p:spPr>
          <a:xfrm>
            <a:off x="1783080" y="1737360"/>
            <a:ext cx="4023360" cy="457200"/>
          </a:xfrm>
          <a:prstGeom prst="rect">
            <a:avLst/>
          </a:prstGeom>
          <a:noFill/>
          <a:ln/>
        </p:spPr>
        <p:txBody>
          <a:bodyPr wrap="square" lIns="0" tIns="0" rIns="0" bIns="0" rtlCol="0" anchor="t"/>
          <a:lstStyle/>
          <a:p>
            <a:pPr indent="0" marL="0">
              <a:buNone/>
            </a:pPr>
            <a:r>
              <a:rPr lang="en-US" sz="1800" b="1" dirty="0">
                <a:solidFill>
                  <a:srgbClr val="0B2545"/>
                </a:solidFill>
              </a:rPr>
              <a:t>Follows our real approval chain</a:t>
            </a:r>
            <a:endParaRPr lang="en-US" sz="1800" dirty="0"/>
          </a:p>
        </p:txBody>
      </p:sp>
      <p:sp>
        <p:nvSpPr>
          <p:cNvPr id="9" name="Text 6"/>
          <p:cNvSpPr txBox="1"/>
          <p:nvPr/>
        </p:nvSpPr>
        <p:spPr>
          <a:xfrm>
            <a:off x="1783080" y="2240280"/>
            <a:ext cx="4023360" cy="1234440"/>
          </a:xfrm>
          <a:prstGeom prst="rect">
            <a:avLst/>
          </a:prstGeom>
          <a:noFill/>
          <a:ln/>
        </p:spPr>
        <p:txBody>
          <a:bodyPr wrap="square" lIns="0" tIns="0" rIns="0" bIns="0" rtlCol="0" anchor="t"/>
          <a:lstStyle/>
          <a:p>
            <a:pPr indent="0" marL="0">
              <a:buNone/>
            </a:pPr>
            <a:r>
              <a:rPr lang="en-US" sz="1400" dirty="0">
                <a:solidFill>
                  <a:srgbClr val="1A2433"/>
                </a:solidFill>
              </a:rPr>
              <a:t>Accounts → Class Advisor → Hostel → HOD → Dean of Students → Dean (Academic), enforced in order. No step can be skipped, and every signature is time-stamped.</a:t>
            </a:r>
            <a:endParaRPr lang="en-US" sz="1400" dirty="0"/>
          </a:p>
        </p:txBody>
      </p:sp>
      <p:sp>
        <p:nvSpPr>
          <p:cNvPr id="10" name="card"/>
          <p:cNvSpPr/>
          <p:nvPr/>
        </p:nvSpPr>
        <p:spPr>
          <a:xfrm>
            <a:off x="6172200" y="1417320"/>
            <a:ext cx="5440680" cy="2148840"/>
          </a:xfrm>
          <a:prstGeom prst="roundRect">
            <a:avLst>
              <a:gd name="adj" fmla="val 5106"/>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11" name="icon circle"/>
          <p:cNvSpPr/>
          <p:nvPr/>
        </p:nvSpPr>
        <p:spPr>
          <a:xfrm>
            <a:off x="6446520" y="1691640"/>
            <a:ext cx="731520" cy="731520"/>
          </a:xfrm>
          <a:prstGeom prst="ellipse">
            <a:avLst/>
          </a:prstGeom>
          <a:solidFill>
            <a:srgbClr val="E3A83B"/>
          </a:solidFill>
          <a:ln w="12700">
            <a:solidFill>
              <a:srgbClr val="E3A83B"/>
            </a:solidFill>
            <a:prstDash val="solid"/>
          </a:ln>
        </p:spPr>
      </p:sp>
      <p:pic>
        <p:nvPicPr>
          <p:cNvPr id="12" name="Image 1" descr="FaCalculator">    </p:cNvPr>
          <p:cNvPicPr>
            <a:picLocks noChangeAspect="1"/>
          </p:cNvPicPr>
          <p:nvPr/>
        </p:nvPicPr>
        <p:blipFill>
          <a:blip r:embed="rId2"/>
          <a:stretch>
            <a:fillRect/>
          </a:stretch>
        </p:blipFill>
        <p:spPr>
          <a:xfrm>
            <a:off x="6622085" y="1867205"/>
            <a:ext cx="380390" cy="380390"/>
          </a:xfrm>
          <a:prstGeom prst="rect">
            <a:avLst/>
          </a:prstGeom>
        </p:spPr>
      </p:pic>
      <p:sp>
        <p:nvSpPr>
          <p:cNvPr id="13" name="Text 9"/>
          <p:cNvSpPr txBox="1"/>
          <p:nvPr/>
        </p:nvSpPr>
        <p:spPr>
          <a:xfrm>
            <a:off x="7406640" y="1737360"/>
            <a:ext cx="4023360" cy="457200"/>
          </a:xfrm>
          <a:prstGeom prst="rect">
            <a:avLst/>
          </a:prstGeom>
          <a:noFill/>
          <a:ln/>
        </p:spPr>
        <p:txBody>
          <a:bodyPr wrap="square" lIns="0" tIns="0" rIns="0" bIns="0" rtlCol="0" anchor="t"/>
          <a:lstStyle/>
          <a:p>
            <a:pPr indent="0" marL="0">
              <a:buNone/>
            </a:pPr>
            <a:r>
              <a:rPr lang="en-US" sz="1800" b="1" dirty="0">
                <a:solidFill>
                  <a:srgbClr val="0B2545"/>
                </a:solidFill>
              </a:rPr>
              <a:t>Rules applied automatically</a:t>
            </a:r>
            <a:endParaRPr lang="en-US" sz="1800" dirty="0"/>
          </a:p>
        </p:txBody>
      </p:sp>
      <p:sp>
        <p:nvSpPr>
          <p:cNvPr id="14" name="Text 10"/>
          <p:cNvSpPr txBox="1"/>
          <p:nvPr/>
        </p:nvSpPr>
        <p:spPr>
          <a:xfrm>
            <a:off x="7406640" y="2240280"/>
            <a:ext cx="4023360" cy="1234440"/>
          </a:xfrm>
          <a:prstGeom prst="rect">
            <a:avLst/>
          </a:prstGeom>
          <a:noFill/>
          <a:ln/>
        </p:spPr>
        <p:txBody>
          <a:bodyPr wrap="square" lIns="0" tIns="0" rIns="0" bIns="0" rtlCol="0" anchor="t"/>
          <a:lstStyle/>
          <a:p>
            <a:pPr indent="0" marL="0">
              <a:buNone/>
            </a:pPr>
            <a:r>
              <a:rPr lang="en-US" sz="1400" dirty="0">
                <a:solidFill>
                  <a:srgbClr val="1A2433"/>
                </a:solidFill>
              </a:rPr>
              <a:t>Accounts clears a student the moment 40% (registration) or 75% (mid-semester exams) of fees are paid. No manual balance checks.</a:t>
            </a:r>
            <a:endParaRPr lang="en-US" sz="1400" dirty="0"/>
          </a:p>
        </p:txBody>
      </p:sp>
      <p:sp>
        <p:nvSpPr>
          <p:cNvPr id="15" name="card"/>
          <p:cNvSpPr/>
          <p:nvPr/>
        </p:nvSpPr>
        <p:spPr>
          <a:xfrm>
            <a:off x="548640" y="3794760"/>
            <a:ext cx="5440680" cy="2148840"/>
          </a:xfrm>
          <a:prstGeom prst="roundRect">
            <a:avLst>
              <a:gd name="adj" fmla="val 5106"/>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16" name="icon circle"/>
          <p:cNvSpPr/>
          <p:nvPr/>
        </p:nvSpPr>
        <p:spPr>
          <a:xfrm>
            <a:off x="822960" y="4069080"/>
            <a:ext cx="731520" cy="731520"/>
          </a:xfrm>
          <a:prstGeom prst="ellipse">
            <a:avLst/>
          </a:prstGeom>
          <a:solidFill>
            <a:srgbClr val="E3A83B"/>
          </a:solidFill>
          <a:ln w="12700">
            <a:solidFill>
              <a:srgbClr val="E3A83B"/>
            </a:solidFill>
            <a:prstDash val="solid"/>
          </a:ln>
        </p:spPr>
      </p:sp>
      <p:pic>
        <p:nvPicPr>
          <p:cNvPr id="17" name="Image 2" descr="FaPrint">    </p:cNvPr>
          <p:cNvPicPr>
            <a:picLocks noChangeAspect="1"/>
          </p:cNvPicPr>
          <p:nvPr/>
        </p:nvPicPr>
        <p:blipFill>
          <a:blip r:embed="rId3"/>
          <a:stretch>
            <a:fillRect/>
          </a:stretch>
        </p:blipFill>
        <p:spPr>
          <a:xfrm>
            <a:off x="998525" y="4244645"/>
            <a:ext cx="380390" cy="380390"/>
          </a:xfrm>
          <a:prstGeom prst="rect">
            <a:avLst/>
          </a:prstGeom>
        </p:spPr>
      </p:pic>
      <p:sp>
        <p:nvSpPr>
          <p:cNvPr id="18" name="Text 13"/>
          <p:cNvSpPr txBox="1"/>
          <p:nvPr/>
        </p:nvSpPr>
        <p:spPr>
          <a:xfrm>
            <a:off x="1783080" y="4114800"/>
            <a:ext cx="4023360" cy="457200"/>
          </a:xfrm>
          <a:prstGeom prst="rect">
            <a:avLst/>
          </a:prstGeom>
          <a:noFill/>
          <a:ln/>
        </p:spPr>
        <p:txBody>
          <a:bodyPr wrap="square" lIns="0" tIns="0" rIns="0" bIns="0" rtlCol="0" anchor="t"/>
          <a:lstStyle/>
          <a:p>
            <a:pPr indent="0" marL="0">
              <a:buNone/>
            </a:pPr>
            <a:r>
              <a:rPr lang="en-US" sz="1800" b="1" dirty="0">
                <a:solidFill>
                  <a:srgbClr val="0B2545"/>
                </a:solidFill>
              </a:rPr>
              <a:t>Hall ticket in one click</a:t>
            </a:r>
            <a:endParaRPr lang="en-US" sz="1800" dirty="0"/>
          </a:p>
        </p:txBody>
      </p:sp>
      <p:sp>
        <p:nvSpPr>
          <p:cNvPr id="19" name="Text 14"/>
          <p:cNvSpPr txBox="1"/>
          <p:nvPr/>
        </p:nvSpPr>
        <p:spPr>
          <a:xfrm>
            <a:off x="1783080" y="4617720"/>
            <a:ext cx="4023360" cy="1234440"/>
          </a:xfrm>
          <a:prstGeom prst="rect">
            <a:avLst/>
          </a:prstGeom>
          <a:noFill/>
          <a:ln/>
        </p:spPr>
        <p:txBody>
          <a:bodyPr wrap="square" lIns="0" tIns="0" rIns="0" bIns="0" rtlCol="0" anchor="t"/>
          <a:lstStyle/>
          <a:p>
            <a:pPr indent="0" marL="0">
              <a:buNone/>
            </a:pPr>
            <a:r>
              <a:rPr lang="en-US" sz="1400" dirty="0">
                <a:solidFill>
                  <a:srgbClr val="1A2433"/>
                </a:solidFill>
              </a:rPr>
              <a:t>Once all six approvals are in, the student prints an A4 hall ticket showing only their own programme and semester modules.</a:t>
            </a:r>
            <a:endParaRPr lang="en-US" sz="1400" dirty="0"/>
          </a:p>
        </p:txBody>
      </p:sp>
      <p:sp>
        <p:nvSpPr>
          <p:cNvPr id="20" name="card"/>
          <p:cNvSpPr/>
          <p:nvPr/>
        </p:nvSpPr>
        <p:spPr>
          <a:xfrm>
            <a:off x="6172200" y="3794760"/>
            <a:ext cx="5440680" cy="2148840"/>
          </a:xfrm>
          <a:prstGeom prst="roundRect">
            <a:avLst>
              <a:gd name="adj" fmla="val 5106"/>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21" name="icon circle"/>
          <p:cNvSpPr/>
          <p:nvPr/>
        </p:nvSpPr>
        <p:spPr>
          <a:xfrm>
            <a:off x="6446520" y="4069080"/>
            <a:ext cx="731520" cy="731520"/>
          </a:xfrm>
          <a:prstGeom prst="ellipse">
            <a:avLst/>
          </a:prstGeom>
          <a:solidFill>
            <a:srgbClr val="004080"/>
          </a:solidFill>
          <a:ln w="12700">
            <a:solidFill>
              <a:srgbClr val="004080"/>
            </a:solidFill>
            <a:prstDash val="solid"/>
          </a:ln>
        </p:spPr>
      </p:sp>
      <p:pic>
        <p:nvPicPr>
          <p:cNvPr id="22" name="Image 3" descr="FaUserGraduate">    </p:cNvPr>
          <p:cNvPicPr>
            <a:picLocks noChangeAspect="1"/>
          </p:cNvPicPr>
          <p:nvPr/>
        </p:nvPicPr>
        <p:blipFill>
          <a:blip r:embed="rId4"/>
          <a:stretch>
            <a:fillRect/>
          </a:stretch>
        </p:blipFill>
        <p:spPr>
          <a:xfrm>
            <a:off x="6622085" y="4244645"/>
            <a:ext cx="380390" cy="380390"/>
          </a:xfrm>
          <a:prstGeom prst="rect">
            <a:avLst/>
          </a:prstGeom>
        </p:spPr>
      </p:pic>
      <p:sp>
        <p:nvSpPr>
          <p:cNvPr id="23" name="Text 17"/>
          <p:cNvSpPr txBox="1"/>
          <p:nvPr/>
        </p:nvSpPr>
        <p:spPr>
          <a:xfrm>
            <a:off x="7406640" y="4114800"/>
            <a:ext cx="4023360" cy="457200"/>
          </a:xfrm>
          <a:prstGeom prst="rect">
            <a:avLst/>
          </a:prstGeom>
          <a:noFill/>
          <a:ln/>
        </p:spPr>
        <p:txBody>
          <a:bodyPr wrap="square" lIns="0" tIns="0" rIns="0" bIns="0" rtlCol="0" anchor="t"/>
          <a:lstStyle/>
          <a:p>
            <a:pPr indent="0" marL="0">
              <a:buNone/>
            </a:pPr>
            <a:r>
              <a:rPr lang="en-US" sz="1800" b="1" dirty="0">
                <a:solidFill>
                  <a:srgbClr val="0B2545"/>
                </a:solidFill>
              </a:rPr>
              <a:t>Handles real-world cases</a:t>
            </a:r>
            <a:endParaRPr lang="en-US" sz="1800" dirty="0"/>
          </a:p>
        </p:txBody>
      </p:sp>
      <p:sp>
        <p:nvSpPr>
          <p:cNvPr id="24" name="Text 18"/>
          <p:cNvSpPr txBox="1"/>
          <p:nvPr/>
        </p:nvSpPr>
        <p:spPr>
          <a:xfrm>
            <a:off x="7406640" y="4617720"/>
            <a:ext cx="4023360" cy="1234440"/>
          </a:xfrm>
          <a:prstGeom prst="rect">
            <a:avLst/>
          </a:prstGeom>
          <a:noFill/>
          <a:ln/>
        </p:spPr>
        <p:txBody>
          <a:bodyPr wrap="square" lIns="0" tIns="0" rIns="0" bIns="0" rtlCol="0" anchor="t"/>
          <a:lstStyle/>
          <a:p>
            <a:pPr indent="0" marL="0">
              <a:buNone/>
            </a:pPr>
            <a:r>
              <a:rPr lang="en-US" sz="1400" dirty="0">
                <a:solidFill>
                  <a:srgbClr val="1A2433"/>
                </a:solidFill>
              </a:rPr>
              <a:t>Direct-entry exemptions, hostel vs non-hostel students, and holds with reasons the student can read and fix.</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6400800" cy="137160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2nd Review</a:t>
            </a:r>
            <a:endParaRPr lang="en-US" sz="4400" dirty="0"/>
          </a:p>
        </p:txBody>
      </p:sp>
      <p:sp>
        <p:nvSpPr>
          <p:cNvPr id="3" name="Text 0"/>
          <p:cNvSpPr/>
          <p:nvPr>
            <p:ph idx="101" type="body" hasCustomPrompt="1"/>
          </p:nvPr>
        </p:nvSpPr>
        <p:spPr>
          <a:xfrm>
            <a:off x="731520" y="3657600"/>
            <a:ext cx="6400800" cy="2377440"/>
          </a:xfrm>
          <a:prstGeom prst="rect">
            <a:avLst/>
          </a:prstGeom>
          <a:noFill/>
          <a:ln/>
        </p:spPr>
        <p:txBody>
          <a:bodyPr wrap="square" lIns="0" tIns="0" rIns="0" bIns="0" rtlCol="0" anchor="t"/>
          <a:lstStyle/>
          <a:p>
            <a:pPr indent="0" marL="0">
              <a:buNone/>
            </a:pPr>
            <a:r>
              <a:rPr lang="en-US" sz="1800" dirty="0">
                <a:solidFill>
                  <a:srgbClr val="D6E2F1"/>
                </a:solidFill>
              </a:rPr>
              <a:t>16/10/2026  ·  System architecture, data flow diagrams, use case diagram and database design</a:t>
            </a:r>
            <a:endParaRPr lang="en-US" sz="1800" dirty="0"/>
          </a:p>
        </p:txBody>
      </p:sp>
      <p:sp>
        <p:nvSpPr>
          <p:cNvPr id="4" name="icon circle"/>
          <p:cNvSpPr/>
          <p:nvPr/>
        </p:nvSpPr>
        <p:spPr>
          <a:xfrm>
            <a:off x="8503920" y="2011680"/>
            <a:ext cx="2560320" cy="2560320"/>
          </a:xfrm>
          <a:prstGeom prst="ellipse">
            <a:avLst/>
          </a:prstGeom>
          <a:solidFill>
            <a:srgbClr val="163A63"/>
          </a:solidFill>
          <a:ln w="12700">
            <a:solidFill>
              <a:srgbClr val="163A63"/>
            </a:solidFill>
            <a:prstDash val="solid"/>
          </a:ln>
        </p:spPr>
      </p:sp>
      <p:pic>
        <p:nvPicPr>
          <p:cNvPr id="5" name="Image 0" descr="FaProjectDiagram">    </p:cNvPr>
          <p:cNvPicPr>
            <a:picLocks noChangeAspect="1"/>
          </p:cNvPicPr>
          <p:nvPr/>
        </p:nvPicPr>
        <p:blipFill>
          <a:blip r:embed="rId1"/>
          <a:stretch>
            <a:fillRect/>
          </a:stretch>
        </p:blipFill>
        <p:spPr>
          <a:xfrm>
            <a:off x="9118397" y="2626157"/>
            <a:ext cx="1331366" cy="133136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System architecture</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2nd Review</a:t>
            </a:r>
            <a:endParaRPr lang="en-US" sz="1100" dirty="0"/>
          </a:p>
        </p:txBody>
      </p:sp>
      <p:sp>
        <p:nvSpPr>
          <p:cNvPr id="5" name="card"/>
          <p:cNvSpPr/>
          <p:nvPr/>
        </p:nvSpPr>
        <p:spPr>
          <a:xfrm>
            <a:off x="548640" y="1371600"/>
            <a:ext cx="3108960" cy="4800600"/>
          </a:xfrm>
          <a:prstGeom prst="roundRect">
            <a:avLst>
              <a:gd name="adj" fmla="val 3529"/>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6" name="icon circle"/>
          <p:cNvSpPr/>
          <p:nvPr/>
        </p:nvSpPr>
        <p:spPr>
          <a:xfrm>
            <a:off x="777240" y="1572768"/>
            <a:ext cx="566928" cy="566928"/>
          </a:xfrm>
          <a:prstGeom prst="ellipse">
            <a:avLst/>
          </a:prstGeom>
          <a:solidFill>
            <a:srgbClr val="004080"/>
          </a:solidFill>
          <a:ln w="12700">
            <a:solidFill>
              <a:srgbClr val="004080"/>
            </a:solidFill>
            <a:prstDash val="solid"/>
          </a:ln>
        </p:spPr>
      </p:sp>
      <p:pic>
        <p:nvPicPr>
          <p:cNvPr id="7" name="Image 0" descr="FaDesktop">    </p:cNvPr>
          <p:cNvPicPr>
            <a:picLocks noChangeAspect="1"/>
          </p:cNvPicPr>
          <p:nvPr/>
        </p:nvPicPr>
        <p:blipFill>
          <a:blip r:embed="rId1"/>
          <a:stretch>
            <a:fillRect/>
          </a:stretch>
        </p:blipFill>
        <p:spPr>
          <a:xfrm>
            <a:off x="913303" y="1708831"/>
            <a:ext cx="294803" cy="294803"/>
          </a:xfrm>
          <a:prstGeom prst="rect">
            <a:avLst/>
          </a:prstGeom>
        </p:spPr>
      </p:pic>
      <p:sp>
        <p:nvSpPr>
          <p:cNvPr id="8" name="Text 5"/>
          <p:cNvSpPr txBox="1"/>
          <p:nvPr/>
        </p:nvSpPr>
        <p:spPr>
          <a:xfrm>
            <a:off x="1463040" y="1572768"/>
            <a:ext cx="2103120" cy="320040"/>
          </a:xfrm>
          <a:prstGeom prst="rect">
            <a:avLst/>
          </a:prstGeom>
          <a:noFill/>
          <a:ln/>
        </p:spPr>
        <p:txBody>
          <a:bodyPr wrap="square" lIns="0" tIns="0" rIns="0" bIns="0" rtlCol="0" anchor="t"/>
          <a:lstStyle/>
          <a:p>
            <a:pPr indent="0" marL="0">
              <a:buNone/>
            </a:pPr>
            <a:r>
              <a:rPr lang="en-US" sz="1700" b="1" dirty="0">
                <a:solidFill>
                  <a:srgbClr val="0B2545"/>
                </a:solidFill>
              </a:rPr>
              <a:t>Presentation tier</a:t>
            </a:r>
            <a:endParaRPr lang="en-US" sz="1700" dirty="0"/>
          </a:p>
        </p:txBody>
      </p:sp>
      <p:sp>
        <p:nvSpPr>
          <p:cNvPr id="9" name="Text 6"/>
          <p:cNvSpPr txBox="1"/>
          <p:nvPr/>
        </p:nvSpPr>
        <p:spPr>
          <a:xfrm>
            <a:off x="1463040" y="1892808"/>
            <a:ext cx="2103120" cy="274320"/>
          </a:xfrm>
          <a:prstGeom prst="rect">
            <a:avLst/>
          </a:prstGeom>
          <a:noFill/>
          <a:ln/>
        </p:spPr>
        <p:txBody>
          <a:bodyPr wrap="square" lIns="0" tIns="0" rIns="0" bIns="0" rtlCol="0" anchor="t"/>
          <a:lstStyle/>
          <a:p>
            <a:pPr indent="0" marL="0">
              <a:buNone/>
            </a:pPr>
            <a:r>
              <a:rPr lang="en-US" sz="1200" dirty="0">
                <a:solidFill>
                  <a:srgbClr val="5B7A99"/>
                </a:solidFill>
              </a:rPr>
              <a:t>Web browser · HTML, CSS, JavaScript</a:t>
            </a:r>
            <a:endParaRPr lang="en-US" sz="1200" dirty="0"/>
          </a:p>
        </p:txBody>
      </p:sp>
      <p:sp>
        <p:nvSpPr>
          <p:cNvPr id="10" name="Public website &amp; online application"/>
          <p:cNvSpPr/>
          <p:nvPr/>
        </p:nvSpPr>
        <p:spPr>
          <a:xfrm>
            <a:off x="777240" y="2377440"/>
            <a:ext cx="2651760" cy="634594"/>
          </a:xfrm>
          <a:prstGeom prst="roundRect">
            <a:avLst>
              <a:gd name="adj" fmla="val 11527"/>
            </a:avLst>
          </a:prstGeom>
          <a:solidFill>
            <a:srgbClr val="EEF3F9"/>
          </a:solidFill>
          <a:ln w="15875">
            <a:solidFill>
              <a:srgbClr val="BFD3EA"/>
            </a:solidFill>
            <a:prstDash val="solid"/>
          </a:ln>
        </p:spPr>
      </p:sp>
      <p:sp>
        <p:nvSpPr>
          <p:cNvPr id="11" name="Text 8"/>
          <p:cNvSpPr txBox="1"/>
          <p:nvPr/>
        </p:nvSpPr>
        <p:spPr>
          <a:xfrm>
            <a:off x="832104" y="2377440"/>
            <a:ext cx="2542032" cy="634594"/>
          </a:xfrm>
          <a:prstGeom prst="rect">
            <a:avLst/>
          </a:prstGeom>
          <a:noFill/>
          <a:ln/>
        </p:spPr>
        <p:txBody>
          <a:bodyPr wrap="square" lIns="0" tIns="0" rIns="0" bIns="0" rtlCol="0" anchor="ctr"/>
          <a:lstStyle/>
          <a:p>
            <a:pPr algn="ctr" indent="0" marL="0">
              <a:buNone/>
            </a:pPr>
            <a:r>
              <a:rPr lang="en-US" sz="1200" dirty="0">
                <a:solidFill>
                  <a:srgbClr val="1A2433"/>
                </a:solidFill>
              </a:rPr>
              <a:t>Public website &amp; online application</a:t>
            </a:r>
            <a:endParaRPr lang="en-US" sz="1200" dirty="0"/>
          </a:p>
        </p:txBody>
      </p:sp>
      <p:sp>
        <p:nvSpPr>
          <p:cNvPr id="12" name="Student portal"/>
          <p:cNvSpPr/>
          <p:nvPr/>
        </p:nvSpPr>
        <p:spPr>
          <a:xfrm>
            <a:off x="777240" y="3121762"/>
            <a:ext cx="2651760" cy="634594"/>
          </a:xfrm>
          <a:prstGeom prst="roundRect">
            <a:avLst>
              <a:gd name="adj" fmla="val 11527"/>
            </a:avLst>
          </a:prstGeom>
          <a:solidFill>
            <a:srgbClr val="EEF3F9"/>
          </a:solidFill>
          <a:ln w="15875">
            <a:solidFill>
              <a:srgbClr val="BFD3EA"/>
            </a:solidFill>
            <a:prstDash val="solid"/>
          </a:ln>
        </p:spPr>
      </p:sp>
      <p:sp>
        <p:nvSpPr>
          <p:cNvPr id="13" name="Text 10"/>
          <p:cNvSpPr txBox="1"/>
          <p:nvPr/>
        </p:nvSpPr>
        <p:spPr>
          <a:xfrm>
            <a:off x="832104" y="3121762"/>
            <a:ext cx="2542032" cy="634594"/>
          </a:xfrm>
          <a:prstGeom prst="rect">
            <a:avLst/>
          </a:prstGeom>
          <a:noFill/>
          <a:ln/>
        </p:spPr>
        <p:txBody>
          <a:bodyPr wrap="square" lIns="0" tIns="0" rIns="0" bIns="0" rtlCol="0" anchor="ctr"/>
          <a:lstStyle/>
          <a:p>
            <a:pPr algn="ctr" indent="0" marL="0">
              <a:buNone/>
            </a:pPr>
            <a:r>
              <a:rPr lang="en-US" sz="1200" dirty="0">
                <a:solidFill>
                  <a:srgbClr val="1A2433"/>
                </a:solidFill>
              </a:rPr>
              <a:t>Student portal</a:t>
            </a:r>
            <a:endParaRPr lang="en-US" sz="1200" dirty="0"/>
          </a:p>
        </p:txBody>
      </p:sp>
      <p:sp>
        <p:nvSpPr>
          <p:cNvPr id="14" name="Lecturer portal (Class Advisor)"/>
          <p:cNvSpPr/>
          <p:nvPr/>
        </p:nvSpPr>
        <p:spPr>
          <a:xfrm>
            <a:off x="777240" y="3866083"/>
            <a:ext cx="2651760" cy="634594"/>
          </a:xfrm>
          <a:prstGeom prst="roundRect">
            <a:avLst>
              <a:gd name="adj" fmla="val 11527"/>
            </a:avLst>
          </a:prstGeom>
          <a:solidFill>
            <a:srgbClr val="EEF3F9"/>
          </a:solidFill>
          <a:ln w="15875">
            <a:solidFill>
              <a:srgbClr val="BFD3EA"/>
            </a:solidFill>
            <a:prstDash val="solid"/>
          </a:ln>
        </p:spPr>
      </p:sp>
      <p:sp>
        <p:nvSpPr>
          <p:cNvPr id="15" name="Text 12"/>
          <p:cNvSpPr txBox="1"/>
          <p:nvPr/>
        </p:nvSpPr>
        <p:spPr>
          <a:xfrm>
            <a:off x="832104" y="3866083"/>
            <a:ext cx="2542032" cy="634594"/>
          </a:xfrm>
          <a:prstGeom prst="rect">
            <a:avLst/>
          </a:prstGeom>
          <a:noFill/>
          <a:ln/>
        </p:spPr>
        <p:txBody>
          <a:bodyPr wrap="square" lIns="0" tIns="0" rIns="0" bIns="0" rtlCol="0" anchor="ctr"/>
          <a:lstStyle/>
          <a:p>
            <a:pPr algn="ctr" indent="0" marL="0">
              <a:buNone/>
            </a:pPr>
            <a:r>
              <a:rPr lang="en-US" sz="1200" dirty="0">
                <a:solidFill>
                  <a:srgbClr val="1A2433"/>
                </a:solidFill>
              </a:rPr>
              <a:t>Lecturer portal (Class Advisor)</a:t>
            </a:r>
            <a:endParaRPr lang="en-US" sz="1200" dirty="0"/>
          </a:p>
        </p:txBody>
      </p:sp>
      <p:sp>
        <p:nvSpPr>
          <p:cNvPr id="16" name="Staff dashboard — 8 roles"/>
          <p:cNvSpPr/>
          <p:nvPr/>
        </p:nvSpPr>
        <p:spPr>
          <a:xfrm>
            <a:off x="777240" y="4610405"/>
            <a:ext cx="2651760" cy="634594"/>
          </a:xfrm>
          <a:prstGeom prst="roundRect">
            <a:avLst>
              <a:gd name="adj" fmla="val 11527"/>
            </a:avLst>
          </a:prstGeom>
          <a:solidFill>
            <a:srgbClr val="EEF3F9"/>
          </a:solidFill>
          <a:ln w="15875">
            <a:solidFill>
              <a:srgbClr val="BFD3EA"/>
            </a:solidFill>
            <a:prstDash val="solid"/>
          </a:ln>
        </p:spPr>
      </p:sp>
      <p:sp>
        <p:nvSpPr>
          <p:cNvPr id="17" name="Text 14"/>
          <p:cNvSpPr txBox="1"/>
          <p:nvPr/>
        </p:nvSpPr>
        <p:spPr>
          <a:xfrm>
            <a:off x="832104" y="4610405"/>
            <a:ext cx="2542032" cy="634594"/>
          </a:xfrm>
          <a:prstGeom prst="rect">
            <a:avLst/>
          </a:prstGeom>
          <a:noFill/>
          <a:ln/>
        </p:spPr>
        <p:txBody>
          <a:bodyPr wrap="square" lIns="0" tIns="0" rIns="0" bIns="0" rtlCol="0" anchor="ctr"/>
          <a:lstStyle/>
          <a:p>
            <a:pPr algn="ctr" indent="0" marL="0">
              <a:buNone/>
            </a:pPr>
            <a:r>
              <a:rPr lang="en-US" sz="1200" dirty="0">
                <a:solidFill>
                  <a:srgbClr val="1A2433"/>
                </a:solidFill>
              </a:rPr>
              <a:t>Staff dashboard — 8 roles</a:t>
            </a:r>
            <a:endParaRPr lang="en-US" sz="1200" dirty="0"/>
          </a:p>
        </p:txBody>
      </p:sp>
      <p:sp>
        <p:nvSpPr>
          <p:cNvPr id="18" name="Printable A4 hall ticket"/>
          <p:cNvSpPr/>
          <p:nvPr/>
        </p:nvSpPr>
        <p:spPr>
          <a:xfrm>
            <a:off x="777240" y="5354726"/>
            <a:ext cx="2651760" cy="634594"/>
          </a:xfrm>
          <a:prstGeom prst="roundRect">
            <a:avLst>
              <a:gd name="adj" fmla="val 11527"/>
            </a:avLst>
          </a:prstGeom>
          <a:solidFill>
            <a:srgbClr val="EEF3F9"/>
          </a:solidFill>
          <a:ln w="15875">
            <a:solidFill>
              <a:srgbClr val="BFD3EA"/>
            </a:solidFill>
            <a:prstDash val="solid"/>
          </a:ln>
        </p:spPr>
      </p:sp>
      <p:sp>
        <p:nvSpPr>
          <p:cNvPr id="19" name="Text 16"/>
          <p:cNvSpPr txBox="1"/>
          <p:nvPr/>
        </p:nvSpPr>
        <p:spPr>
          <a:xfrm>
            <a:off x="832104" y="5354726"/>
            <a:ext cx="2542032" cy="634594"/>
          </a:xfrm>
          <a:prstGeom prst="rect">
            <a:avLst/>
          </a:prstGeom>
          <a:noFill/>
          <a:ln/>
        </p:spPr>
        <p:txBody>
          <a:bodyPr wrap="square" lIns="0" tIns="0" rIns="0" bIns="0" rtlCol="0" anchor="ctr"/>
          <a:lstStyle/>
          <a:p>
            <a:pPr algn="ctr" indent="0" marL="0">
              <a:buNone/>
            </a:pPr>
            <a:r>
              <a:rPr lang="en-US" sz="1200" dirty="0">
                <a:solidFill>
                  <a:srgbClr val="1A2433"/>
                </a:solidFill>
              </a:rPr>
              <a:t>Printable A4 hall ticket</a:t>
            </a:r>
            <a:endParaRPr lang="en-US" sz="1200" dirty="0"/>
          </a:p>
        </p:txBody>
      </p:sp>
      <p:sp>
        <p:nvSpPr>
          <p:cNvPr id="20" name="card"/>
          <p:cNvSpPr/>
          <p:nvPr/>
        </p:nvSpPr>
        <p:spPr>
          <a:xfrm>
            <a:off x="4526280" y="1371600"/>
            <a:ext cx="3429000" cy="4800600"/>
          </a:xfrm>
          <a:prstGeom prst="roundRect">
            <a:avLst>
              <a:gd name="adj" fmla="val 3200"/>
            </a:avLst>
          </a:prstGeom>
          <a:solidFill>
            <a:srgbClr val="F3F7FC"/>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21" name="icon circle"/>
          <p:cNvSpPr/>
          <p:nvPr/>
        </p:nvSpPr>
        <p:spPr>
          <a:xfrm>
            <a:off x="4754880" y="1572768"/>
            <a:ext cx="566928" cy="566928"/>
          </a:xfrm>
          <a:prstGeom prst="ellipse">
            <a:avLst/>
          </a:prstGeom>
          <a:solidFill>
            <a:srgbClr val="E3A83B"/>
          </a:solidFill>
          <a:ln w="12700">
            <a:solidFill>
              <a:srgbClr val="E3A83B"/>
            </a:solidFill>
            <a:prstDash val="solid"/>
          </a:ln>
        </p:spPr>
      </p:sp>
      <p:pic>
        <p:nvPicPr>
          <p:cNvPr id="22" name="Image 1" descr="FaServer">    </p:cNvPr>
          <p:cNvPicPr>
            <a:picLocks noChangeAspect="1"/>
          </p:cNvPicPr>
          <p:nvPr/>
        </p:nvPicPr>
        <p:blipFill>
          <a:blip r:embed="rId2"/>
          <a:stretch>
            <a:fillRect/>
          </a:stretch>
        </p:blipFill>
        <p:spPr>
          <a:xfrm>
            <a:off x="4890943" y="1708831"/>
            <a:ext cx="294803" cy="294803"/>
          </a:xfrm>
          <a:prstGeom prst="rect">
            <a:avLst/>
          </a:prstGeom>
        </p:spPr>
      </p:pic>
      <p:sp>
        <p:nvSpPr>
          <p:cNvPr id="23" name="Text 19"/>
          <p:cNvSpPr txBox="1"/>
          <p:nvPr/>
        </p:nvSpPr>
        <p:spPr>
          <a:xfrm>
            <a:off x="5440680" y="1572768"/>
            <a:ext cx="2423160" cy="320040"/>
          </a:xfrm>
          <a:prstGeom prst="rect">
            <a:avLst/>
          </a:prstGeom>
          <a:noFill/>
          <a:ln/>
        </p:spPr>
        <p:txBody>
          <a:bodyPr wrap="square" lIns="0" tIns="0" rIns="0" bIns="0" rtlCol="0" anchor="t"/>
          <a:lstStyle/>
          <a:p>
            <a:pPr indent="0" marL="0">
              <a:buNone/>
            </a:pPr>
            <a:r>
              <a:rPr lang="en-US" sz="1700" b="1" dirty="0">
                <a:solidFill>
                  <a:srgbClr val="0B2545"/>
                </a:solidFill>
              </a:rPr>
              <a:t>Application tier</a:t>
            </a:r>
            <a:endParaRPr lang="en-US" sz="1700" dirty="0"/>
          </a:p>
        </p:txBody>
      </p:sp>
      <p:sp>
        <p:nvSpPr>
          <p:cNvPr id="24" name="Text 20"/>
          <p:cNvSpPr txBox="1"/>
          <p:nvPr/>
        </p:nvSpPr>
        <p:spPr>
          <a:xfrm>
            <a:off x="5440680" y="1892808"/>
            <a:ext cx="2423160" cy="274320"/>
          </a:xfrm>
          <a:prstGeom prst="rect">
            <a:avLst/>
          </a:prstGeom>
          <a:noFill/>
          <a:ln/>
        </p:spPr>
        <p:txBody>
          <a:bodyPr wrap="square" lIns="0" tIns="0" rIns="0" bIns="0" rtlCol="0" anchor="t"/>
          <a:lstStyle/>
          <a:p>
            <a:pPr indent="0" marL="0">
              <a:buNone/>
            </a:pPr>
            <a:r>
              <a:rPr lang="en-US" sz="1200" dirty="0">
                <a:solidFill>
                  <a:srgbClr val="5B7A99"/>
                </a:solidFill>
              </a:rPr>
              <a:t>Node.js · Express 5 REST API</a:t>
            </a:r>
            <a:endParaRPr lang="en-US" sz="1200" dirty="0"/>
          </a:p>
        </p:txBody>
      </p:sp>
      <p:sp>
        <p:nvSpPr>
          <p:cNvPr id="25" name="Middleware: JSON, static files, verifyToken (JWT), checkRole"/>
          <p:cNvSpPr/>
          <p:nvPr/>
        </p:nvSpPr>
        <p:spPr>
          <a:xfrm>
            <a:off x="4754880" y="2377440"/>
            <a:ext cx="2971800" cy="1130808"/>
          </a:xfrm>
          <a:prstGeom prst="roundRect">
            <a:avLst>
              <a:gd name="adj" fmla="val 6469"/>
            </a:avLst>
          </a:prstGeom>
          <a:solidFill>
            <a:srgbClr val="FFFFFF"/>
          </a:solidFill>
          <a:ln w="15875">
            <a:solidFill>
              <a:srgbClr val="E3A83B"/>
            </a:solidFill>
            <a:prstDash val="solid"/>
          </a:ln>
        </p:spPr>
      </p:sp>
      <p:sp>
        <p:nvSpPr>
          <p:cNvPr id="26" name="Text 22"/>
          <p:cNvSpPr txBox="1"/>
          <p:nvPr/>
        </p:nvSpPr>
        <p:spPr>
          <a:xfrm>
            <a:off x="4809744" y="2377440"/>
            <a:ext cx="2862072" cy="1130808"/>
          </a:xfrm>
          <a:prstGeom prst="rect">
            <a:avLst/>
          </a:prstGeom>
          <a:noFill/>
          <a:ln/>
        </p:spPr>
        <p:txBody>
          <a:bodyPr wrap="square" lIns="0" tIns="0" rIns="0" bIns="0" rtlCol="0" anchor="ctr"/>
          <a:lstStyle/>
          <a:p>
            <a:pPr algn="ctr" indent="0" marL="0">
              <a:buNone/>
            </a:pPr>
            <a:r>
              <a:rPr lang="en-US" sz="1200" dirty="0">
                <a:solidFill>
                  <a:srgbClr val="1A2433"/>
                </a:solidFill>
              </a:rPr>
              <a:t>Middleware: JSON, static files, verifyToken (JWT), checkRole</a:t>
            </a:r>
            <a:endParaRPr lang="en-US" sz="1200" dirty="0"/>
          </a:p>
        </p:txBody>
      </p:sp>
      <p:sp>
        <p:nvSpPr>
          <p:cNvPr id="27" name="Routes: auth, admissions, fees, registration, exams, results, notes, assignments, notifications…"/>
          <p:cNvSpPr/>
          <p:nvPr/>
        </p:nvSpPr>
        <p:spPr>
          <a:xfrm>
            <a:off x="4754880" y="3617976"/>
            <a:ext cx="2971800" cy="1130808"/>
          </a:xfrm>
          <a:prstGeom prst="roundRect">
            <a:avLst>
              <a:gd name="adj" fmla="val 6469"/>
            </a:avLst>
          </a:prstGeom>
          <a:solidFill>
            <a:srgbClr val="FFFFFF"/>
          </a:solidFill>
          <a:ln w="15875">
            <a:solidFill>
              <a:srgbClr val="E3A83B"/>
            </a:solidFill>
            <a:prstDash val="solid"/>
          </a:ln>
        </p:spPr>
      </p:sp>
      <p:sp>
        <p:nvSpPr>
          <p:cNvPr id="28" name="Text 24"/>
          <p:cNvSpPr txBox="1"/>
          <p:nvPr/>
        </p:nvSpPr>
        <p:spPr>
          <a:xfrm>
            <a:off x="4809744" y="3617976"/>
            <a:ext cx="2862072" cy="1130808"/>
          </a:xfrm>
          <a:prstGeom prst="rect">
            <a:avLst/>
          </a:prstGeom>
          <a:noFill/>
          <a:ln/>
        </p:spPr>
        <p:txBody>
          <a:bodyPr wrap="square" lIns="0" tIns="0" rIns="0" bIns="0" rtlCol="0" anchor="ctr"/>
          <a:lstStyle/>
          <a:p>
            <a:pPr algn="ctr" indent="0" marL="0">
              <a:buNone/>
            </a:pPr>
            <a:r>
              <a:rPr lang="en-US" sz="1200" dirty="0">
                <a:solidFill>
                  <a:srgbClr val="1A2433"/>
                </a:solidFill>
              </a:rPr>
              <a:t>Routes: auth, admissions, fees, registration, exams, results, notes, assignments, notifications…</a:t>
            </a:r>
            <a:endParaRPr lang="en-US" sz="1200" dirty="0"/>
          </a:p>
        </p:txBody>
      </p:sp>
      <p:sp>
        <p:nvSpPr>
          <p:cNvPr id="29" name="Services: start-up migrations, notifications, fee-reminder scheduler"/>
          <p:cNvSpPr/>
          <p:nvPr/>
        </p:nvSpPr>
        <p:spPr>
          <a:xfrm>
            <a:off x="4754880" y="4858512"/>
            <a:ext cx="2971800" cy="1130808"/>
          </a:xfrm>
          <a:prstGeom prst="roundRect">
            <a:avLst>
              <a:gd name="adj" fmla="val 6469"/>
            </a:avLst>
          </a:prstGeom>
          <a:solidFill>
            <a:srgbClr val="FFFFFF"/>
          </a:solidFill>
          <a:ln w="15875">
            <a:solidFill>
              <a:srgbClr val="E3A83B"/>
            </a:solidFill>
            <a:prstDash val="solid"/>
          </a:ln>
        </p:spPr>
      </p:sp>
      <p:sp>
        <p:nvSpPr>
          <p:cNvPr id="30" name="Text 26"/>
          <p:cNvSpPr txBox="1"/>
          <p:nvPr/>
        </p:nvSpPr>
        <p:spPr>
          <a:xfrm>
            <a:off x="4809744" y="4858512"/>
            <a:ext cx="2862072" cy="1130808"/>
          </a:xfrm>
          <a:prstGeom prst="rect">
            <a:avLst/>
          </a:prstGeom>
          <a:noFill/>
          <a:ln/>
        </p:spPr>
        <p:txBody>
          <a:bodyPr wrap="square" lIns="0" tIns="0" rIns="0" bIns="0" rtlCol="0" anchor="ctr"/>
          <a:lstStyle/>
          <a:p>
            <a:pPr algn="ctr" indent="0" marL="0">
              <a:buNone/>
            </a:pPr>
            <a:r>
              <a:rPr lang="en-US" sz="1200" dirty="0">
                <a:solidFill>
                  <a:srgbClr val="1A2433"/>
                </a:solidFill>
              </a:rPr>
              <a:t>Services: start-up migrations, notifications, fee-reminder scheduler</a:t>
            </a:r>
            <a:endParaRPr lang="en-US" sz="1200" dirty="0"/>
          </a:p>
        </p:txBody>
      </p:sp>
      <p:sp>
        <p:nvSpPr>
          <p:cNvPr id="31" name="card"/>
          <p:cNvSpPr/>
          <p:nvPr/>
        </p:nvSpPr>
        <p:spPr>
          <a:xfrm>
            <a:off x="8823960" y="1371600"/>
            <a:ext cx="2816352" cy="4800600"/>
          </a:xfrm>
          <a:prstGeom prst="roundRect">
            <a:avLst>
              <a:gd name="adj" fmla="val 3896"/>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32" name="icon circle"/>
          <p:cNvSpPr/>
          <p:nvPr/>
        </p:nvSpPr>
        <p:spPr>
          <a:xfrm>
            <a:off x="9052560" y="1572768"/>
            <a:ext cx="566928" cy="566928"/>
          </a:xfrm>
          <a:prstGeom prst="ellipse">
            <a:avLst/>
          </a:prstGeom>
          <a:solidFill>
            <a:srgbClr val="004080"/>
          </a:solidFill>
          <a:ln w="12700">
            <a:solidFill>
              <a:srgbClr val="004080"/>
            </a:solidFill>
            <a:prstDash val="solid"/>
          </a:ln>
        </p:spPr>
      </p:sp>
      <p:pic>
        <p:nvPicPr>
          <p:cNvPr id="33" name="Image 2" descr="FaDatabase">    </p:cNvPr>
          <p:cNvPicPr>
            <a:picLocks noChangeAspect="1"/>
          </p:cNvPicPr>
          <p:nvPr/>
        </p:nvPicPr>
        <p:blipFill>
          <a:blip r:embed="rId3"/>
          <a:stretch>
            <a:fillRect/>
          </a:stretch>
        </p:blipFill>
        <p:spPr>
          <a:xfrm>
            <a:off x="9188623" y="1708831"/>
            <a:ext cx="294803" cy="294803"/>
          </a:xfrm>
          <a:prstGeom prst="rect">
            <a:avLst/>
          </a:prstGeom>
        </p:spPr>
      </p:pic>
      <p:sp>
        <p:nvSpPr>
          <p:cNvPr id="34" name="Text 29"/>
          <p:cNvSpPr txBox="1"/>
          <p:nvPr/>
        </p:nvSpPr>
        <p:spPr>
          <a:xfrm>
            <a:off x="9738360" y="1572768"/>
            <a:ext cx="1810512" cy="320040"/>
          </a:xfrm>
          <a:prstGeom prst="rect">
            <a:avLst/>
          </a:prstGeom>
          <a:noFill/>
          <a:ln/>
        </p:spPr>
        <p:txBody>
          <a:bodyPr wrap="square" lIns="0" tIns="0" rIns="0" bIns="0" rtlCol="0" anchor="t"/>
          <a:lstStyle/>
          <a:p>
            <a:pPr indent="0" marL="0">
              <a:buNone/>
            </a:pPr>
            <a:r>
              <a:rPr lang="en-US" sz="1700" b="1" dirty="0">
                <a:solidFill>
                  <a:srgbClr val="0B2545"/>
                </a:solidFill>
              </a:rPr>
              <a:t>Data tier</a:t>
            </a:r>
            <a:endParaRPr lang="en-US" sz="1700" dirty="0"/>
          </a:p>
        </p:txBody>
      </p:sp>
      <p:sp>
        <p:nvSpPr>
          <p:cNvPr id="35" name="Text 30"/>
          <p:cNvSpPr txBox="1"/>
          <p:nvPr/>
        </p:nvSpPr>
        <p:spPr>
          <a:xfrm>
            <a:off x="9738360" y="1892808"/>
            <a:ext cx="1810512" cy="274320"/>
          </a:xfrm>
          <a:prstGeom prst="rect">
            <a:avLst/>
          </a:prstGeom>
          <a:noFill/>
          <a:ln/>
        </p:spPr>
        <p:txBody>
          <a:bodyPr wrap="square" lIns="0" tIns="0" rIns="0" bIns="0" rtlCol="0" anchor="t"/>
          <a:lstStyle/>
          <a:p>
            <a:pPr indent="0" marL="0">
              <a:buNone/>
            </a:pPr>
            <a:r>
              <a:rPr lang="en-US" sz="1200" dirty="0">
                <a:solidFill>
                  <a:srgbClr val="5B7A99"/>
                </a:solidFill>
              </a:rPr>
              <a:t>MySQL 8 · file storage</a:t>
            </a:r>
            <a:endParaRPr lang="en-US" sz="1200" dirty="0"/>
          </a:p>
        </p:txBody>
      </p:sp>
      <p:sp>
        <p:nvSpPr>
          <p:cNvPr id="36" name="MySQL database dmiseu_chipata_campus — 30 tables"/>
          <p:cNvSpPr/>
          <p:nvPr/>
        </p:nvSpPr>
        <p:spPr>
          <a:xfrm>
            <a:off x="9052560" y="2377440"/>
            <a:ext cx="2359152" cy="1130808"/>
          </a:xfrm>
          <a:prstGeom prst="roundRect">
            <a:avLst>
              <a:gd name="adj" fmla="val 6469"/>
            </a:avLst>
          </a:prstGeom>
          <a:solidFill>
            <a:srgbClr val="EEF3F9"/>
          </a:solidFill>
          <a:ln w="15875">
            <a:solidFill>
              <a:srgbClr val="BFD3EA"/>
            </a:solidFill>
            <a:prstDash val="solid"/>
          </a:ln>
        </p:spPr>
      </p:sp>
      <p:sp>
        <p:nvSpPr>
          <p:cNvPr id="37" name="Text 32"/>
          <p:cNvSpPr txBox="1"/>
          <p:nvPr/>
        </p:nvSpPr>
        <p:spPr>
          <a:xfrm>
            <a:off x="9107424" y="2377440"/>
            <a:ext cx="2249424" cy="1130808"/>
          </a:xfrm>
          <a:prstGeom prst="rect">
            <a:avLst/>
          </a:prstGeom>
          <a:noFill/>
          <a:ln/>
        </p:spPr>
        <p:txBody>
          <a:bodyPr wrap="square" lIns="0" tIns="0" rIns="0" bIns="0" rtlCol="0" anchor="ctr"/>
          <a:lstStyle/>
          <a:p>
            <a:pPr algn="ctr" indent="0" marL="0">
              <a:buNone/>
            </a:pPr>
            <a:r>
              <a:rPr lang="en-US" sz="1200" dirty="0">
                <a:solidFill>
                  <a:srgbClr val="1A2433"/>
                </a:solidFill>
              </a:rPr>
              <a:t>MySQL database dmiseu_chipata_campus — 30 tables</a:t>
            </a:r>
            <a:endParaRPr lang="en-US" sz="1200" dirty="0"/>
          </a:p>
        </p:txBody>
      </p:sp>
      <p:sp>
        <p:nvSpPr>
          <p:cNvPr id="38" name="uploads/ — photos, payment proofs, notes, submissions"/>
          <p:cNvSpPr/>
          <p:nvPr/>
        </p:nvSpPr>
        <p:spPr>
          <a:xfrm>
            <a:off x="9052560" y="3617976"/>
            <a:ext cx="2359152" cy="1130808"/>
          </a:xfrm>
          <a:prstGeom prst="roundRect">
            <a:avLst>
              <a:gd name="adj" fmla="val 6469"/>
            </a:avLst>
          </a:prstGeom>
          <a:solidFill>
            <a:srgbClr val="EEF3F9"/>
          </a:solidFill>
          <a:ln w="15875">
            <a:solidFill>
              <a:srgbClr val="BFD3EA"/>
            </a:solidFill>
            <a:prstDash val="solid"/>
          </a:ln>
        </p:spPr>
      </p:sp>
      <p:sp>
        <p:nvSpPr>
          <p:cNvPr id="39" name="Text 34"/>
          <p:cNvSpPr txBox="1"/>
          <p:nvPr/>
        </p:nvSpPr>
        <p:spPr>
          <a:xfrm>
            <a:off x="9107424" y="3617976"/>
            <a:ext cx="2249424" cy="1130808"/>
          </a:xfrm>
          <a:prstGeom prst="rect">
            <a:avLst/>
          </a:prstGeom>
          <a:noFill/>
          <a:ln/>
        </p:spPr>
        <p:txBody>
          <a:bodyPr wrap="square" lIns="0" tIns="0" rIns="0" bIns="0" rtlCol="0" anchor="ctr"/>
          <a:lstStyle/>
          <a:p>
            <a:pPr algn="ctr" indent="0" marL="0">
              <a:buNone/>
            </a:pPr>
            <a:r>
              <a:rPr lang="en-US" sz="1200" dirty="0">
                <a:solidFill>
                  <a:srgbClr val="1A2433"/>
                </a:solidFill>
              </a:rPr>
              <a:t>uploads/ — photos, payment proofs, notes, submissions</a:t>
            </a:r>
            <a:endParaRPr lang="en-US" sz="1200" dirty="0"/>
          </a:p>
        </p:txBody>
      </p:sp>
      <p:sp>
        <p:nvSpPr>
          <p:cNvPr id="40" name="data/*.json — programmes, fees, grade scale"/>
          <p:cNvSpPr/>
          <p:nvPr/>
        </p:nvSpPr>
        <p:spPr>
          <a:xfrm>
            <a:off x="9052560" y="4858512"/>
            <a:ext cx="2359152" cy="1130808"/>
          </a:xfrm>
          <a:prstGeom prst="roundRect">
            <a:avLst>
              <a:gd name="adj" fmla="val 6469"/>
            </a:avLst>
          </a:prstGeom>
          <a:solidFill>
            <a:srgbClr val="EEF3F9"/>
          </a:solidFill>
          <a:ln w="15875">
            <a:solidFill>
              <a:srgbClr val="BFD3EA"/>
            </a:solidFill>
            <a:prstDash val="solid"/>
          </a:ln>
        </p:spPr>
      </p:sp>
      <p:sp>
        <p:nvSpPr>
          <p:cNvPr id="41" name="Text 36"/>
          <p:cNvSpPr txBox="1"/>
          <p:nvPr/>
        </p:nvSpPr>
        <p:spPr>
          <a:xfrm>
            <a:off x="9107424" y="4858512"/>
            <a:ext cx="2249424" cy="1130808"/>
          </a:xfrm>
          <a:prstGeom prst="rect">
            <a:avLst/>
          </a:prstGeom>
          <a:noFill/>
          <a:ln/>
        </p:spPr>
        <p:txBody>
          <a:bodyPr wrap="square" lIns="0" tIns="0" rIns="0" bIns="0" rtlCol="0" anchor="ctr"/>
          <a:lstStyle/>
          <a:p>
            <a:pPr algn="ctr" indent="0" marL="0">
              <a:buNone/>
            </a:pPr>
            <a:r>
              <a:rPr lang="en-US" sz="1200" dirty="0">
                <a:solidFill>
                  <a:srgbClr val="1A2433"/>
                </a:solidFill>
              </a:rPr>
              <a:t>data/*.json — programmes, fees, grade scale</a:t>
            </a:r>
            <a:endParaRPr lang="en-US" sz="1200" dirty="0"/>
          </a:p>
        </p:txBody>
      </p:sp>
      <p:sp>
        <p:nvSpPr>
          <p:cNvPr id="42" name="connector"/>
          <p:cNvSpPr/>
          <p:nvPr/>
        </p:nvSpPr>
        <p:spPr>
          <a:xfrm>
            <a:off x="3703320" y="3749040"/>
            <a:ext cx="777240" cy="914"/>
          </a:xfrm>
          <a:prstGeom prst="line">
            <a:avLst/>
          </a:prstGeom>
          <a:noFill/>
          <a:ln w="25400">
            <a:solidFill>
              <a:srgbClr val="004080"/>
            </a:solidFill>
            <a:prstDash val="solid"/>
            <a:headEnd type="triangle"/>
            <a:tailEnd type="triangle"/>
          </a:ln>
        </p:spPr>
      </p:sp>
      <p:sp>
        <p:nvSpPr>
          <p:cNvPr id="43" name="Text 38"/>
          <p:cNvSpPr txBox="1"/>
          <p:nvPr/>
        </p:nvSpPr>
        <p:spPr>
          <a:xfrm>
            <a:off x="3639312" y="3886200"/>
            <a:ext cx="914400" cy="685800"/>
          </a:xfrm>
          <a:prstGeom prst="rect">
            <a:avLst/>
          </a:prstGeom>
          <a:noFill/>
          <a:ln/>
        </p:spPr>
        <p:txBody>
          <a:bodyPr wrap="square" lIns="0" tIns="0" rIns="0" bIns="0" rtlCol="0" anchor="t"/>
          <a:lstStyle/>
          <a:p>
            <a:pPr algn="ctr" indent="0" marL="0">
              <a:buNone/>
            </a:pPr>
            <a:r>
              <a:rPr lang="en-US" sz="1000" i="1" dirty="0">
                <a:solidFill>
                  <a:srgbClr val="004080"/>
                </a:solidFill>
              </a:rPr>
              <a:t>HTTPS</a:t>
            </a:r>
            <a:endParaRPr lang="en-US" sz="1000" dirty="0"/>
          </a:p>
          <a:p>
            <a:pPr algn="ctr" indent="0" marL="0">
              <a:buNone/>
            </a:pPr>
            <a:r>
              <a:rPr lang="en-US" sz="1000" i="1" dirty="0">
                <a:solidFill>
                  <a:srgbClr val="004080"/>
                </a:solidFill>
              </a:rPr>
              <a:t>REST · JSON</a:t>
            </a:r>
            <a:endParaRPr lang="en-US" sz="1000" dirty="0"/>
          </a:p>
          <a:p>
            <a:pPr algn="ctr" indent="0" marL="0">
              <a:buNone/>
            </a:pPr>
            <a:r>
              <a:rPr lang="en-US" sz="1000" i="1" dirty="0">
                <a:solidFill>
                  <a:srgbClr val="004080"/>
                </a:solidFill>
              </a:rPr>
              <a:t>+ JWT</a:t>
            </a:r>
            <a:endParaRPr lang="en-US" sz="1000" dirty="0"/>
          </a:p>
        </p:txBody>
      </p:sp>
      <p:sp>
        <p:nvSpPr>
          <p:cNvPr id="44" name="connector"/>
          <p:cNvSpPr/>
          <p:nvPr/>
        </p:nvSpPr>
        <p:spPr>
          <a:xfrm>
            <a:off x="8001000" y="3749040"/>
            <a:ext cx="777240" cy="914"/>
          </a:xfrm>
          <a:prstGeom prst="line">
            <a:avLst/>
          </a:prstGeom>
          <a:noFill/>
          <a:ln w="25400">
            <a:solidFill>
              <a:srgbClr val="004080"/>
            </a:solidFill>
            <a:prstDash val="solid"/>
            <a:headEnd type="triangle"/>
            <a:tailEnd type="triangle"/>
          </a:ln>
        </p:spPr>
      </p:sp>
      <p:sp>
        <p:nvSpPr>
          <p:cNvPr id="45" name="Text 40"/>
          <p:cNvSpPr txBox="1"/>
          <p:nvPr/>
        </p:nvSpPr>
        <p:spPr>
          <a:xfrm>
            <a:off x="7936992" y="3886200"/>
            <a:ext cx="914400" cy="685800"/>
          </a:xfrm>
          <a:prstGeom prst="rect">
            <a:avLst/>
          </a:prstGeom>
          <a:noFill/>
          <a:ln/>
        </p:spPr>
        <p:txBody>
          <a:bodyPr wrap="square" lIns="0" tIns="0" rIns="0" bIns="0" rtlCol="0" anchor="t"/>
          <a:lstStyle/>
          <a:p>
            <a:pPr algn="ctr" indent="0" marL="0">
              <a:buNone/>
            </a:pPr>
            <a:r>
              <a:rPr lang="en-US" sz="1000" i="1" dirty="0">
                <a:solidFill>
                  <a:srgbClr val="004080"/>
                </a:solidFill>
              </a:rPr>
              <a:t>mysql2 pool</a:t>
            </a:r>
            <a:endParaRPr lang="en-US" sz="1000" dirty="0"/>
          </a:p>
          <a:p>
            <a:pPr algn="ctr" indent="0" marL="0">
              <a:buNone/>
            </a:pPr>
            <a:r>
              <a:rPr lang="en-US" sz="1000" i="1" dirty="0">
                <a:solidFill>
                  <a:srgbClr val="004080"/>
                </a:solidFill>
              </a:rPr>
              <a:t>SQL with ?</a:t>
            </a:r>
            <a:endParaRPr lang="en-US" sz="1000" dirty="0"/>
          </a:p>
          <a:p>
            <a:pPr algn="ctr" indent="0" marL="0">
              <a:buNone/>
            </a:pPr>
            <a:r>
              <a:rPr lang="en-US" sz="1000" i="1" dirty="0">
                <a:solidFill>
                  <a:srgbClr val="004080"/>
                </a:solidFill>
              </a:rPr>
              <a:t>parameters</a:t>
            </a:r>
            <a:endParaRPr lang="en-US" sz="10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Data flow diagram: context (Level 0)</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2nd Review</a:t>
            </a:r>
            <a:endParaRPr lang="en-US" sz="1100" dirty="0"/>
          </a:p>
        </p:txBody>
      </p:sp>
      <p:sp>
        <p:nvSpPr>
          <p:cNvPr id="5" name="process 0"/>
          <p:cNvSpPr/>
          <p:nvPr/>
        </p:nvSpPr>
        <p:spPr>
          <a:xfrm>
            <a:off x="4951476" y="2651760"/>
            <a:ext cx="2286000" cy="2286000"/>
          </a:xfrm>
          <a:prstGeom prst="ellipse">
            <a:avLst/>
          </a:prstGeom>
          <a:solidFill>
            <a:srgbClr val="0B2545"/>
          </a:solidFill>
          <a:ln w="12700">
            <a:solidFill>
              <a:srgbClr val="0B2545"/>
            </a:solidFill>
            <a:prstDash val="solid"/>
          </a:ln>
        </p:spPr>
      </p:sp>
      <p:sp>
        <p:nvSpPr>
          <p:cNvPr id="6" name="Text 4"/>
          <p:cNvSpPr txBox="1"/>
          <p:nvPr/>
        </p:nvSpPr>
        <p:spPr>
          <a:xfrm>
            <a:off x="5180076" y="2651760"/>
            <a:ext cx="1828800" cy="2286000"/>
          </a:xfrm>
          <a:prstGeom prst="rect">
            <a:avLst/>
          </a:prstGeom>
          <a:noFill/>
          <a:ln/>
        </p:spPr>
        <p:txBody>
          <a:bodyPr wrap="square" lIns="0" tIns="0" rIns="0" bIns="0" rtlCol="0" anchor="ctr"/>
          <a:lstStyle/>
          <a:p>
            <a:pPr algn="ctr" indent="0" marL="0">
              <a:buNone/>
            </a:pPr>
            <a:r>
              <a:rPr lang="en-US" sz="1400" dirty="0">
                <a:solidFill>
                  <a:srgbClr val="E3A83B"/>
                </a:solidFill>
                <a:latin typeface="Cambria" pitchFamily="34" charset="0"/>
                <a:ea typeface="Cambria" pitchFamily="34" charset="-122"/>
                <a:cs typeface="Cambria" pitchFamily="34" charset="-120"/>
              </a:rPr>
              <a:t>0</a:t>
            </a:r>
            <a:endParaRPr lang="en-US" sz="1500" dirty="0"/>
          </a:p>
          <a:p>
            <a:pPr algn="ctr" indent="0" marL="0">
              <a:buNone/>
            </a:pPr>
            <a:r>
              <a:rPr lang="en-US" sz="1700" b="1" dirty="0">
                <a:solidFill>
                  <a:srgbClr val="FFFFFF"/>
                </a:solidFill>
                <a:latin typeface="Cambria" pitchFamily="34" charset="0"/>
                <a:ea typeface="Cambria" pitchFamily="34" charset="-122"/>
                <a:cs typeface="Cambria" pitchFamily="34" charset="-120"/>
              </a:rPr>
              <a:t>Online School Portal</a:t>
            </a:r>
            <a:endParaRPr lang="en-US" sz="1500" dirty="0"/>
          </a:p>
        </p:txBody>
      </p:sp>
      <p:sp>
        <p:nvSpPr>
          <p:cNvPr id="7" name="Applicant"/>
          <p:cNvSpPr/>
          <p:nvPr/>
        </p:nvSpPr>
        <p:spPr>
          <a:xfrm>
            <a:off x="548640" y="1325880"/>
            <a:ext cx="2377440" cy="731520"/>
          </a:xfrm>
          <a:prstGeom prst="rect">
            <a:avLst>
              <a:gd name="adj" fmla="val 10000"/>
            </a:avLst>
          </a:prstGeom>
          <a:solidFill>
            <a:srgbClr val="EEF3F9"/>
          </a:solidFill>
          <a:ln w="15875">
            <a:solidFill>
              <a:srgbClr val="004080"/>
            </a:solidFill>
            <a:prstDash val="solid"/>
          </a:ln>
        </p:spPr>
      </p:sp>
      <p:sp>
        <p:nvSpPr>
          <p:cNvPr id="8" name="Text 6"/>
          <p:cNvSpPr txBox="1"/>
          <p:nvPr/>
        </p:nvSpPr>
        <p:spPr>
          <a:xfrm>
            <a:off x="603504" y="1325880"/>
            <a:ext cx="2267712" cy="731520"/>
          </a:xfrm>
          <a:prstGeom prst="rect">
            <a:avLst/>
          </a:prstGeom>
          <a:noFill/>
          <a:ln/>
        </p:spPr>
        <p:txBody>
          <a:bodyPr wrap="square" lIns="0" tIns="0" rIns="0" bIns="0" rtlCol="0" anchor="ctr"/>
          <a:lstStyle/>
          <a:p>
            <a:pPr algn="ctr" indent="0" marL="0">
              <a:buNone/>
            </a:pPr>
            <a:r>
              <a:rPr lang="en-US" sz="1300" b="1" dirty="0">
                <a:solidFill>
                  <a:srgbClr val="0B2545"/>
                </a:solidFill>
              </a:rPr>
              <a:t>Applicant</a:t>
            </a:r>
            <a:endParaRPr lang="en-US" sz="1300" dirty="0"/>
          </a:p>
        </p:txBody>
      </p:sp>
      <p:sp>
        <p:nvSpPr>
          <p:cNvPr id="9" name="connector"/>
          <p:cNvSpPr/>
          <p:nvPr/>
        </p:nvSpPr>
        <p:spPr>
          <a:xfrm>
            <a:off x="2981706" y="1607838"/>
            <a:ext cx="2216096" cy="1471002"/>
          </a:xfrm>
          <a:prstGeom prst="line">
            <a:avLst/>
          </a:prstGeom>
          <a:noFill/>
          <a:ln w="15875">
            <a:solidFill>
              <a:srgbClr val="004080"/>
            </a:solidFill>
            <a:prstDash val="solid"/>
            <a:tailEnd type="triangle"/>
          </a:ln>
        </p:spPr>
      </p:sp>
      <p:sp>
        <p:nvSpPr>
          <p:cNvPr id="10" name="connector"/>
          <p:cNvSpPr/>
          <p:nvPr/>
        </p:nvSpPr>
        <p:spPr>
          <a:xfrm flipH="1" flipV="1">
            <a:off x="2870454" y="1775442"/>
            <a:ext cx="2216096" cy="1471002"/>
          </a:xfrm>
          <a:prstGeom prst="line">
            <a:avLst/>
          </a:prstGeom>
          <a:noFill/>
          <a:ln w="15875">
            <a:solidFill>
              <a:srgbClr val="E3A83B"/>
            </a:solidFill>
            <a:prstDash val="solid"/>
            <a:tailEnd type="triangle"/>
          </a:ln>
        </p:spPr>
      </p:sp>
      <p:sp>
        <p:nvSpPr>
          <p:cNvPr id="11" name="Text 9"/>
          <p:cNvSpPr txBox="1"/>
          <p:nvPr/>
        </p:nvSpPr>
        <p:spPr>
          <a:xfrm>
            <a:off x="2936848" y="1823637"/>
            <a:ext cx="2194560" cy="228600"/>
          </a:xfrm>
          <a:prstGeom prst="rect">
            <a:avLst/>
          </a:prstGeom>
          <a:solidFill>
            <a:srgbClr val="FFFFFF"/>
          </a:solidFill>
          <a:ln/>
        </p:spPr>
        <p:txBody>
          <a:bodyPr wrap="square" lIns="0" tIns="0" rIns="0" bIns="0" rtlCol="0" anchor="t"/>
          <a:lstStyle/>
          <a:p>
            <a:pPr algn="ctr" indent="0" marL="0">
              <a:buNone/>
            </a:pPr>
            <a:r>
              <a:rPr lang="en-US" sz="1000" i="1" dirty="0">
                <a:solidFill>
                  <a:srgbClr val="004080"/>
                </a:solidFill>
              </a:rPr>
              <a:t>→ application &amp; documents</a:t>
            </a:r>
            <a:endParaRPr lang="en-US" sz="1000" dirty="0"/>
          </a:p>
        </p:txBody>
      </p:sp>
      <p:sp>
        <p:nvSpPr>
          <p:cNvPr id="12" name="Text 10"/>
          <p:cNvSpPr txBox="1"/>
          <p:nvPr/>
        </p:nvSpPr>
        <p:spPr>
          <a:xfrm>
            <a:off x="2936848" y="2061381"/>
            <a:ext cx="2194560" cy="228600"/>
          </a:xfrm>
          <a:prstGeom prst="rect">
            <a:avLst/>
          </a:prstGeom>
          <a:solidFill>
            <a:srgbClr val="FFFFFF"/>
          </a:solidFill>
          <a:ln/>
        </p:spPr>
        <p:txBody>
          <a:bodyPr wrap="square" lIns="0" tIns="0" rIns="0" bIns="0" rtlCol="0" anchor="t"/>
          <a:lstStyle/>
          <a:p>
            <a:pPr algn="ctr" indent="0" marL="0">
              <a:buNone/>
            </a:pPr>
            <a:r>
              <a:rPr lang="en-US" sz="1000" i="1" dirty="0">
                <a:solidFill>
                  <a:srgbClr val="A0711C"/>
                </a:solidFill>
              </a:rPr>
              <a:t>← admission decision</a:t>
            </a:r>
            <a:endParaRPr lang="en-US" sz="1000" dirty="0"/>
          </a:p>
        </p:txBody>
      </p:sp>
      <p:sp>
        <p:nvSpPr>
          <p:cNvPr id="13" name="Student"/>
          <p:cNvSpPr/>
          <p:nvPr/>
        </p:nvSpPr>
        <p:spPr>
          <a:xfrm>
            <a:off x="548640" y="3063240"/>
            <a:ext cx="2377440" cy="731520"/>
          </a:xfrm>
          <a:prstGeom prst="rect">
            <a:avLst>
              <a:gd name="adj" fmla="val 10000"/>
            </a:avLst>
          </a:prstGeom>
          <a:solidFill>
            <a:srgbClr val="EEF3F9"/>
          </a:solidFill>
          <a:ln w="15875">
            <a:solidFill>
              <a:srgbClr val="004080"/>
            </a:solidFill>
            <a:prstDash val="solid"/>
          </a:ln>
        </p:spPr>
      </p:sp>
      <p:sp>
        <p:nvSpPr>
          <p:cNvPr id="14" name="Text 12"/>
          <p:cNvSpPr txBox="1"/>
          <p:nvPr/>
        </p:nvSpPr>
        <p:spPr>
          <a:xfrm>
            <a:off x="603504" y="3063240"/>
            <a:ext cx="2267712" cy="731520"/>
          </a:xfrm>
          <a:prstGeom prst="rect">
            <a:avLst/>
          </a:prstGeom>
          <a:noFill/>
          <a:ln/>
        </p:spPr>
        <p:txBody>
          <a:bodyPr wrap="square" lIns="0" tIns="0" rIns="0" bIns="0" rtlCol="0" anchor="ctr"/>
          <a:lstStyle/>
          <a:p>
            <a:pPr algn="ctr" indent="0" marL="0">
              <a:buNone/>
            </a:pPr>
            <a:r>
              <a:rPr lang="en-US" sz="1300" b="1" dirty="0">
                <a:solidFill>
                  <a:srgbClr val="0B2545"/>
                </a:solidFill>
              </a:rPr>
              <a:t>Student</a:t>
            </a:r>
            <a:endParaRPr lang="en-US" sz="1300" dirty="0"/>
          </a:p>
        </p:txBody>
      </p:sp>
      <p:sp>
        <p:nvSpPr>
          <p:cNvPr id="15" name="connector"/>
          <p:cNvSpPr/>
          <p:nvPr/>
        </p:nvSpPr>
        <p:spPr>
          <a:xfrm>
            <a:off x="2937615" y="3329080"/>
            <a:ext cx="2032937" cy="234682"/>
          </a:xfrm>
          <a:prstGeom prst="line">
            <a:avLst/>
          </a:prstGeom>
          <a:noFill/>
          <a:ln w="15875">
            <a:solidFill>
              <a:srgbClr val="004080"/>
            </a:solidFill>
            <a:prstDash val="solid"/>
            <a:tailEnd type="triangle"/>
          </a:ln>
        </p:spPr>
      </p:sp>
      <p:sp>
        <p:nvSpPr>
          <p:cNvPr id="16" name="connector"/>
          <p:cNvSpPr/>
          <p:nvPr/>
        </p:nvSpPr>
        <p:spPr>
          <a:xfrm flipH="1" flipV="1">
            <a:off x="2914545" y="3528920"/>
            <a:ext cx="2032937" cy="234682"/>
          </a:xfrm>
          <a:prstGeom prst="line">
            <a:avLst/>
          </a:prstGeom>
          <a:noFill/>
          <a:ln w="15875">
            <a:solidFill>
              <a:srgbClr val="E3A83B"/>
            </a:solidFill>
            <a:prstDash val="solid"/>
            <a:tailEnd type="triangle"/>
          </a:ln>
        </p:spPr>
      </p:sp>
      <p:sp>
        <p:nvSpPr>
          <p:cNvPr id="17" name="Text 15"/>
          <p:cNvSpPr txBox="1"/>
          <p:nvPr/>
        </p:nvSpPr>
        <p:spPr>
          <a:xfrm>
            <a:off x="2845268" y="2942837"/>
            <a:ext cx="2194560" cy="228600"/>
          </a:xfrm>
          <a:prstGeom prst="rect">
            <a:avLst/>
          </a:prstGeom>
          <a:solidFill>
            <a:srgbClr val="FFFFFF"/>
          </a:solidFill>
          <a:ln/>
        </p:spPr>
        <p:txBody>
          <a:bodyPr wrap="square" lIns="0" tIns="0" rIns="0" bIns="0" rtlCol="0" anchor="t"/>
          <a:lstStyle/>
          <a:p>
            <a:pPr algn="ctr" indent="0" marL="0">
              <a:buNone/>
            </a:pPr>
            <a:r>
              <a:rPr lang="en-US" sz="1000" i="1" dirty="0">
                <a:solidFill>
                  <a:srgbClr val="004080"/>
                </a:solidFill>
              </a:rPr>
              <a:t>→ registration, proofs, submissions</a:t>
            </a:r>
            <a:endParaRPr lang="en-US" sz="1000" dirty="0"/>
          </a:p>
        </p:txBody>
      </p:sp>
      <p:sp>
        <p:nvSpPr>
          <p:cNvPr id="18" name="Text 16"/>
          <p:cNvSpPr txBox="1"/>
          <p:nvPr/>
        </p:nvSpPr>
        <p:spPr>
          <a:xfrm>
            <a:off x="2845268" y="3180581"/>
            <a:ext cx="2194560" cy="228600"/>
          </a:xfrm>
          <a:prstGeom prst="rect">
            <a:avLst/>
          </a:prstGeom>
          <a:solidFill>
            <a:srgbClr val="FFFFFF"/>
          </a:solidFill>
          <a:ln/>
        </p:spPr>
        <p:txBody>
          <a:bodyPr wrap="square" lIns="0" tIns="0" rIns="0" bIns="0" rtlCol="0" anchor="t"/>
          <a:lstStyle/>
          <a:p>
            <a:pPr algn="ctr" indent="0" marL="0">
              <a:buNone/>
            </a:pPr>
            <a:r>
              <a:rPr lang="en-US" sz="1000" i="1" dirty="0">
                <a:solidFill>
                  <a:srgbClr val="A0711C"/>
                </a:solidFill>
              </a:rPr>
              <a:t>← statement, results, hall ticket</a:t>
            </a:r>
            <a:endParaRPr lang="en-US" sz="1000" dirty="0"/>
          </a:p>
        </p:txBody>
      </p:sp>
      <p:sp>
        <p:nvSpPr>
          <p:cNvPr id="19" name="Lecturer / Class Advisor"/>
          <p:cNvSpPr/>
          <p:nvPr/>
        </p:nvSpPr>
        <p:spPr>
          <a:xfrm>
            <a:off x="548640" y="4800600"/>
            <a:ext cx="2377440" cy="731520"/>
          </a:xfrm>
          <a:prstGeom prst="rect">
            <a:avLst>
              <a:gd name="adj" fmla="val 10000"/>
            </a:avLst>
          </a:prstGeom>
          <a:solidFill>
            <a:srgbClr val="EEF3F9"/>
          </a:solidFill>
          <a:ln w="15875">
            <a:solidFill>
              <a:srgbClr val="004080"/>
            </a:solidFill>
            <a:prstDash val="solid"/>
          </a:ln>
        </p:spPr>
      </p:sp>
      <p:sp>
        <p:nvSpPr>
          <p:cNvPr id="20" name="Text 18"/>
          <p:cNvSpPr txBox="1"/>
          <p:nvPr/>
        </p:nvSpPr>
        <p:spPr>
          <a:xfrm>
            <a:off x="603504" y="4800600"/>
            <a:ext cx="2267712" cy="731520"/>
          </a:xfrm>
          <a:prstGeom prst="rect">
            <a:avLst/>
          </a:prstGeom>
          <a:noFill/>
          <a:ln/>
        </p:spPr>
        <p:txBody>
          <a:bodyPr wrap="square" lIns="0" tIns="0" rIns="0" bIns="0" rtlCol="0" anchor="ctr"/>
          <a:lstStyle/>
          <a:p>
            <a:pPr algn="ctr" indent="0" marL="0">
              <a:buNone/>
            </a:pPr>
            <a:r>
              <a:rPr lang="en-US" sz="1300" b="1" dirty="0">
                <a:solidFill>
                  <a:srgbClr val="0B2545"/>
                </a:solidFill>
              </a:rPr>
              <a:t>Lecturer / Class Advisor</a:t>
            </a:r>
            <a:endParaRPr lang="en-US" sz="1300" dirty="0"/>
          </a:p>
        </p:txBody>
      </p:sp>
      <p:sp>
        <p:nvSpPr>
          <p:cNvPr id="21" name="connector"/>
          <p:cNvSpPr/>
          <p:nvPr/>
        </p:nvSpPr>
        <p:spPr>
          <a:xfrm flipV="1">
            <a:off x="2886121" y="4156537"/>
            <a:ext cx="2119464" cy="917517"/>
          </a:xfrm>
          <a:prstGeom prst="line">
            <a:avLst/>
          </a:prstGeom>
          <a:noFill/>
          <a:ln w="15875">
            <a:solidFill>
              <a:srgbClr val="004080"/>
            </a:solidFill>
            <a:prstDash val="solid"/>
            <a:tailEnd type="triangle"/>
          </a:ln>
        </p:spPr>
      </p:sp>
      <p:sp>
        <p:nvSpPr>
          <p:cNvPr id="22" name="connector"/>
          <p:cNvSpPr/>
          <p:nvPr/>
        </p:nvSpPr>
        <p:spPr>
          <a:xfrm flipH="1">
            <a:off x="2966039" y="4341149"/>
            <a:ext cx="2119464" cy="917517"/>
          </a:xfrm>
          <a:prstGeom prst="line">
            <a:avLst/>
          </a:prstGeom>
          <a:noFill/>
          <a:ln w="15875">
            <a:solidFill>
              <a:srgbClr val="E3A83B"/>
            </a:solidFill>
            <a:prstDash val="solid"/>
            <a:tailEnd type="triangle"/>
          </a:ln>
        </p:spPr>
      </p:sp>
      <p:sp>
        <p:nvSpPr>
          <p:cNvPr id="23" name="Text 21"/>
          <p:cNvSpPr txBox="1"/>
          <p:nvPr/>
        </p:nvSpPr>
        <p:spPr>
          <a:xfrm>
            <a:off x="2888532" y="4835617"/>
            <a:ext cx="2194560" cy="228600"/>
          </a:xfrm>
          <a:prstGeom prst="rect">
            <a:avLst/>
          </a:prstGeom>
          <a:solidFill>
            <a:srgbClr val="FFFFFF"/>
          </a:solidFill>
          <a:ln/>
        </p:spPr>
        <p:txBody>
          <a:bodyPr wrap="square" lIns="0" tIns="0" rIns="0" bIns="0" rtlCol="0" anchor="t"/>
          <a:lstStyle/>
          <a:p>
            <a:pPr algn="ctr" indent="0" marL="0">
              <a:buNone/>
            </a:pPr>
            <a:r>
              <a:rPr lang="en-US" sz="1000" i="1" dirty="0">
                <a:solidFill>
                  <a:srgbClr val="004080"/>
                </a:solidFill>
              </a:rPr>
              <a:t>→ notes, marks, approvals</a:t>
            </a:r>
            <a:endParaRPr lang="en-US" sz="1000" dirty="0"/>
          </a:p>
        </p:txBody>
      </p:sp>
      <p:sp>
        <p:nvSpPr>
          <p:cNvPr id="24" name="Text 22"/>
          <p:cNvSpPr txBox="1"/>
          <p:nvPr/>
        </p:nvSpPr>
        <p:spPr>
          <a:xfrm>
            <a:off x="2888532" y="5073361"/>
            <a:ext cx="2194560" cy="228600"/>
          </a:xfrm>
          <a:prstGeom prst="rect">
            <a:avLst/>
          </a:prstGeom>
          <a:solidFill>
            <a:srgbClr val="FFFFFF"/>
          </a:solidFill>
          <a:ln/>
        </p:spPr>
        <p:txBody>
          <a:bodyPr wrap="square" lIns="0" tIns="0" rIns="0" bIns="0" rtlCol="0" anchor="t"/>
          <a:lstStyle/>
          <a:p>
            <a:pPr algn="ctr" indent="0" marL="0">
              <a:buNone/>
            </a:pPr>
            <a:r>
              <a:rPr lang="en-US" sz="1000" i="1" dirty="0">
                <a:solidFill>
                  <a:srgbClr val="A0711C"/>
                </a:solidFill>
              </a:rPr>
              <a:t>← class lists, submissions</a:t>
            </a:r>
            <a:endParaRPr lang="en-US" sz="1000" dirty="0"/>
          </a:p>
        </p:txBody>
      </p:sp>
      <p:sp>
        <p:nvSpPr>
          <p:cNvPr id="25" name="Accounts office"/>
          <p:cNvSpPr/>
          <p:nvPr/>
        </p:nvSpPr>
        <p:spPr>
          <a:xfrm>
            <a:off x="9262872" y="1325880"/>
            <a:ext cx="2377440" cy="731520"/>
          </a:xfrm>
          <a:prstGeom prst="rect">
            <a:avLst>
              <a:gd name="adj" fmla="val 10000"/>
            </a:avLst>
          </a:prstGeom>
          <a:solidFill>
            <a:srgbClr val="EEF3F9"/>
          </a:solidFill>
          <a:ln w="15875">
            <a:solidFill>
              <a:srgbClr val="004080"/>
            </a:solidFill>
            <a:prstDash val="solid"/>
          </a:ln>
        </p:spPr>
      </p:sp>
      <p:sp>
        <p:nvSpPr>
          <p:cNvPr id="26" name="Text 24"/>
          <p:cNvSpPr txBox="1"/>
          <p:nvPr/>
        </p:nvSpPr>
        <p:spPr>
          <a:xfrm>
            <a:off x="9317736" y="1325880"/>
            <a:ext cx="2267712" cy="731520"/>
          </a:xfrm>
          <a:prstGeom prst="rect">
            <a:avLst/>
          </a:prstGeom>
          <a:noFill/>
          <a:ln/>
        </p:spPr>
        <p:txBody>
          <a:bodyPr wrap="square" lIns="0" tIns="0" rIns="0" bIns="0" rtlCol="0" anchor="ctr"/>
          <a:lstStyle/>
          <a:p>
            <a:pPr algn="ctr" indent="0" marL="0">
              <a:buNone/>
            </a:pPr>
            <a:r>
              <a:rPr lang="en-US" sz="1300" b="1" dirty="0">
                <a:solidFill>
                  <a:srgbClr val="0B2545"/>
                </a:solidFill>
              </a:rPr>
              <a:t>Accounts office</a:t>
            </a:r>
            <a:endParaRPr lang="en-US" sz="1300" dirty="0"/>
          </a:p>
        </p:txBody>
      </p:sp>
      <p:sp>
        <p:nvSpPr>
          <p:cNvPr id="27" name="connector"/>
          <p:cNvSpPr/>
          <p:nvPr/>
        </p:nvSpPr>
        <p:spPr>
          <a:xfrm flipH="1">
            <a:off x="7102402" y="1775442"/>
            <a:ext cx="2216096" cy="1471002"/>
          </a:xfrm>
          <a:prstGeom prst="line">
            <a:avLst/>
          </a:prstGeom>
          <a:noFill/>
          <a:ln w="15875">
            <a:solidFill>
              <a:srgbClr val="004080"/>
            </a:solidFill>
            <a:prstDash val="solid"/>
            <a:tailEnd type="triangle"/>
          </a:ln>
        </p:spPr>
      </p:sp>
      <p:sp>
        <p:nvSpPr>
          <p:cNvPr id="28" name="connector"/>
          <p:cNvSpPr/>
          <p:nvPr/>
        </p:nvSpPr>
        <p:spPr>
          <a:xfrm flipV="1">
            <a:off x="6991150" y="1607838"/>
            <a:ext cx="2216096" cy="1471002"/>
          </a:xfrm>
          <a:prstGeom prst="line">
            <a:avLst/>
          </a:prstGeom>
          <a:noFill/>
          <a:ln w="15875">
            <a:solidFill>
              <a:srgbClr val="E3A83B"/>
            </a:solidFill>
            <a:prstDash val="solid"/>
            <a:tailEnd type="triangle"/>
          </a:ln>
        </p:spPr>
      </p:sp>
      <p:sp>
        <p:nvSpPr>
          <p:cNvPr id="29" name="Text 27"/>
          <p:cNvSpPr txBox="1"/>
          <p:nvPr/>
        </p:nvSpPr>
        <p:spPr>
          <a:xfrm>
            <a:off x="7057544" y="1823637"/>
            <a:ext cx="2194560" cy="228600"/>
          </a:xfrm>
          <a:prstGeom prst="rect">
            <a:avLst/>
          </a:prstGeom>
          <a:solidFill>
            <a:srgbClr val="FFFFFF"/>
          </a:solidFill>
          <a:ln/>
        </p:spPr>
        <p:txBody>
          <a:bodyPr wrap="square" lIns="0" tIns="0" rIns="0" bIns="0" rtlCol="0" anchor="t"/>
          <a:lstStyle/>
          <a:p>
            <a:pPr algn="ctr" indent="0" marL="0">
              <a:buNone/>
            </a:pPr>
            <a:r>
              <a:rPr lang="en-US" sz="1000" i="1" dirty="0">
                <a:solidFill>
                  <a:srgbClr val="004080"/>
                </a:solidFill>
              </a:rPr>
              <a:t>→ payments, verifications</a:t>
            </a:r>
            <a:endParaRPr lang="en-US" sz="1000" dirty="0"/>
          </a:p>
        </p:txBody>
      </p:sp>
      <p:sp>
        <p:nvSpPr>
          <p:cNvPr id="30" name="Text 28"/>
          <p:cNvSpPr txBox="1"/>
          <p:nvPr/>
        </p:nvSpPr>
        <p:spPr>
          <a:xfrm>
            <a:off x="7057544" y="2061381"/>
            <a:ext cx="2194560" cy="228600"/>
          </a:xfrm>
          <a:prstGeom prst="rect">
            <a:avLst/>
          </a:prstGeom>
          <a:solidFill>
            <a:srgbClr val="FFFFFF"/>
          </a:solidFill>
          <a:ln/>
        </p:spPr>
        <p:txBody>
          <a:bodyPr wrap="square" lIns="0" tIns="0" rIns="0" bIns="0" rtlCol="0" anchor="t"/>
          <a:lstStyle/>
          <a:p>
            <a:pPr algn="ctr" indent="0" marL="0">
              <a:buNone/>
            </a:pPr>
            <a:r>
              <a:rPr lang="en-US" sz="1000" i="1" dirty="0">
                <a:solidFill>
                  <a:srgbClr val="A0711C"/>
                </a:solidFill>
              </a:rPr>
              <a:t>← ledger, proofs to verify</a:t>
            </a:r>
            <a:endParaRPr lang="en-US" sz="1000" dirty="0"/>
          </a:p>
        </p:txBody>
      </p:sp>
      <p:sp>
        <p:nvSpPr>
          <p:cNvPr id="31" name="HOD &amp; Dean of Students"/>
          <p:cNvSpPr/>
          <p:nvPr/>
        </p:nvSpPr>
        <p:spPr>
          <a:xfrm>
            <a:off x="9262872" y="3063240"/>
            <a:ext cx="2377440" cy="731520"/>
          </a:xfrm>
          <a:prstGeom prst="rect">
            <a:avLst>
              <a:gd name="adj" fmla="val 10000"/>
            </a:avLst>
          </a:prstGeom>
          <a:solidFill>
            <a:srgbClr val="EEF3F9"/>
          </a:solidFill>
          <a:ln w="15875">
            <a:solidFill>
              <a:srgbClr val="004080"/>
            </a:solidFill>
            <a:prstDash val="solid"/>
          </a:ln>
        </p:spPr>
      </p:sp>
      <p:sp>
        <p:nvSpPr>
          <p:cNvPr id="32" name="Text 30"/>
          <p:cNvSpPr txBox="1"/>
          <p:nvPr/>
        </p:nvSpPr>
        <p:spPr>
          <a:xfrm>
            <a:off x="9317736" y="3063240"/>
            <a:ext cx="2267712" cy="731520"/>
          </a:xfrm>
          <a:prstGeom prst="rect">
            <a:avLst/>
          </a:prstGeom>
          <a:noFill/>
          <a:ln/>
        </p:spPr>
        <p:txBody>
          <a:bodyPr wrap="square" lIns="0" tIns="0" rIns="0" bIns="0" rtlCol="0" anchor="ctr"/>
          <a:lstStyle/>
          <a:p>
            <a:pPr algn="ctr" indent="0" marL="0">
              <a:buNone/>
            </a:pPr>
            <a:r>
              <a:rPr lang="en-US" sz="1300" b="1" dirty="0">
                <a:solidFill>
                  <a:srgbClr val="0B2545"/>
                </a:solidFill>
              </a:rPr>
              <a:t>HOD &amp; Dean of Students</a:t>
            </a:r>
            <a:endParaRPr lang="en-US" sz="1300" dirty="0"/>
          </a:p>
        </p:txBody>
      </p:sp>
      <p:sp>
        <p:nvSpPr>
          <p:cNvPr id="33" name="connector"/>
          <p:cNvSpPr/>
          <p:nvPr/>
        </p:nvSpPr>
        <p:spPr>
          <a:xfrm flipH="1">
            <a:off x="7241470" y="3528920"/>
            <a:ext cx="2032937" cy="234682"/>
          </a:xfrm>
          <a:prstGeom prst="line">
            <a:avLst/>
          </a:prstGeom>
          <a:noFill/>
          <a:ln w="15875">
            <a:solidFill>
              <a:srgbClr val="004080"/>
            </a:solidFill>
            <a:prstDash val="solid"/>
            <a:tailEnd type="triangle"/>
          </a:ln>
        </p:spPr>
      </p:sp>
      <p:sp>
        <p:nvSpPr>
          <p:cNvPr id="34" name="connector"/>
          <p:cNvSpPr/>
          <p:nvPr/>
        </p:nvSpPr>
        <p:spPr>
          <a:xfrm flipV="1">
            <a:off x="7218400" y="3329080"/>
            <a:ext cx="2032937" cy="234682"/>
          </a:xfrm>
          <a:prstGeom prst="line">
            <a:avLst/>
          </a:prstGeom>
          <a:noFill/>
          <a:ln w="15875">
            <a:solidFill>
              <a:srgbClr val="E3A83B"/>
            </a:solidFill>
            <a:prstDash val="solid"/>
            <a:tailEnd type="triangle"/>
          </a:ln>
        </p:spPr>
      </p:sp>
      <p:sp>
        <p:nvSpPr>
          <p:cNvPr id="35" name="Text 33"/>
          <p:cNvSpPr txBox="1"/>
          <p:nvPr/>
        </p:nvSpPr>
        <p:spPr>
          <a:xfrm>
            <a:off x="7149124" y="2942837"/>
            <a:ext cx="2194560" cy="228600"/>
          </a:xfrm>
          <a:prstGeom prst="rect">
            <a:avLst/>
          </a:prstGeom>
          <a:solidFill>
            <a:srgbClr val="FFFFFF"/>
          </a:solidFill>
          <a:ln/>
        </p:spPr>
        <p:txBody>
          <a:bodyPr wrap="square" lIns="0" tIns="0" rIns="0" bIns="0" rtlCol="0" anchor="t"/>
          <a:lstStyle/>
          <a:p>
            <a:pPr algn="ctr" indent="0" marL="0">
              <a:buNone/>
            </a:pPr>
            <a:r>
              <a:rPr lang="en-US" sz="1000" i="1" dirty="0">
                <a:solidFill>
                  <a:srgbClr val="004080"/>
                </a:solidFill>
              </a:rPr>
              <a:t>→ approvals or holds</a:t>
            </a:r>
            <a:endParaRPr lang="en-US" sz="1000" dirty="0"/>
          </a:p>
        </p:txBody>
      </p:sp>
      <p:sp>
        <p:nvSpPr>
          <p:cNvPr id="36" name="Text 34"/>
          <p:cNvSpPr txBox="1"/>
          <p:nvPr/>
        </p:nvSpPr>
        <p:spPr>
          <a:xfrm>
            <a:off x="7149124" y="3180581"/>
            <a:ext cx="2194560" cy="228600"/>
          </a:xfrm>
          <a:prstGeom prst="rect">
            <a:avLst/>
          </a:prstGeom>
          <a:solidFill>
            <a:srgbClr val="FFFFFF"/>
          </a:solidFill>
          <a:ln/>
        </p:spPr>
        <p:txBody>
          <a:bodyPr wrap="square" lIns="0" tIns="0" rIns="0" bIns="0" rtlCol="0" anchor="t"/>
          <a:lstStyle/>
          <a:p>
            <a:pPr algn="ctr" indent="0" marL="0">
              <a:buNone/>
            </a:pPr>
            <a:r>
              <a:rPr lang="en-US" sz="1000" i="1" dirty="0">
                <a:solidFill>
                  <a:srgbClr val="A0711C"/>
                </a:solidFill>
              </a:rPr>
              <a:t>← approval queue</a:t>
            </a:r>
            <a:endParaRPr lang="en-US" sz="1000" dirty="0"/>
          </a:p>
        </p:txBody>
      </p:sp>
      <p:sp>
        <p:nvSpPr>
          <p:cNvPr id="37" name="Registry, Dean (Academic) &amp; Admin"/>
          <p:cNvSpPr/>
          <p:nvPr/>
        </p:nvSpPr>
        <p:spPr>
          <a:xfrm>
            <a:off x="9262872" y="4800600"/>
            <a:ext cx="2377440" cy="731520"/>
          </a:xfrm>
          <a:prstGeom prst="rect">
            <a:avLst>
              <a:gd name="adj" fmla="val 10000"/>
            </a:avLst>
          </a:prstGeom>
          <a:solidFill>
            <a:srgbClr val="EEF3F9"/>
          </a:solidFill>
          <a:ln w="15875">
            <a:solidFill>
              <a:srgbClr val="004080"/>
            </a:solidFill>
            <a:prstDash val="solid"/>
          </a:ln>
        </p:spPr>
      </p:sp>
      <p:sp>
        <p:nvSpPr>
          <p:cNvPr id="38" name="Text 36"/>
          <p:cNvSpPr txBox="1"/>
          <p:nvPr/>
        </p:nvSpPr>
        <p:spPr>
          <a:xfrm>
            <a:off x="9317736" y="4800600"/>
            <a:ext cx="2267712" cy="731520"/>
          </a:xfrm>
          <a:prstGeom prst="rect">
            <a:avLst/>
          </a:prstGeom>
          <a:noFill/>
          <a:ln/>
        </p:spPr>
        <p:txBody>
          <a:bodyPr wrap="square" lIns="0" tIns="0" rIns="0" bIns="0" rtlCol="0" anchor="ctr"/>
          <a:lstStyle/>
          <a:p>
            <a:pPr algn="ctr" indent="0" marL="0">
              <a:buNone/>
            </a:pPr>
            <a:r>
              <a:rPr lang="en-US" sz="1300" b="1" dirty="0">
                <a:solidFill>
                  <a:srgbClr val="0B2545"/>
                </a:solidFill>
              </a:rPr>
              <a:t>Registry, Dean (Academic) &amp; Admin</a:t>
            </a:r>
            <a:endParaRPr lang="en-US" sz="1300" dirty="0"/>
          </a:p>
        </p:txBody>
      </p:sp>
      <p:sp>
        <p:nvSpPr>
          <p:cNvPr id="39" name="connector"/>
          <p:cNvSpPr/>
          <p:nvPr/>
        </p:nvSpPr>
        <p:spPr>
          <a:xfrm flipH="1" flipV="1">
            <a:off x="7103448" y="4341149"/>
            <a:ext cx="2119464" cy="917517"/>
          </a:xfrm>
          <a:prstGeom prst="line">
            <a:avLst/>
          </a:prstGeom>
          <a:noFill/>
          <a:ln w="15875">
            <a:solidFill>
              <a:srgbClr val="004080"/>
            </a:solidFill>
            <a:prstDash val="solid"/>
            <a:tailEnd type="triangle"/>
          </a:ln>
        </p:spPr>
      </p:sp>
      <p:sp>
        <p:nvSpPr>
          <p:cNvPr id="40" name="connector"/>
          <p:cNvSpPr/>
          <p:nvPr/>
        </p:nvSpPr>
        <p:spPr>
          <a:xfrm>
            <a:off x="7183367" y="4156537"/>
            <a:ext cx="2119464" cy="917517"/>
          </a:xfrm>
          <a:prstGeom prst="line">
            <a:avLst/>
          </a:prstGeom>
          <a:noFill/>
          <a:ln w="15875">
            <a:solidFill>
              <a:srgbClr val="E3A83B"/>
            </a:solidFill>
            <a:prstDash val="solid"/>
            <a:tailEnd type="triangle"/>
          </a:ln>
        </p:spPr>
      </p:sp>
      <p:sp>
        <p:nvSpPr>
          <p:cNvPr id="41" name="Text 39"/>
          <p:cNvSpPr txBox="1"/>
          <p:nvPr/>
        </p:nvSpPr>
        <p:spPr>
          <a:xfrm>
            <a:off x="7105860" y="4835617"/>
            <a:ext cx="2194560" cy="228600"/>
          </a:xfrm>
          <a:prstGeom prst="rect">
            <a:avLst/>
          </a:prstGeom>
          <a:solidFill>
            <a:srgbClr val="FFFFFF"/>
          </a:solidFill>
          <a:ln/>
        </p:spPr>
        <p:txBody>
          <a:bodyPr wrap="square" lIns="0" tIns="0" rIns="0" bIns="0" rtlCol="0" anchor="t"/>
          <a:lstStyle/>
          <a:p>
            <a:pPr algn="ctr" indent="0" marL="0">
              <a:buNone/>
            </a:pPr>
            <a:r>
              <a:rPr lang="en-US" sz="1000" i="1" dirty="0">
                <a:solidFill>
                  <a:srgbClr val="004080"/>
                </a:solidFill>
              </a:rPr>
              <a:t>→ sessions, timetables, roles</a:t>
            </a:r>
            <a:endParaRPr lang="en-US" sz="1000" dirty="0"/>
          </a:p>
        </p:txBody>
      </p:sp>
      <p:sp>
        <p:nvSpPr>
          <p:cNvPr id="42" name="Text 40"/>
          <p:cNvSpPr txBox="1"/>
          <p:nvPr/>
        </p:nvSpPr>
        <p:spPr>
          <a:xfrm>
            <a:off x="7105860" y="5073361"/>
            <a:ext cx="2194560" cy="228600"/>
          </a:xfrm>
          <a:prstGeom prst="rect">
            <a:avLst/>
          </a:prstGeom>
          <a:solidFill>
            <a:srgbClr val="FFFFFF"/>
          </a:solidFill>
          <a:ln/>
        </p:spPr>
        <p:txBody>
          <a:bodyPr wrap="square" lIns="0" tIns="0" rIns="0" bIns="0" rtlCol="0" anchor="t"/>
          <a:lstStyle/>
          <a:p>
            <a:pPr algn="ctr" indent="0" marL="0">
              <a:buNone/>
            </a:pPr>
            <a:r>
              <a:rPr lang="en-US" sz="1000" i="1" dirty="0">
                <a:solidFill>
                  <a:srgbClr val="A0711C"/>
                </a:solidFill>
              </a:rPr>
              <a:t>← reports, final approvals</a:t>
            </a:r>
            <a:endParaRPr lang="en-US" sz="1000" dirty="0"/>
          </a:p>
        </p:txBody>
      </p:sp>
      <p:sp>
        <p:nvSpPr>
          <p:cNvPr id="43" name="Text 41"/>
          <p:cNvSpPr txBox="1"/>
          <p:nvPr/>
        </p:nvSpPr>
        <p:spPr>
          <a:xfrm>
            <a:off x="3931920" y="5989320"/>
            <a:ext cx="4297680" cy="274320"/>
          </a:xfrm>
          <a:prstGeom prst="rect">
            <a:avLst/>
          </a:prstGeom>
          <a:noFill/>
          <a:ln/>
        </p:spPr>
        <p:txBody>
          <a:bodyPr wrap="square" lIns="0" tIns="0" rIns="0" bIns="0" rtlCol="0" anchor="t"/>
          <a:lstStyle/>
          <a:p>
            <a:pPr algn="ctr" indent="0" marL="0">
              <a:buNone/>
            </a:pPr>
            <a:r>
              <a:rPr lang="en-US" sz="1100" dirty="0">
                <a:solidFill>
                  <a:srgbClr val="5B7A99"/>
                </a:solidFill>
              </a:rPr>
              <a:t>Blue: data into the system  ·  Gold: data out to the entity</a:t>
            </a:r>
            <a:endParaRPr lang="en-US" sz="11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Data flow diagram: Level 1 processes</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2nd Review</a:t>
            </a:r>
            <a:endParaRPr lang="en-US" sz="1100" dirty="0"/>
          </a:p>
        </p:txBody>
      </p:sp>
      <p:sp>
        <p:nvSpPr>
          <p:cNvPr id="5" name="process 1.0"/>
          <p:cNvSpPr/>
          <p:nvPr/>
        </p:nvSpPr>
        <p:spPr>
          <a:xfrm>
            <a:off x="685800" y="1371600"/>
            <a:ext cx="3108960" cy="1005840"/>
          </a:xfrm>
          <a:prstGeom prst="roundRect">
            <a:avLst>
              <a:gd name="adj" fmla="val 13636"/>
            </a:avLst>
          </a:prstGeom>
          <a:solidFill>
            <a:srgbClr val="FFFFFF"/>
          </a:solidFill>
          <a:ln w="19050">
            <a:solidFill>
              <a:srgbClr val="004080"/>
            </a:solidFill>
            <a:prstDash val="solid"/>
          </a:ln>
        </p:spPr>
      </p:sp>
      <p:sp>
        <p:nvSpPr>
          <p:cNvPr id="6" name="Text 4"/>
          <p:cNvSpPr txBox="1"/>
          <p:nvPr/>
        </p:nvSpPr>
        <p:spPr>
          <a:xfrm>
            <a:off x="822960" y="1444752"/>
            <a:ext cx="731520" cy="274320"/>
          </a:xfrm>
          <a:prstGeom prst="rect">
            <a:avLst/>
          </a:prstGeom>
          <a:noFill/>
          <a:ln/>
        </p:spPr>
        <p:txBody>
          <a:bodyPr wrap="square" lIns="0" tIns="0" rIns="0" bIns="0" rtlCol="0" anchor="t"/>
          <a:lstStyle/>
          <a:p>
            <a:pPr indent="0" marL="0">
              <a:buNone/>
            </a:pPr>
            <a:r>
              <a:rPr lang="en-US" sz="1200" b="1" dirty="0">
                <a:solidFill>
                  <a:srgbClr val="004080"/>
                </a:solidFill>
              </a:rPr>
              <a:t>1.0</a:t>
            </a:r>
            <a:endParaRPr lang="en-US" sz="1200" dirty="0"/>
          </a:p>
        </p:txBody>
      </p:sp>
      <p:sp>
        <p:nvSpPr>
          <p:cNvPr id="7" name="Text 5"/>
          <p:cNvSpPr txBox="1"/>
          <p:nvPr/>
        </p:nvSpPr>
        <p:spPr>
          <a:xfrm>
            <a:off x="822960" y="1719072"/>
            <a:ext cx="2834640" cy="548640"/>
          </a:xfrm>
          <a:prstGeom prst="rect">
            <a:avLst/>
          </a:prstGeom>
          <a:noFill/>
          <a:ln/>
        </p:spPr>
        <p:txBody>
          <a:bodyPr wrap="square" lIns="0" tIns="0" rIns="0" bIns="0" rtlCol="0" anchor="ctr"/>
          <a:lstStyle/>
          <a:p>
            <a:pPr algn="ctr" indent="0" marL="0">
              <a:buNone/>
            </a:pPr>
            <a:r>
              <a:rPr lang="en-US" sz="1500" b="1" dirty="0">
                <a:solidFill>
                  <a:srgbClr val="0B2545"/>
                </a:solidFill>
              </a:rPr>
              <a:t>Manage admissions &amp; accounts</a:t>
            </a:r>
            <a:endParaRPr lang="en-US" sz="1500" dirty="0"/>
          </a:p>
        </p:txBody>
      </p:sp>
      <p:sp>
        <p:nvSpPr>
          <p:cNvPr id="8" name="store D1"/>
          <p:cNvSpPr/>
          <p:nvPr/>
        </p:nvSpPr>
        <p:spPr>
          <a:xfrm>
            <a:off x="685800" y="2788920"/>
            <a:ext cx="3108960" cy="457200"/>
          </a:xfrm>
          <a:prstGeom prst="rect">
            <a:avLst/>
          </a:prstGeom>
          <a:solidFill>
            <a:srgbClr val="EEF3F9"/>
          </a:solidFill>
          <a:ln w="12700">
            <a:solidFill>
              <a:srgbClr val="BFD3EA"/>
            </a:solidFill>
            <a:prstDash val="solid"/>
          </a:ln>
        </p:spPr>
      </p:sp>
      <p:sp>
        <p:nvSpPr>
          <p:cNvPr id="9" name="store id"/>
          <p:cNvSpPr/>
          <p:nvPr/>
        </p:nvSpPr>
        <p:spPr>
          <a:xfrm>
            <a:off x="685800" y="2788920"/>
            <a:ext cx="502920" cy="457200"/>
          </a:xfrm>
          <a:prstGeom prst="rect">
            <a:avLst/>
          </a:prstGeom>
          <a:solidFill>
            <a:srgbClr val="BFD3EA"/>
          </a:solidFill>
          <a:ln w="12700">
            <a:solidFill>
              <a:srgbClr val="BFD3EA"/>
            </a:solidFill>
            <a:prstDash val="solid"/>
          </a:ln>
        </p:spPr>
      </p:sp>
      <p:sp>
        <p:nvSpPr>
          <p:cNvPr id="10" name="Text 8"/>
          <p:cNvSpPr txBox="1"/>
          <p:nvPr/>
        </p:nvSpPr>
        <p:spPr>
          <a:xfrm>
            <a:off x="685800" y="2788920"/>
            <a:ext cx="502920" cy="457200"/>
          </a:xfrm>
          <a:prstGeom prst="rect">
            <a:avLst/>
          </a:prstGeom>
          <a:noFill/>
          <a:ln/>
        </p:spPr>
        <p:txBody>
          <a:bodyPr wrap="square" lIns="0" tIns="0" rIns="0" bIns="0" rtlCol="0" anchor="ctr"/>
          <a:lstStyle/>
          <a:p>
            <a:pPr algn="ctr" indent="0" marL="0">
              <a:buNone/>
            </a:pPr>
            <a:r>
              <a:rPr lang="en-US" sz="1200" b="1" dirty="0">
                <a:solidFill>
                  <a:srgbClr val="0B2545"/>
                </a:solidFill>
              </a:rPr>
              <a:t>D1</a:t>
            </a:r>
            <a:endParaRPr lang="en-US" sz="1200" dirty="0"/>
          </a:p>
        </p:txBody>
      </p:sp>
      <p:sp>
        <p:nvSpPr>
          <p:cNvPr id="11" name="Text 9"/>
          <p:cNvSpPr txBox="1"/>
          <p:nvPr/>
        </p:nvSpPr>
        <p:spPr>
          <a:xfrm>
            <a:off x="1280160" y="2788920"/>
            <a:ext cx="2423160" cy="457200"/>
          </a:xfrm>
          <a:prstGeom prst="rect">
            <a:avLst/>
          </a:prstGeom>
          <a:noFill/>
          <a:ln/>
        </p:spPr>
        <p:txBody>
          <a:bodyPr wrap="square" lIns="0" tIns="0" rIns="0" bIns="0" rtlCol="0" anchor="ctr"/>
          <a:lstStyle/>
          <a:p>
            <a:pPr indent="0" marL="0">
              <a:buNone/>
            </a:pPr>
            <a:r>
              <a:rPr lang="en-US" sz="1100" dirty="0">
                <a:solidFill>
                  <a:srgbClr val="1A2433"/>
                </a:solidFill>
              </a:rPr>
              <a:t>USERS, students, applications</a:t>
            </a:r>
            <a:endParaRPr lang="en-US" sz="1100" dirty="0"/>
          </a:p>
        </p:txBody>
      </p:sp>
      <p:sp>
        <p:nvSpPr>
          <p:cNvPr id="12" name="connector"/>
          <p:cNvSpPr/>
          <p:nvPr/>
        </p:nvSpPr>
        <p:spPr>
          <a:xfrm>
            <a:off x="2240280" y="2377440"/>
            <a:ext cx="914" cy="411480"/>
          </a:xfrm>
          <a:prstGeom prst="line">
            <a:avLst/>
          </a:prstGeom>
          <a:noFill/>
          <a:ln w="15875">
            <a:solidFill>
              <a:srgbClr val="5B7A99"/>
            </a:solidFill>
            <a:prstDash val="solid"/>
            <a:headEnd type="triangle"/>
            <a:tailEnd type="triangle"/>
          </a:ln>
        </p:spPr>
      </p:sp>
      <p:sp>
        <p:nvSpPr>
          <p:cNvPr id="13" name="process 2.0"/>
          <p:cNvSpPr/>
          <p:nvPr/>
        </p:nvSpPr>
        <p:spPr>
          <a:xfrm>
            <a:off x="4526280" y="1371600"/>
            <a:ext cx="3108960" cy="1005840"/>
          </a:xfrm>
          <a:prstGeom prst="roundRect">
            <a:avLst>
              <a:gd name="adj" fmla="val 13636"/>
            </a:avLst>
          </a:prstGeom>
          <a:solidFill>
            <a:srgbClr val="FFFFFF"/>
          </a:solidFill>
          <a:ln w="19050">
            <a:solidFill>
              <a:srgbClr val="004080"/>
            </a:solidFill>
            <a:prstDash val="solid"/>
          </a:ln>
        </p:spPr>
      </p:sp>
      <p:sp>
        <p:nvSpPr>
          <p:cNvPr id="14" name="Text 12"/>
          <p:cNvSpPr txBox="1"/>
          <p:nvPr/>
        </p:nvSpPr>
        <p:spPr>
          <a:xfrm>
            <a:off x="4663440" y="1444752"/>
            <a:ext cx="731520" cy="274320"/>
          </a:xfrm>
          <a:prstGeom prst="rect">
            <a:avLst/>
          </a:prstGeom>
          <a:noFill/>
          <a:ln/>
        </p:spPr>
        <p:txBody>
          <a:bodyPr wrap="square" lIns="0" tIns="0" rIns="0" bIns="0" rtlCol="0" anchor="t"/>
          <a:lstStyle/>
          <a:p>
            <a:pPr indent="0" marL="0">
              <a:buNone/>
            </a:pPr>
            <a:r>
              <a:rPr lang="en-US" sz="1200" b="1" dirty="0">
                <a:solidFill>
                  <a:srgbClr val="004080"/>
                </a:solidFill>
              </a:rPr>
              <a:t>2.0</a:t>
            </a:r>
            <a:endParaRPr lang="en-US" sz="1200" dirty="0"/>
          </a:p>
        </p:txBody>
      </p:sp>
      <p:sp>
        <p:nvSpPr>
          <p:cNvPr id="15" name="Text 13"/>
          <p:cNvSpPr txBox="1"/>
          <p:nvPr/>
        </p:nvSpPr>
        <p:spPr>
          <a:xfrm>
            <a:off x="4663440" y="1719072"/>
            <a:ext cx="2834640" cy="548640"/>
          </a:xfrm>
          <a:prstGeom prst="rect">
            <a:avLst/>
          </a:prstGeom>
          <a:noFill/>
          <a:ln/>
        </p:spPr>
        <p:txBody>
          <a:bodyPr wrap="square" lIns="0" tIns="0" rIns="0" bIns="0" rtlCol="0" anchor="ctr"/>
          <a:lstStyle/>
          <a:p>
            <a:pPr algn="ctr" indent="0" marL="0">
              <a:buNone/>
            </a:pPr>
            <a:r>
              <a:rPr lang="en-US" sz="1500" b="1" dirty="0">
                <a:solidFill>
                  <a:srgbClr val="0B2545"/>
                </a:solidFill>
              </a:rPr>
              <a:t>Manage fees &amp; payments</a:t>
            </a:r>
            <a:endParaRPr lang="en-US" sz="1500" dirty="0"/>
          </a:p>
        </p:txBody>
      </p:sp>
      <p:sp>
        <p:nvSpPr>
          <p:cNvPr id="16" name="store D2"/>
          <p:cNvSpPr/>
          <p:nvPr/>
        </p:nvSpPr>
        <p:spPr>
          <a:xfrm>
            <a:off x="4526280" y="2788920"/>
            <a:ext cx="3108960" cy="457200"/>
          </a:xfrm>
          <a:prstGeom prst="rect">
            <a:avLst/>
          </a:prstGeom>
          <a:solidFill>
            <a:srgbClr val="EEF3F9"/>
          </a:solidFill>
          <a:ln w="12700">
            <a:solidFill>
              <a:srgbClr val="BFD3EA"/>
            </a:solidFill>
            <a:prstDash val="solid"/>
          </a:ln>
        </p:spPr>
      </p:sp>
      <p:sp>
        <p:nvSpPr>
          <p:cNvPr id="17" name="store id"/>
          <p:cNvSpPr/>
          <p:nvPr/>
        </p:nvSpPr>
        <p:spPr>
          <a:xfrm>
            <a:off x="4526280" y="2788920"/>
            <a:ext cx="502920" cy="457200"/>
          </a:xfrm>
          <a:prstGeom prst="rect">
            <a:avLst/>
          </a:prstGeom>
          <a:solidFill>
            <a:srgbClr val="BFD3EA"/>
          </a:solidFill>
          <a:ln w="12700">
            <a:solidFill>
              <a:srgbClr val="BFD3EA"/>
            </a:solidFill>
            <a:prstDash val="solid"/>
          </a:ln>
        </p:spPr>
      </p:sp>
      <p:sp>
        <p:nvSpPr>
          <p:cNvPr id="18" name="Text 16"/>
          <p:cNvSpPr txBox="1"/>
          <p:nvPr/>
        </p:nvSpPr>
        <p:spPr>
          <a:xfrm>
            <a:off x="4526280" y="2788920"/>
            <a:ext cx="502920" cy="457200"/>
          </a:xfrm>
          <a:prstGeom prst="rect">
            <a:avLst/>
          </a:prstGeom>
          <a:noFill/>
          <a:ln/>
        </p:spPr>
        <p:txBody>
          <a:bodyPr wrap="square" lIns="0" tIns="0" rIns="0" bIns="0" rtlCol="0" anchor="ctr"/>
          <a:lstStyle/>
          <a:p>
            <a:pPr algn="ctr" indent="0" marL="0">
              <a:buNone/>
            </a:pPr>
            <a:r>
              <a:rPr lang="en-US" sz="1200" b="1" dirty="0">
                <a:solidFill>
                  <a:srgbClr val="0B2545"/>
                </a:solidFill>
              </a:rPr>
              <a:t>D2</a:t>
            </a:r>
            <a:endParaRPr lang="en-US" sz="1200" dirty="0"/>
          </a:p>
        </p:txBody>
      </p:sp>
      <p:sp>
        <p:nvSpPr>
          <p:cNvPr id="19" name="Text 17"/>
          <p:cNvSpPr txBox="1"/>
          <p:nvPr/>
        </p:nvSpPr>
        <p:spPr>
          <a:xfrm>
            <a:off x="5120640" y="2788920"/>
            <a:ext cx="2423160" cy="457200"/>
          </a:xfrm>
          <a:prstGeom prst="rect">
            <a:avLst/>
          </a:prstGeom>
          <a:noFill/>
          <a:ln/>
        </p:spPr>
        <p:txBody>
          <a:bodyPr wrap="square" lIns="0" tIns="0" rIns="0" bIns="0" rtlCol="0" anchor="ctr"/>
          <a:lstStyle/>
          <a:p>
            <a:pPr indent="0" marL="0">
              <a:buNone/>
            </a:pPr>
            <a:r>
              <a:rPr lang="en-US" sz="1100" dirty="0">
                <a:solidFill>
                  <a:srgbClr val="1A2433"/>
                </a:solidFill>
              </a:rPr>
              <a:t>fee_entries, payment_proofs</a:t>
            </a:r>
            <a:endParaRPr lang="en-US" sz="1100" dirty="0"/>
          </a:p>
        </p:txBody>
      </p:sp>
      <p:sp>
        <p:nvSpPr>
          <p:cNvPr id="20" name="connector"/>
          <p:cNvSpPr/>
          <p:nvPr/>
        </p:nvSpPr>
        <p:spPr>
          <a:xfrm>
            <a:off x="6080760" y="2377440"/>
            <a:ext cx="914" cy="411480"/>
          </a:xfrm>
          <a:prstGeom prst="line">
            <a:avLst/>
          </a:prstGeom>
          <a:noFill/>
          <a:ln w="15875">
            <a:solidFill>
              <a:srgbClr val="5B7A99"/>
            </a:solidFill>
            <a:prstDash val="solid"/>
            <a:headEnd type="triangle"/>
            <a:tailEnd type="triangle"/>
          </a:ln>
        </p:spPr>
      </p:sp>
      <p:sp>
        <p:nvSpPr>
          <p:cNvPr id="21" name="process 3.0"/>
          <p:cNvSpPr/>
          <p:nvPr/>
        </p:nvSpPr>
        <p:spPr>
          <a:xfrm>
            <a:off x="8366760" y="1371600"/>
            <a:ext cx="3108960" cy="1005840"/>
          </a:xfrm>
          <a:prstGeom prst="roundRect">
            <a:avLst>
              <a:gd name="adj" fmla="val 13636"/>
            </a:avLst>
          </a:prstGeom>
          <a:solidFill>
            <a:srgbClr val="FFFFFF"/>
          </a:solidFill>
          <a:ln w="19050">
            <a:solidFill>
              <a:srgbClr val="004080"/>
            </a:solidFill>
            <a:prstDash val="solid"/>
          </a:ln>
        </p:spPr>
      </p:sp>
      <p:sp>
        <p:nvSpPr>
          <p:cNvPr id="22" name="Text 20"/>
          <p:cNvSpPr txBox="1"/>
          <p:nvPr/>
        </p:nvSpPr>
        <p:spPr>
          <a:xfrm>
            <a:off x="8503920" y="1444752"/>
            <a:ext cx="731520" cy="274320"/>
          </a:xfrm>
          <a:prstGeom prst="rect">
            <a:avLst/>
          </a:prstGeom>
          <a:noFill/>
          <a:ln/>
        </p:spPr>
        <p:txBody>
          <a:bodyPr wrap="square" lIns="0" tIns="0" rIns="0" bIns="0" rtlCol="0" anchor="t"/>
          <a:lstStyle/>
          <a:p>
            <a:pPr indent="0" marL="0">
              <a:buNone/>
            </a:pPr>
            <a:r>
              <a:rPr lang="en-US" sz="1200" b="1" dirty="0">
                <a:solidFill>
                  <a:srgbClr val="004080"/>
                </a:solidFill>
              </a:rPr>
              <a:t>3.0</a:t>
            </a:r>
            <a:endParaRPr lang="en-US" sz="1200" dirty="0"/>
          </a:p>
        </p:txBody>
      </p:sp>
      <p:sp>
        <p:nvSpPr>
          <p:cNvPr id="23" name="Text 21"/>
          <p:cNvSpPr txBox="1"/>
          <p:nvPr/>
        </p:nvSpPr>
        <p:spPr>
          <a:xfrm>
            <a:off x="8503920" y="1719072"/>
            <a:ext cx="2834640" cy="548640"/>
          </a:xfrm>
          <a:prstGeom prst="rect">
            <a:avLst/>
          </a:prstGeom>
          <a:noFill/>
          <a:ln/>
        </p:spPr>
        <p:txBody>
          <a:bodyPr wrap="square" lIns="0" tIns="0" rIns="0" bIns="0" rtlCol="0" anchor="ctr"/>
          <a:lstStyle/>
          <a:p>
            <a:pPr algn="ctr" indent="0" marL="0">
              <a:buNone/>
            </a:pPr>
            <a:r>
              <a:rPr lang="en-US" sz="1500" b="1" dirty="0">
                <a:solidFill>
                  <a:srgbClr val="0B2545"/>
                </a:solidFill>
              </a:rPr>
              <a:t>Semester registration</a:t>
            </a:r>
            <a:endParaRPr lang="en-US" sz="1500" dirty="0"/>
          </a:p>
        </p:txBody>
      </p:sp>
      <p:sp>
        <p:nvSpPr>
          <p:cNvPr id="24" name="store D3"/>
          <p:cNvSpPr/>
          <p:nvPr/>
        </p:nvSpPr>
        <p:spPr>
          <a:xfrm>
            <a:off x="8366760" y="2788920"/>
            <a:ext cx="3108960" cy="457200"/>
          </a:xfrm>
          <a:prstGeom prst="rect">
            <a:avLst/>
          </a:prstGeom>
          <a:solidFill>
            <a:srgbClr val="EEF3F9"/>
          </a:solidFill>
          <a:ln w="12700">
            <a:solidFill>
              <a:srgbClr val="BFD3EA"/>
            </a:solidFill>
            <a:prstDash val="solid"/>
          </a:ln>
        </p:spPr>
      </p:sp>
      <p:sp>
        <p:nvSpPr>
          <p:cNvPr id="25" name="store id"/>
          <p:cNvSpPr/>
          <p:nvPr/>
        </p:nvSpPr>
        <p:spPr>
          <a:xfrm>
            <a:off x="8366760" y="2788920"/>
            <a:ext cx="502920" cy="457200"/>
          </a:xfrm>
          <a:prstGeom prst="rect">
            <a:avLst/>
          </a:prstGeom>
          <a:solidFill>
            <a:srgbClr val="BFD3EA"/>
          </a:solidFill>
          <a:ln w="12700">
            <a:solidFill>
              <a:srgbClr val="BFD3EA"/>
            </a:solidFill>
            <a:prstDash val="solid"/>
          </a:ln>
        </p:spPr>
      </p:sp>
      <p:sp>
        <p:nvSpPr>
          <p:cNvPr id="26" name="Text 24"/>
          <p:cNvSpPr txBox="1"/>
          <p:nvPr/>
        </p:nvSpPr>
        <p:spPr>
          <a:xfrm>
            <a:off x="8366760" y="2788920"/>
            <a:ext cx="502920" cy="457200"/>
          </a:xfrm>
          <a:prstGeom prst="rect">
            <a:avLst/>
          </a:prstGeom>
          <a:noFill/>
          <a:ln/>
        </p:spPr>
        <p:txBody>
          <a:bodyPr wrap="square" lIns="0" tIns="0" rIns="0" bIns="0" rtlCol="0" anchor="ctr"/>
          <a:lstStyle/>
          <a:p>
            <a:pPr algn="ctr" indent="0" marL="0">
              <a:buNone/>
            </a:pPr>
            <a:r>
              <a:rPr lang="en-US" sz="1200" b="1" dirty="0">
                <a:solidFill>
                  <a:srgbClr val="0B2545"/>
                </a:solidFill>
              </a:rPr>
              <a:t>D3</a:t>
            </a:r>
            <a:endParaRPr lang="en-US" sz="1200" dirty="0"/>
          </a:p>
        </p:txBody>
      </p:sp>
      <p:sp>
        <p:nvSpPr>
          <p:cNvPr id="27" name="Text 25"/>
          <p:cNvSpPr txBox="1"/>
          <p:nvPr/>
        </p:nvSpPr>
        <p:spPr>
          <a:xfrm>
            <a:off x="8961120" y="2788920"/>
            <a:ext cx="2423160" cy="457200"/>
          </a:xfrm>
          <a:prstGeom prst="rect">
            <a:avLst/>
          </a:prstGeom>
          <a:noFill/>
          <a:ln/>
        </p:spPr>
        <p:txBody>
          <a:bodyPr wrap="square" lIns="0" tIns="0" rIns="0" bIns="0" rtlCol="0" anchor="ctr"/>
          <a:lstStyle/>
          <a:p>
            <a:pPr indent="0" marL="0">
              <a:buNone/>
            </a:pPr>
            <a:r>
              <a:rPr lang="en-US" sz="1100" dirty="0">
                <a:solidFill>
                  <a:srgbClr val="1A2433"/>
                </a:solidFill>
              </a:rPr>
              <a:t>semester_registrations, exemptions</a:t>
            </a:r>
            <a:endParaRPr lang="en-US" sz="1100" dirty="0"/>
          </a:p>
        </p:txBody>
      </p:sp>
      <p:sp>
        <p:nvSpPr>
          <p:cNvPr id="28" name="connector"/>
          <p:cNvSpPr/>
          <p:nvPr/>
        </p:nvSpPr>
        <p:spPr>
          <a:xfrm>
            <a:off x="9921240" y="2377440"/>
            <a:ext cx="914" cy="411480"/>
          </a:xfrm>
          <a:prstGeom prst="line">
            <a:avLst/>
          </a:prstGeom>
          <a:noFill/>
          <a:ln w="15875">
            <a:solidFill>
              <a:srgbClr val="5B7A99"/>
            </a:solidFill>
            <a:prstDash val="solid"/>
            <a:headEnd type="triangle"/>
            <a:tailEnd type="triangle"/>
          </a:ln>
        </p:spPr>
      </p:sp>
      <p:sp>
        <p:nvSpPr>
          <p:cNvPr id="29" name="process 4.0"/>
          <p:cNvSpPr/>
          <p:nvPr/>
        </p:nvSpPr>
        <p:spPr>
          <a:xfrm>
            <a:off x="685800" y="3794760"/>
            <a:ext cx="3108960" cy="1005840"/>
          </a:xfrm>
          <a:prstGeom prst="roundRect">
            <a:avLst>
              <a:gd name="adj" fmla="val 13636"/>
            </a:avLst>
          </a:prstGeom>
          <a:solidFill>
            <a:srgbClr val="FFFFFF"/>
          </a:solidFill>
          <a:ln w="19050">
            <a:solidFill>
              <a:srgbClr val="004080"/>
            </a:solidFill>
            <a:prstDash val="solid"/>
          </a:ln>
        </p:spPr>
      </p:sp>
      <p:sp>
        <p:nvSpPr>
          <p:cNvPr id="30" name="Text 28"/>
          <p:cNvSpPr txBox="1"/>
          <p:nvPr/>
        </p:nvSpPr>
        <p:spPr>
          <a:xfrm>
            <a:off x="822960" y="3867912"/>
            <a:ext cx="731520" cy="274320"/>
          </a:xfrm>
          <a:prstGeom prst="rect">
            <a:avLst/>
          </a:prstGeom>
          <a:noFill/>
          <a:ln/>
        </p:spPr>
        <p:txBody>
          <a:bodyPr wrap="square" lIns="0" tIns="0" rIns="0" bIns="0" rtlCol="0" anchor="t"/>
          <a:lstStyle/>
          <a:p>
            <a:pPr indent="0" marL="0">
              <a:buNone/>
            </a:pPr>
            <a:r>
              <a:rPr lang="en-US" sz="1200" b="1" dirty="0">
                <a:solidFill>
                  <a:srgbClr val="004080"/>
                </a:solidFill>
              </a:rPr>
              <a:t>4.0</a:t>
            </a:r>
            <a:endParaRPr lang="en-US" sz="1200" dirty="0"/>
          </a:p>
        </p:txBody>
      </p:sp>
      <p:sp>
        <p:nvSpPr>
          <p:cNvPr id="31" name="Text 29"/>
          <p:cNvSpPr txBox="1"/>
          <p:nvPr/>
        </p:nvSpPr>
        <p:spPr>
          <a:xfrm>
            <a:off x="822960" y="4142232"/>
            <a:ext cx="2834640" cy="548640"/>
          </a:xfrm>
          <a:prstGeom prst="rect">
            <a:avLst/>
          </a:prstGeom>
          <a:noFill/>
          <a:ln/>
        </p:spPr>
        <p:txBody>
          <a:bodyPr wrap="square" lIns="0" tIns="0" rIns="0" bIns="0" rtlCol="0" anchor="ctr"/>
          <a:lstStyle/>
          <a:p>
            <a:pPr algn="ctr" indent="0" marL="0">
              <a:buNone/>
            </a:pPr>
            <a:r>
              <a:rPr lang="en-US" sz="1500" b="1" dirty="0">
                <a:solidFill>
                  <a:srgbClr val="0B2545"/>
                </a:solidFill>
              </a:rPr>
              <a:t>Teaching &amp; results</a:t>
            </a:r>
            <a:endParaRPr lang="en-US" sz="1500" dirty="0"/>
          </a:p>
        </p:txBody>
      </p:sp>
      <p:sp>
        <p:nvSpPr>
          <p:cNvPr id="32" name="store D4"/>
          <p:cNvSpPr/>
          <p:nvPr/>
        </p:nvSpPr>
        <p:spPr>
          <a:xfrm>
            <a:off x="685800" y="5212080"/>
            <a:ext cx="3108960" cy="457200"/>
          </a:xfrm>
          <a:prstGeom prst="rect">
            <a:avLst/>
          </a:prstGeom>
          <a:solidFill>
            <a:srgbClr val="EEF3F9"/>
          </a:solidFill>
          <a:ln w="12700">
            <a:solidFill>
              <a:srgbClr val="BFD3EA"/>
            </a:solidFill>
            <a:prstDash val="solid"/>
          </a:ln>
        </p:spPr>
      </p:sp>
      <p:sp>
        <p:nvSpPr>
          <p:cNvPr id="33" name="store id"/>
          <p:cNvSpPr/>
          <p:nvPr/>
        </p:nvSpPr>
        <p:spPr>
          <a:xfrm>
            <a:off x="685800" y="5212080"/>
            <a:ext cx="502920" cy="457200"/>
          </a:xfrm>
          <a:prstGeom prst="rect">
            <a:avLst/>
          </a:prstGeom>
          <a:solidFill>
            <a:srgbClr val="BFD3EA"/>
          </a:solidFill>
          <a:ln w="12700">
            <a:solidFill>
              <a:srgbClr val="BFD3EA"/>
            </a:solidFill>
            <a:prstDash val="solid"/>
          </a:ln>
        </p:spPr>
      </p:sp>
      <p:sp>
        <p:nvSpPr>
          <p:cNvPr id="34" name="Text 32"/>
          <p:cNvSpPr txBox="1"/>
          <p:nvPr/>
        </p:nvSpPr>
        <p:spPr>
          <a:xfrm>
            <a:off x="685800" y="5212080"/>
            <a:ext cx="502920" cy="457200"/>
          </a:xfrm>
          <a:prstGeom prst="rect">
            <a:avLst/>
          </a:prstGeom>
          <a:noFill/>
          <a:ln/>
        </p:spPr>
        <p:txBody>
          <a:bodyPr wrap="square" lIns="0" tIns="0" rIns="0" bIns="0" rtlCol="0" anchor="ctr"/>
          <a:lstStyle/>
          <a:p>
            <a:pPr algn="ctr" indent="0" marL="0">
              <a:buNone/>
            </a:pPr>
            <a:r>
              <a:rPr lang="en-US" sz="1200" b="1" dirty="0">
                <a:solidFill>
                  <a:srgbClr val="0B2545"/>
                </a:solidFill>
              </a:rPr>
              <a:t>D4</a:t>
            </a:r>
            <a:endParaRPr lang="en-US" sz="1200" dirty="0"/>
          </a:p>
        </p:txBody>
      </p:sp>
      <p:sp>
        <p:nvSpPr>
          <p:cNvPr id="35" name="Text 33"/>
          <p:cNvSpPr txBox="1"/>
          <p:nvPr/>
        </p:nvSpPr>
        <p:spPr>
          <a:xfrm>
            <a:off x="1280160" y="5212080"/>
            <a:ext cx="2423160" cy="457200"/>
          </a:xfrm>
          <a:prstGeom prst="rect">
            <a:avLst/>
          </a:prstGeom>
          <a:noFill/>
          <a:ln/>
        </p:spPr>
        <p:txBody>
          <a:bodyPr wrap="square" lIns="0" tIns="0" rIns="0" bIns="0" rtlCol="0" anchor="ctr"/>
          <a:lstStyle/>
          <a:p>
            <a:pPr indent="0" marL="0">
              <a:buNone/>
            </a:pPr>
            <a:r>
              <a:rPr lang="en-US" sz="1100" dirty="0">
                <a:solidFill>
                  <a:srgbClr val="1A2433"/>
                </a:solidFill>
              </a:rPr>
              <a:t>course_notes, assignments, result_marks</a:t>
            </a:r>
            <a:endParaRPr lang="en-US" sz="1100" dirty="0"/>
          </a:p>
        </p:txBody>
      </p:sp>
      <p:sp>
        <p:nvSpPr>
          <p:cNvPr id="36" name="connector"/>
          <p:cNvSpPr/>
          <p:nvPr/>
        </p:nvSpPr>
        <p:spPr>
          <a:xfrm>
            <a:off x="2240280" y="4800600"/>
            <a:ext cx="914" cy="411480"/>
          </a:xfrm>
          <a:prstGeom prst="line">
            <a:avLst/>
          </a:prstGeom>
          <a:noFill/>
          <a:ln w="15875">
            <a:solidFill>
              <a:srgbClr val="5B7A99"/>
            </a:solidFill>
            <a:prstDash val="solid"/>
            <a:headEnd type="triangle"/>
            <a:tailEnd type="triangle"/>
          </a:ln>
        </p:spPr>
      </p:sp>
      <p:sp>
        <p:nvSpPr>
          <p:cNvPr id="37" name="process 5.0"/>
          <p:cNvSpPr/>
          <p:nvPr/>
        </p:nvSpPr>
        <p:spPr>
          <a:xfrm>
            <a:off x="4526280" y="3794760"/>
            <a:ext cx="3108960" cy="1005840"/>
          </a:xfrm>
          <a:prstGeom prst="roundRect">
            <a:avLst>
              <a:gd name="adj" fmla="val 13636"/>
            </a:avLst>
          </a:prstGeom>
          <a:solidFill>
            <a:srgbClr val="0B2545"/>
          </a:solidFill>
          <a:ln w="19050">
            <a:solidFill>
              <a:srgbClr val="0B2545"/>
            </a:solidFill>
            <a:prstDash val="solid"/>
          </a:ln>
        </p:spPr>
      </p:sp>
      <p:sp>
        <p:nvSpPr>
          <p:cNvPr id="38" name="Text 36"/>
          <p:cNvSpPr txBox="1"/>
          <p:nvPr/>
        </p:nvSpPr>
        <p:spPr>
          <a:xfrm>
            <a:off x="4663440" y="3867912"/>
            <a:ext cx="731520" cy="274320"/>
          </a:xfrm>
          <a:prstGeom prst="rect">
            <a:avLst/>
          </a:prstGeom>
          <a:noFill/>
          <a:ln/>
        </p:spPr>
        <p:txBody>
          <a:bodyPr wrap="square" lIns="0" tIns="0" rIns="0" bIns="0" rtlCol="0" anchor="t"/>
          <a:lstStyle/>
          <a:p>
            <a:pPr indent="0" marL="0">
              <a:buNone/>
            </a:pPr>
            <a:r>
              <a:rPr lang="en-US" sz="1200" b="1" dirty="0">
                <a:solidFill>
                  <a:srgbClr val="E3A83B"/>
                </a:solidFill>
              </a:rPr>
              <a:t>5.0</a:t>
            </a:r>
            <a:endParaRPr lang="en-US" sz="1200" dirty="0"/>
          </a:p>
        </p:txBody>
      </p:sp>
      <p:sp>
        <p:nvSpPr>
          <p:cNvPr id="39" name="Text 37"/>
          <p:cNvSpPr txBox="1"/>
          <p:nvPr/>
        </p:nvSpPr>
        <p:spPr>
          <a:xfrm>
            <a:off x="4663440" y="4142232"/>
            <a:ext cx="2834640" cy="548640"/>
          </a:xfrm>
          <a:prstGeom prst="rect">
            <a:avLst/>
          </a:prstGeom>
          <a:noFill/>
          <a:ln/>
        </p:spPr>
        <p:txBody>
          <a:bodyPr wrap="square" lIns="0" tIns="0" rIns="0" bIns="0" rtlCol="0" anchor="ctr"/>
          <a:lstStyle/>
          <a:p>
            <a:pPr algn="ctr" indent="0" marL="0">
              <a:buNone/>
            </a:pPr>
            <a:r>
              <a:rPr lang="en-US" sz="1500" b="1" dirty="0">
                <a:solidFill>
                  <a:srgbClr val="FFFFFF"/>
                </a:solidFill>
              </a:rPr>
              <a:t>Exam clearance &amp; hall tickets</a:t>
            </a:r>
            <a:endParaRPr lang="en-US" sz="1500" dirty="0"/>
          </a:p>
        </p:txBody>
      </p:sp>
      <p:sp>
        <p:nvSpPr>
          <p:cNvPr id="40" name="store D5"/>
          <p:cNvSpPr/>
          <p:nvPr/>
        </p:nvSpPr>
        <p:spPr>
          <a:xfrm>
            <a:off x="4526280" y="5212080"/>
            <a:ext cx="3108960" cy="457200"/>
          </a:xfrm>
          <a:prstGeom prst="rect">
            <a:avLst/>
          </a:prstGeom>
          <a:solidFill>
            <a:srgbClr val="EEF3F9"/>
          </a:solidFill>
          <a:ln w="12700">
            <a:solidFill>
              <a:srgbClr val="BFD3EA"/>
            </a:solidFill>
            <a:prstDash val="solid"/>
          </a:ln>
        </p:spPr>
      </p:sp>
      <p:sp>
        <p:nvSpPr>
          <p:cNvPr id="41" name="store id"/>
          <p:cNvSpPr/>
          <p:nvPr/>
        </p:nvSpPr>
        <p:spPr>
          <a:xfrm>
            <a:off x="4526280" y="5212080"/>
            <a:ext cx="502920" cy="457200"/>
          </a:xfrm>
          <a:prstGeom prst="rect">
            <a:avLst/>
          </a:prstGeom>
          <a:solidFill>
            <a:srgbClr val="BFD3EA"/>
          </a:solidFill>
          <a:ln w="12700">
            <a:solidFill>
              <a:srgbClr val="BFD3EA"/>
            </a:solidFill>
            <a:prstDash val="solid"/>
          </a:ln>
        </p:spPr>
      </p:sp>
      <p:sp>
        <p:nvSpPr>
          <p:cNvPr id="42" name="Text 40"/>
          <p:cNvSpPr txBox="1"/>
          <p:nvPr/>
        </p:nvSpPr>
        <p:spPr>
          <a:xfrm>
            <a:off x="4526280" y="5212080"/>
            <a:ext cx="502920" cy="457200"/>
          </a:xfrm>
          <a:prstGeom prst="rect">
            <a:avLst/>
          </a:prstGeom>
          <a:noFill/>
          <a:ln/>
        </p:spPr>
        <p:txBody>
          <a:bodyPr wrap="square" lIns="0" tIns="0" rIns="0" bIns="0" rtlCol="0" anchor="ctr"/>
          <a:lstStyle/>
          <a:p>
            <a:pPr algn="ctr" indent="0" marL="0">
              <a:buNone/>
            </a:pPr>
            <a:r>
              <a:rPr lang="en-US" sz="1200" b="1" dirty="0">
                <a:solidFill>
                  <a:srgbClr val="0B2545"/>
                </a:solidFill>
              </a:rPr>
              <a:t>D5</a:t>
            </a:r>
            <a:endParaRPr lang="en-US" sz="1200" dirty="0"/>
          </a:p>
        </p:txBody>
      </p:sp>
      <p:sp>
        <p:nvSpPr>
          <p:cNvPr id="43" name="Text 41"/>
          <p:cNvSpPr txBox="1"/>
          <p:nvPr/>
        </p:nvSpPr>
        <p:spPr>
          <a:xfrm>
            <a:off x="5120640" y="5212080"/>
            <a:ext cx="2423160" cy="457200"/>
          </a:xfrm>
          <a:prstGeom prst="rect">
            <a:avLst/>
          </a:prstGeom>
          <a:noFill/>
          <a:ln/>
        </p:spPr>
        <p:txBody>
          <a:bodyPr wrap="square" lIns="0" tIns="0" rIns="0" bIns="0" rtlCol="0" anchor="ctr"/>
          <a:lstStyle/>
          <a:p>
            <a:pPr indent="0" marL="0">
              <a:buNone/>
            </a:pPr>
            <a:r>
              <a:rPr lang="en-US" sz="1100" dirty="0">
                <a:solidFill>
                  <a:srgbClr val="1A2433"/>
                </a:solidFill>
              </a:rPr>
              <a:t>exam_sessions, timetable, clearances</a:t>
            </a:r>
            <a:endParaRPr lang="en-US" sz="1100" dirty="0"/>
          </a:p>
        </p:txBody>
      </p:sp>
      <p:sp>
        <p:nvSpPr>
          <p:cNvPr id="44" name="connector"/>
          <p:cNvSpPr/>
          <p:nvPr/>
        </p:nvSpPr>
        <p:spPr>
          <a:xfrm>
            <a:off x="6080760" y="4800600"/>
            <a:ext cx="914" cy="411480"/>
          </a:xfrm>
          <a:prstGeom prst="line">
            <a:avLst/>
          </a:prstGeom>
          <a:noFill/>
          <a:ln w="15875">
            <a:solidFill>
              <a:srgbClr val="5B7A99"/>
            </a:solidFill>
            <a:prstDash val="solid"/>
            <a:headEnd type="triangle"/>
            <a:tailEnd type="triangle"/>
          </a:ln>
        </p:spPr>
      </p:sp>
      <p:sp>
        <p:nvSpPr>
          <p:cNvPr id="45" name="process 6.0"/>
          <p:cNvSpPr/>
          <p:nvPr/>
        </p:nvSpPr>
        <p:spPr>
          <a:xfrm>
            <a:off x="8366760" y="3794760"/>
            <a:ext cx="3108960" cy="1005840"/>
          </a:xfrm>
          <a:prstGeom prst="roundRect">
            <a:avLst>
              <a:gd name="adj" fmla="val 13636"/>
            </a:avLst>
          </a:prstGeom>
          <a:solidFill>
            <a:srgbClr val="FFFFFF"/>
          </a:solidFill>
          <a:ln w="19050">
            <a:solidFill>
              <a:srgbClr val="004080"/>
            </a:solidFill>
            <a:prstDash val="solid"/>
          </a:ln>
        </p:spPr>
      </p:sp>
      <p:sp>
        <p:nvSpPr>
          <p:cNvPr id="46" name="Text 44"/>
          <p:cNvSpPr txBox="1"/>
          <p:nvPr/>
        </p:nvSpPr>
        <p:spPr>
          <a:xfrm>
            <a:off x="8503920" y="3867912"/>
            <a:ext cx="731520" cy="274320"/>
          </a:xfrm>
          <a:prstGeom prst="rect">
            <a:avLst/>
          </a:prstGeom>
          <a:noFill/>
          <a:ln/>
        </p:spPr>
        <p:txBody>
          <a:bodyPr wrap="square" lIns="0" tIns="0" rIns="0" bIns="0" rtlCol="0" anchor="t"/>
          <a:lstStyle/>
          <a:p>
            <a:pPr indent="0" marL="0">
              <a:buNone/>
            </a:pPr>
            <a:r>
              <a:rPr lang="en-US" sz="1200" b="1" dirty="0">
                <a:solidFill>
                  <a:srgbClr val="004080"/>
                </a:solidFill>
              </a:rPr>
              <a:t>6.0</a:t>
            </a:r>
            <a:endParaRPr lang="en-US" sz="1200" dirty="0"/>
          </a:p>
        </p:txBody>
      </p:sp>
      <p:sp>
        <p:nvSpPr>
          <p:cNvPr id="47" name="Text 45"/>
          <p:cNvSpPr txBox="1"/>
          <p:nvPr/>
        </p:nvSpPr>
        <p:spPr>
          <a:xfrm>
            <a:off x="8503920" y="4142232"/>
            <a:ext cx="2834640" cy="548640"/>
          </a:xfrm>
          <a:prstGeom prst="rect">
            <a:avLst/>
          </a:prstGeom>
          <a:noFill/>
          <a:ln/>
        </p:spPr>
        <p:txBody>
          <a:bodyPr wrap="square" lIns="0" tIns="0" rIns="0" bIns="0" rtlCol="0" anchor="ctr"/>
          <a:lstStyle/>
          <a:p>
            <a:pPr algn="ctr" indent="0" marL="0">
              <a:buNone/>
            </a:pPr>
            <a:r>
              <a:rPr lang="en-US" sz="1500" b="1" dirty="0">
                <a:solidFill>
                  <a:srgbClr val="0B2545"/>
                </a:solidFill>
              </a:rPr>
              <a:t>Notify users</a:t>
            </a:r>
            <a:endParaRPr lang="en-US" sz="1500" dirty="0"/>
          </a:p>
        </p:txBody>
      </p:sp>
      <p:sp>
        <p:nvSpPr>
          <p:cNvPr id="48" name="store D6"/>
          <p:cNvSpPr/>
          <p:nvPr/>
        </p:nvSpPr>
        <p:spPr>
          <a:xfrm>
            <a:off x="8366760" y="5212080"/>
            <a:ext cx="3108960" cy="457200"/>
          </a:xfrm>
          <a:prstGeom prst="rect">
            <a:avLst/>
          </a:prstGeom>
          <a:solidFill>
            <a:srgbClr val="EEF3F9"/>
          </a:solidFill>
          <a:ln w="12700">
            <a:solidFill>
              <a:srgbClr val="BFD3EA"/>
            </a:solidFill>
            <a:prstDash val="solid"/>
          </a:ln>
        </p:spPr>
      </p:sp>
      <p:sp>
        <p:nvSpPr>
          <p:cNvPr id="49" name="store id"/>
          <p:cNvSpPr/>
          <p:nvPr/>
        </p:nvSpPr>
        <p:spPr>
          <a:xfrm>
            <a:off x="8366760" y="5212080"/>
            <a:ext cx="502920" cy="457200"/>
          </a:xfrm>
          <a:prstGeom prst="rect">
            <a:avLst/>
          </a:prstGeom>
          <a:solidFill>
            <a:srgbClr val="BFD3EA"/>
          </a:solidFill>
          <a:ln w="12700">
            <a:solidFill>
              <a:srgbClr val="BFD3EA"/>
            </a:solidFill>
            <a:prstDash val="solid"/>
          </a:ln>
        </p:spPr>
      </p:sp>
      <p:sp>
        <p:nvSpPr>
          <p:cNvPr id="50" name="Text 48"/>
          <p:cNvSpPr txBox="1"/>
          <p:nvPr/>
        </p:nvSpPr>
        <p:spPr>
          <a:xfrm>
            <a:off x="8366760" y="5212080"/>
            <a:ext cx="502920" cy="457200"/>
          </a:xfrm>
          <a:prstGeom prst="rect">
            <a:avLst/>
          </a:prstGeom>
          <a:noFill/>
          <a:ln/>
        </p:spPr>
        <p:txBody>
          <a:bodyPr wrap="square" lIns="0" tIns="0" rIns="0" bIns="0" rtlCol="0" anchor="ctr"/>
          <a:lstStyle/>
          <a:p>
            <a:pPr algn="ctr" indent="0" marL="0">
              <a:buNone/>
            </a:pPr>
            <a:r>
              <a:rPr lang="en-US" sz="1200" b="1" dirty="0">
                <a:solidFill>
                  <a:srgbClr val="0B2545"/>
                </a:solidFill>
              </a:rPr>
              <a:t>D6</a:t>
            </a:r>
            <a:endParaRPr lang="en-US" sz="1200" dirty="0"/>
          </a:p>
        </p:txBody>
      </p:sp>
      <p:sp>
        <p:nvSpPr>
          <p:cNvPr id="51" name="Text 49"/>
          <p:cNvSpPr txBox="1"/>
          <p:nvPr/>
        </p:nvSpPr>
        <p:spPr>
          <a:xfrm>
            <a:off x="8961120" y="5212080"/>
            <a:ext cx="2423160" cy="457200"/>
          </a:xfrm>
          <a:prstGeom prst="rect">
            <a:avLst/>
          </a:prstGeom>
          <a:noFill/>
          <a:ln/>
        </p:spPr>
        <p:txBody>
          <a:bodyPr wrap="square" lIns="0" tIns="0" rIns="0" bIns="0" rtlCol="0" anchor="ctr"/>
          <a:lstStyle/>
          <a:p>
            <a:pPr indent="0" marL="0">
              <a:buNone/>
            </a:pPr>
            <a:r>
              <a:rPr lang="en-US" sz="1100" dirty="0">
                <a:solidFill>
                  <a:srgbClr val="1A2433"/>
                </a:solidFill>
              </a:rPr>
              <a:t>notifications, announcements</a:t>
            </a:r>
            <a:endParaRPr lang="en-US" sz="1100" dirty="0"/>
          </a:p>
        </p:txBody>
      </p:sp>
      <p:sp>
        <p:nvSpPr>
          <p:cNvPr id="52" name="connector"/>
          <p:cNvSpPr/>
          <p:nvPr/>
        </p:nvSpPr>
        <p:spPr>
          <a:xfrm>
            <a:off x="9921240" y="4800600"/>
            <a:ext cx="914" cy="411480"/>
          </a:xfrm>
          <a:prstGeom prst="line">
            <a:avLst/>
          </a:prstGeom>
          <a:noFill/>
          <a:ln w="15875">
            <a:solidFill>
              <a:srgbClr val="5B7A99"/>
            </a:solidFill>
            <a:prstDash val="solid"/>
            <a:headEnd type="triangle"/>
            <a:tailEnd type="triangle"/>
          </a:ln>
        </p:spPr>
      </p:sp>
      <p:sp>
        <p:nvSpPr>
          <p:cNvPr id="53" name="connector"/>
          <p:cNvSpPr/>
          <p:nvPr/>
        </p:nvSpPr>
        <p:spPr>
          <a:xfrm>
            <a:off x="3794760" y="1783080"/>
            <a:ext cx="731520" cy="914"/>
          </a:xfrm>
          <a:prstGeom prst="line">
            <a:avLst/>
          </a:prstGeom>
          <a:noFill/>
          <a:ln w="15875">
            <a:solidFill>
              <a:srgbClr val="004080"/>
            </a:solidFill>
            <a:prstDash val="solid"/>
            <a:tailEnd type="triangle"/>
          </a:ln>
        </p:spPr>
      </p:sp>
      <p:sp>
        <p:nvSpPr>
          <p:cNvPr id="54" name="Text 52"/>
          <p:cNvSpPr txBox="1"/>
          <p:nvPr/>
        </p:nvSpPr>
        <p:spPr>
          <a:xfrm>
            <a:off x="3726180" y="1408176"/>
            <a:ext cx="868680" cy="274320"/>
          </a:xfrm>
          <a:prstGeom prst="rect">
            <a:avLst/>
          </a:prstGeom>
          <a:noFill/>
          <a:ln/>
        </p:spPr>
        <p:txBody>
          <a:bodyPr wrap="square" lIns="0" tIns="0" rIns="0" bIns="0" rtlCol="0" anchor="t"/>
          <a:lstStyle/>
          <a:p>
            <a:pPr algn="ctr" indent="0" marL="0">
              <a:buNone/>
            </a:pPr>
            <a:r>
              <a:rPr lang="en-US" sz="1000" i="1" dirty="0">
                <a:solidFill>
                  <a:srgbClr val="5B7A99"/>
                </a:solidFill>
              </a:rPr>
              <a:t>new student</a:t>
            </a:r>
            <a:endParaRPr lang="en-US" sz="1000" dirty="0"/>
          </a:p>
        </p:txBody>
      </p:sp>
      <p:sp>
        <p:nvSpPr>
          <p:cNvPr id="55" name="connector"/>
          <p:cNvSpPr/>
          <p:nvPr/>
        </p:nvSpPr>
        <p:spPr>
          <a:xfrm>
            <a:off x="7635240" y="1783080"/>
            <a:ext cx="731520" cy="914"/>
          </a:xfrm>
          <a:prstGeom prst="line">
            <a:avLst/>
          </a:prstGeom>
          <a:noFill/>
          <a:ln w="15875">
            <a:solidFill>
              <a:srgbClr val="004080"/>
            </a:solidFill>
            <a:prstDash val="solid"/>
            <a:tailEnd type="triangle"/>
          </a:ln>
        </p:spPr>
      </p:sp>
      <p:sp>
        <p:nvSpPr>
          <p:cNvPr id="56" name="Text 54"/>
          <p:cNvSpPr txBox="1"/>
          <p:nvPr/>
        </p:nvSpPr>
        <p:spPr>
          <a:xfrm>
            <a:off x="7566660" y="1408176"/>
            <a:ext cx="868680" cy="274320"/>
          </a:xfrm>
          <a:prstGeom prst="rect">
            <a:avLst/>
          </a:prstGeom>
          <a:noFill/>
          <a:ln/>
        </p:spPr>
        <p:txBody>
          <a:bodyPr wrap="square" lIns="0" tIns="0" rIns="0" bIns="0" rtlCol="0" anchor="t"/>
          <a:lstStyle/>
          <a:p>
            <a:pPr algn="ctr" indent="0" marL="0">
              <a:buNone/>
            </a:pPr>
            <a:r>
              <a:rPr lang="en-US" sz="1000" i="1" dirty="0">
                <a:solidFill>
                  <a:srgbClr val="5B7A99"/>
                </a:solidFill>
              </a:rPr>
              <a:t>% fees paid</a:t>
            </a:r>
            <a:endParaRPr lang="en-US" sz="1000" dirty="0"/>
          </a:p>
        </p:txBody>
      </p:sp>
      <p:sp>
        <p:nvSpPr>
          <p:cNvPr id="57" name="connector"/>
          <p:cNvSpPr/>
          <p:nvPr/>
        </p:nvSpPr>
        <p:spPr>
          <a:xfrm>
            <a:off x="6080760" y="3246120"/>
            <a:ext cx="914" cy="548640"/>
          </a:xfrm>
          <a:prstGeom prst="line">
            <a:avLst/>
          </a:prstGeom>
          <a:noFill/>
          <a:ln w="15875">
            <a:solidFill>
              <a:srgbClr val="E3A83B"/>
            </a:solidFill>
            <a:prstDash val="dash"/>
            <a:tailEnd type="triangle"/>
          </a:ln>
        </p:spPr>
      </p:sp>
      <p:sp>
        <p:nvSpPr>
          <p:cNvPr id="58" name="Text 56"/>
          <p:cNvSpPr txBox="1"/>
          <p:nvPr/>
        </p:nvSpPr>
        <p:spPr>
          <a:xfrm>
            <a:off x="6144768" y="3374136"/>
            <a:ext cx="1005840" cy="274320"/>
          </a:xfrm>
          <a:prstGeom prst="rect">
            <a:avLst/>
          </a:prstGeom>
          <a:noFill/>
          <a:ln/>
        </p:spPr>
        <p:txBody>
          <a:bodyPr wrap="square" lIns="0" tIns="0" rIns="0" bIns="0" rtlCol="0" anchor="t"/>
          <a:lstStyle/>
          <a:p>
            <a:pPr algn="ctr" indent="0" marL="0">
              <a:buNone/>
            </a:pPr>
            <a:r>
              <a:rPr lang="en-US" sz="1000" i="1" dirty="0">
                <a:solidFill>
                  <a:srgbClr val="5B7A99"/>
                </a:solidFill>
              </a:rPr>
              <a:t>% fees paid</a:t>
            </a:r>
            <a:endParaRPr lang="en-US" sz="1000" dirty="0"/>
          </a:p>
        </p:txBody>
      </p:sp>
      <p:sp>
        <p:nvSpPr>
          <p:cNvPr id="59" name="connector"/>
          <p:cNvSpPr/>
          <p:nvPr/>
        </p:nvSpPr>
        <p:spPr>
          <a:xfrm flipH="1">
            <a:off x="7635240" y="3246120"/>
            <a:ext cx="1691640" cy="640080"/>
          </a:xfrm>
          <a:prstGeom prst="line">
            <a:avLst/>
          </a:prstGeom>
          <a:noFill/>
          <a:ln w="15875">
            <a:solidFill>
              <a:srgbClr val="E3A83B"/>
            </a:solidFill>
            <a:prstDash val="dash"/>
            <a:tailEnd type="triangle"/>
          </a:ln>
        </p:spPr>
      </p:sp>
      <p:sp>
        <p:nvSpPr>
          <p:cNvPr id="60" name="Text 58"/>
          <p:cNvSpPr txBox="1"/>
          <p:nvPr/>
        </p:nvSpPr>
        <p:spPr>
          <a:xfrm>
            <a:off x="8389620" y="3529584"/>
            <a:ext cx="1188720" cy="274320"/>
          </a:xfrm>
          <a:prstGeom prst="rect">
            <a:avLst/>
          </a:prstGeom>
          <a:noFill/>
          <a:ln/>
        </p:spPr>
        <p:txBody>
          <a:bodyPr wrap="square" lIns="0" tIns="0" rIns="0" bIns="0" rtlCol="0" anchor="t"/>
          <a:lstStyle/>
          <a:p>
            <a:pPr algn="ctr" indent="0" marL="0">
              <a:buNone/>
            </a:pPr>
            <a:r>
              <a:rPr lang="en-US" sz="1000" i="1" dirty="0">
                <a:solidFill>
                  <a:srgbClr val="5B7A99"/>
                </a:solidFill>
              </a:rPr>
              <a:t>current semester</a:t>
            </a:r>
            <a:endParaRPr lang="en-US" sz="1000" dirty="0"/>
          </a:p>
        </p:txBody>
      </p:sp>
      <p:sp>
        <p:nvSpPr>
          <p:cNvPr id="61" name="connector"/>
          <p:cNvSpPr/>
          <p:nvPr/>
        </p:nvSpPr>
        <p:spPr>
          <a:xfrm>
            <a:off x="7635240" y="4434840"/>
            <a:ext cx="731520" cy="914"/>
          </a:xfrm>
          <a:prstGeom prst="line">
            <a:avLst/>
          </a:prstGeom>
          <a:noFill/>
          <a:ln w="15875">
            <a:solidFill>
              <a:srgbClr val="004080"/>
            </a:solidFill>
            <a:prstDash val="solid"/>
            <a:tailEnd type="triangle"/>
          </a:ln>
        </p:spPr>
      </p:sp>
      <p:sp>
        <p:nvSpPr>
          <p:cNvPr id="62" name="Text 60"/>
          <p:cNvSpPr txBox="1"/>
          <p:nvPr/>
        </p:nvSpPr>
        <p:spPr>
          <a:xfrm>
            <a:off x="7566660" y="4059936"/>
            <a:ext cx="868680" cy="274320"/>
          </a:xfrm>
          <a:prstGeom prst="rect">
            <a:avLst/>
          </a:prstGeom>
          <a:noFill/>
          <a:ln/>
        </p:spPr>
        <p:txBody>
          <a:bodyPr wrap="square" lIns="0" tIns="0" rIns="0" bIns="0" rtlCol="0" anchor="t"/>
          <a:lstStyle/>
          <a:p>
            <a:pPr algn="ctr" indent="0" marL="0">
              <a:buNone/>
            </a:pPr>
            <a:r>
              <a:rPr lang="en-US" sz="1000" i="1" dirty="0">
                <a:solidFill>
                  <a:srgbClr val="5B7A99"/>
                </a:solidFill>
              </a:rPr>
              <a:t>hold / ticket</a:t>
            </a:r>
            <a:endParaRPr lang="en-US" sz="10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Data flow diagram: Level 2, exam clearance</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2nd Review</a:t>
            </a:r>
            <a:endParaRPr lang="en-US" sz="1100" dirty="0"/>
          </a:p>
        </p:txBody>
      </p:sp>
      <p:sp>
        <p:nvSpPr>
          <p:cNvPr id="5" name="Text 3"/>
          <p:cNvSpPr txBox="1"/>
          <p:nvPr/>
        </p:nvSpPr>
        <p:spPr>
          <a:xfrm>
            <a:off x="548640" y="1371600"/>
            <a:ext cx="3017520" cy="320040"/>
          </a:xfrm>
          <a:prstGeom prst="rect">
            <a:avLst/>
          </a:prstGeom>
          <a:noFill/>
          <a:ln/>
        </p:spPr>
        <p:txBody>
          <a:bodyPr wrap="square" lIns="0" tIns="0" rIns="0" bIns="0" rtlCol="0" anchor="t"/>
          <a:lstStyle/>
          <a:p>
            <a:pPr indent="0" marL="0">
              <a:buNone/>
            </a:pPr>
            <a:r>
              <a:rPr lang="en-US" sz="1300" b="1" dirty="0">
                <a:solidFill>
                  <a:srgbClr val="5B7A99"/>
                </a:solidFill>
              </a:rPr>
              <a:t>Departments (any order)</a:t>
            </a:r>
            <a:endParaRPr lang="en-US" sz="1300" dirty="0"/>
          </a:p>
        </p:txBody>
      </p:sp>
      <p:sp>
        <p:nvSpPr>
          <p:cNvPr id="6" name="5.1  Accounts: auto-check fees ≥ 75%"/>
          <p:cNvSpPr/>
          <p:nvPr/>
        </p:nvSpPr>
        <p:spPr>
          <a:xfrm>
            <a:off x="548640" y="1783080"/>
            <a:ext cx="3017520" cy="658368"/>
          </a:xfrm>
          <a:prstGeom prst="roundRect">
            <a:avLst>
              <a:gd name="adj" fmla="val 11111"/>
            </a:avLst>
          </a:prstGeom>
          <a:solidFill>
            <a:srgbClr val="EEF3F9"/>
          </a:solidFill>
          <a:ln w="15875">
            <a:solidFill>
              <a:srgbClr val="004080"/>
            </a:solidFill>
            <a:prstDash val="solid"/>
          </a:ln>
        </p:spPr>
      </p:sp>
      <p:sp>
        <p:nvSpPr>
          <p:cNvPr id="7" name="Text 5"/>
          <p:cNvSpPr txBox="1"/>
          <p:nvPr/>
        </p:nvSpPr>
        <p:spPr>
          <a:xfrm>
            <a:off x="603504" y="1783080"/>
            <a:ext cx="2907792" cy="658368"/>
          </a:xfrm>
          <a:prstGeom prst="rect">
            <a:avLst/>
          </a:prstGeom>
          <a:noFill/>
          <a:ln/>
        </p:spPr>
        <p:txBody>
          <a:bodyPr wrap="square" lIns="0" tIns="0" rIns="0" bIns="0" rtlCol="0" anchor="ctr"/>
          <a:lstStyle/>
          <a:p>
            <a:pPr algn="ctr" indent="0" marL="0">
              <a:buNone/>
            </a:pPr>
            <a:r>
              <a:rPr lang="en-US" sz="1300" b="1" dirty="0">
                <a:solidFill>
                  <a:srgbClr val="0B2545"/>
                </a:solidFill>
              </a:rPr>
              <a:t>5.1  Accounts: auto-check fees ≥ 75%</a:t>
            </a:r>
            <a:endParaRPr lang="en-US" sz="1300" dirty="0"/>
          </a:p>
        </p:txBody>
      </p:sp>
      <p:sp>
        <p:nvSpPr>
          <p:cNvPr id="8" name="5.2  Class Advisor clears"/>
          <p:cNvSpPr/>
          <p:nvPr/>
        </p:nvSpPr>
        <p:spPr>
          <a:xfrm>
            <a:off x="548640" y="2651760"/>
            <a:ext cx="3017520" cy="658368"/>
          </a:xfrm>
          <a:prstGeom prst="roundRect">
            <a:avLst>
              <a:gd name="adj" fmla="val 11111"/>
            </a:avLst>
          </a:prstGeom>
          <a:solidFill>
            <a:srgbClr val="EEF3F9"/>
          </a:solidFill>
          <a:ln w="15875">
            <a:solidFill>
              <a:srgbClr val="004080"/>
            </a:solidFill>
            <a:prstDash val="solid"/>
          </a:ln>
        </p:spPr>
      </p:sp>
      <p:sp>
        <p:nvSpPr>
          <p:cNvPr id="9" name="Text 7"/>
          <p:cNvSpPr txBox="1"/>
          <p:nvPr/>
        </p:nvSpPr>
        <p:spPr>
          <a:xfrm>
            <a:off x="603504" y="2651760"/>
            <a:ext cx="2907792" cy="658368"/>
          </a:xfrm>
          <a:prstGeom prst="rect">
            <a:avLst/>
          </a:prstGeom>
          <a:noFill/>
          <a:ln/>
        </p:spPr>
        <p:txBody>
          <a:bodyPr wrap="square" lIns="0" tIns="0" rIns="0" bIns="0" rtlCol="0" anchor="ctr"/>
          <a:lstStyle/>
          <a:p>
            <a:pPr algn="ctr" indent="0" marL="0">
              <a:buNone/>
            </a:pPr>
            <a:r>
              <a:rPr lang="en-US" sz="1300" b="1" dirty="0">
                <a:solidFill>
                  <a:srgbClr val="0B2545"/>
                </a:solidFill>
              </a:rPr>
              <a:t>5.2  Class Advisor clears</a:t>
            </a:r>
            <a:endParaRPr lang="en-US" sz="1300" dirty="0"/>
          </a:p>
        </p:txBody>
      </p:sp>
      <p:sp>
        <p:nvSpPr>
          <p:cNvPr id="10" name="5.3  Hostel clears (residents only)"/>
          <p:cNvSpPr/>
          <p:nvPr/>
        </p:nvSpPr>
        <p:spPr>
          <a:xfrm>
            <a:off x="548640" y="3520440"/>
            <a:ext cx="3017520" cy="658368"/>
          </a:xfrm>
          <a:prstGeom prst="roundRect">
            <a:avLst>
              <a:gd name="adj" fmla="val 11111"/>
            </a:avLst>
          </a:prstGeom>
          <a:solidFill>
            <a:srgbClr val="EEF3F9"/>
          </a:solidFill>
          <a:ln w="15875">
            <a:solidFill>
              <a:srgbClr val="004080"/>
            </a:solidFill>
            <a:prstDash val="solid"/>
          </a:ln>
        </p:spPr>
      </p:sp>
      <p:sp>
        <p:nvSpPr>
          <p:cNvPr id="11" name="Text 9"/>
          <p:cNvSpPr txBox="1"/>
          <p:nvPr/>
        </p:nvSpPr>
        <p:spPr>
          <a:xfrm>
            <a:off x="603504" y="3520440"/>
            <a:ext cx="2907792" cy="658368"/>
          </a:xfrm>
          <a:prstGeom prst="rect">
            <a:avLst/>
          </a:prstGeom>
          <a:noFill/>
          <a:ln/>
        </p:spPr>
        <p:txBody>
          <a:bodyPr wrap="square" lIns="0" tIns="0" rIns="0" bIns="0" rtlCol="0" anchor="ctr"/>
          <a:lstStyle/>
          <a:p>
            <a:pPr algn="ctr" indent="0" marL="0">
              <a:buNone/>
            </a:pPr>
            <a:r>
              <a:rPr lang="en-US" sz="1300" b="1" dirty="0">
                <a:solidFill>
                  <a:srgbClr val="0B2545"/>
                </a:solidFill>
              </a:rPr>
              <a:t>5.3  Hostel clears (residents only)</a:t>
            </a:r>
            <a:endParaRPr lang="en-US" sz="1300" dirty="0"/>
          </a:p>
        </p:txBody>
      </p:sp>
      <p:sp>
        <p:nvSpPr>
          <p:cNvPr id="12" name="decision"/>
          <p:cNvSpPr/>
          <p:nvPr/>
        </p:nvSpPr>
        <p:spPr>
          <a:xfrm>
            <a:off x="4023360" y="2240280"/>
            <a:ext cx="1463040" cy="1143000"/>
          </a:xfrm>
          <a:prstGeom prst="diamond">
            <a:avLst/>
          </a:prstGeom>
          <a:solidFill>
            <a:srgbClr val="FFFFFF"/>
          </a:solidFill>
          <a:ln w="19050">
            <a:solidFill>
              <a:srgbClr val="E3A83B"/>
            </a:solidFill>
            <a:prstDash val="solid"/>
          </a:ln>
        </p:spPr>
      </p:sp>
      <p:sp>
        <p:nvSpPr>
          <p:cNvPr id="13" name="Text 11"/>
          <p:cNvSpPr txBox="1"/>
          <p:nvPr/>
        </p:nvSpPr>
        <p:spPr>
          <a:xfrm>
            <a:off x="4160520" y="2240280"/>
            <a:ext cx="1188720" cy="1143000"/>
          </a:xfrm>
          <a:prstGeom prst="rect">
            <a:avLst/>
          </a:prstGeom>
          <a:noFill/>
          <a:ln/>
        </p:spPr>
        <p:txBody>
          <a:bodyPr wrap="square" lIns="0" tIns="0" rIns="0" bIns="0" rtlCol="0" anchor="ctr"/>
          <a:lstStyle/>
          <a:p>
            <a:pPr algn="ctr" indent="0" marL="0">
              <a:buNone/>
            </a:pPr>
            <a:r>
              <a:rPr lang="en-US" sz="1200" b="1" dirty="0">
                <a:solidFill>
                  <a:srgbClr val="0B2545"/>
                </a:solidFill>
              </a:rPr>
              <a:t>All three cleared?</a:t>
            </a:r>
            <a:endParaRPr lang="en-US" sz="1200" dirty="0"/>
          </a:p>
        </p:txBody>
      </p:sp>
      <p:sp>
        <p:nvSpPr>
          <p:cNvPr id="14" name="connector"/>
          <p:cNvSpPr/>
          <p:nvPr/>
        </p:nvSpPr>
        <p:spPr>
          <a:xfrm>
            <a:off x="3566160" y="2112264"/>
            <a:ext cx="594360" cy="704088"/>
          </a:xfrm>
          <a:prstGeom prst="line">
            <a:avLst/>
          </a:prstGeom>
          <a:noFill/>
          <a:ln w="15875">
            <a:solidFill>
              <a:srgbClr val="5B7A99"/>
            </a:solidFill>
            <a:prstDash val="solid"/>
            <a:tailEnd type="triangle"/>
          </a:ln>
        </p:spPr>
      </p:sp>
      <p:sp>
        <p:nvSpPr>
          <p:cNvPr id="15" name="connector"/>
          <p:cNvSpPr/>
          <p:nvPr/>
        </p:nvSpPr>
        <p:spPr>
          <a:xfrm flipV="1">
            <a:off x="3566160" y="2816352"/>
            <a:ext cx="594360" cy="164592"/>
          </a:xfrm>
          <a:prstGeom prst="line">
            <a:avLst/>
          </a:prstGeom>
          <a:noFill/>
          <a:ln w="15875">
            <a:solidFill>
              <a:srgbClr val="5B7A99"/>
            </a:solidFill>
            <a:prstDash val="solid"/>
            <a:tailEnd type="triangle"/>
          </a:ln>
        </p:spPr>
      </p:sp>
      <p:sp>
        <p:nvSpPr>
          <p:cNvPr id="16" name="connector"/>
          <p:cNvSpPr/>
          <p:nvPr/>
        </p:nvSpPr>
        <p:spPr>
          <a:xfrm flipV="1">
            <a:off x="3566160" y="2816352"/>
            <a:ext cx="594360" cy="1033272"/>
          </a:xfrm>
          <a:prstGeom prst="line">
            <a:avLst/>
          </a:prstGeom>
          <a:noFill/>
          <a:ln w="15875">
            <a:solidFill>
              <a:srgbClr val="5B7A99"/>
            </a:solidFill>
            <a:prstDash val="solid"/>
            <a:tailEnd type="triangle"/>
          </a:ln>
        </p:spPr>
      </p:sp>
      <p:sp>
        <p:nvSpPr>
          <p:cNvPr id="17" name="5.4 HOD approves"/>
          <p:cNvSpPr/>
          <p:nvPr/>
        </p:nvSpPr>
        <p:spPr>
          <a:xfrm>
            <a:off x="5943600" y="2377440"/>
            <a:ext cx="1280160" cy="868680"/>
          </a:xfrm>
          <a:prstGeom prst="roundRect">
            <a:avLst>
              <a:gd name="adj" fmla="val 8421"/>
            </a:avLst>
          </a:prstGeom>
          <a:solidFill>
            <a:srgbClr val="FFFFFF"/>
          </a:solidFill>
          <a:ln w="15875">
            <a:solidFill>
              <a:srgbClr val="E3A83B"/>
            </a:solidFill>
            <a:prstDash val="solid"/>
          </a:ln>
        </p:spPr>
      </p:sp>
      <p:sp>
        <p:nvSpPr>
          <p:cNvPr id="18" name="Text 16"/>
          <p:cNvSpPr txBox="1"/>
          <p:nvPr/>
        </p:nvSpPr>
        <p:spPr>
          <a:xfrm>
            <a:off x="5998464" y="2377440"/>
            <a:ext cx="1170432" cy="868680"/>
          </a:xfrm>
          <a:prstGeom prst="rect">
            <a:avLst/>
          </a:prstGeom>
          <a:noFill/>
          <a:ln/>
        </p:spPr>
        <p:txBody>
          <a:bodyPr wrap="square" lIns="0" tIns="0" rIns="0" bIns="0" rtlCol="0" anchor="ctr"/>
          <a:lstStyle/>
          <a:p>
            <a:pPr algn="ctr" indent="0" marL="0">
              <a:buNone/>
            </a:pPr>
            <a:r>
              <a:rPr lang="en-US" sz="1200" b="1" dirty="0">
                <a:solidFill>
                  <a:srgbClr val="0B2545"/>
                </a:solidFill>
              </a:rPr>
              <a:t>5.4</a:t>
            </a:r>
            <a:endParaRPr lang="en-US" sz="1200" dirty="0"/>
          </a:p>
          <a:p>
            <a:pPr algn="ctr" indent="0" marL="0">
              <a:buNone/>
            </a:pPr>
            <a:r>
              <a:rPr lang="en-US" sz="1200" b="1" dirty="0">
                <a:solidFill>
                  <a:srgbClr val="0B2545"/>
                </a:solidFill>
              </a:rPr>
              <a:t>HOD approves</a:t>
            </a:r>
            <a:endParaRPr lang="en-US" sz="1200" dirty="0"/>
          </a:p>
        </p:txBody>
      </p:sp>
      <p:sp>
        <p:nvSpPr>
          <p:cNvPr id="19" name="connector"/>
          <p:cNvSpPr/>
          <p:nvPr/>
        </p:nvSpPr>
        <p:spPr>
          <a:xfrm>
            <a:off x="7223760" y="2816352"/>
            <a:ext cx="182880" cy="914"/>
          </a:xfrm>
          <a:prstGeom prst="line">
            <a:avLst/>
          </a:prstGeom>
          <a:noFill/>
          <a:ln w="15875">
            <a:solidFill>
              <a:srgbClr val="5B7A99"/>
            </a:solidFill>
            <a:prstDash val="solid"/>
            <a:tailEnd type="triangle"/>
          </a:ln>
        </p:spPr>
      </p:sp>
      <p:sp>
        <p:nvSpPr>
          <p:cNvPr id="20" name="5.5 Dean of Students approves"/>
          <p:cNvSpPr/>
          <p:nvPr/>
        </p:nvSpPr>
        <p:spPr>
          <a:xfrm>
            <a:off x="7406640" y="2377440"/>
            <a:ext cx="1280160" cy="868680"/>
          </a:xfrm>
          <a:prstGeom prst="roundRect">
            <a:avLst>
              <a:gd name="adj" fmla="val 8421"/>
            </a:avLst>
          </a:prstGeom>
          <a:solidFill>
            <a:srgbClr val="FFFFFF"/>
          </a:solidFill>
          <a:ln w="15875">
            <a:solidFill>
              <a:srgbClr val="E3A83B"/>
            </a:solidFill>
            <a:prstDash val="solid"/>
          </a:ln>
        </p:spPr>
      </p:sp>
      <p:sp>
        <p:nvSpPr>
          <p:cNvPr id="21" name="Text 19"/>
          <p:cNvSpPr txBox="1"/>
          <p:nvPr/>
        </p:nvSpPr>
        <p:spPr>
          <a:xfrm>
            <a:off x="7461504" y="2377440"/>
            <a:ext cx="1170432" cy="868680"/>
          </a:xfrm>
          <a:prstGeom prst="rect">
            <a:avLst/>
          </a:prstGeom>
          <a:noFill/>
          <a:ln/>
        </p:spPr>
        <p:txBody>
          <a:bodyPr wrap="square" lIns="0" tIns="0" rIns="0" bIns="0" rtlCol="0" anchor="ctr"/>
          <a:lstStyle/>
          <a:p>
            <a:pPr algn="ctr" indent="0" marL="0">
              <a:buNone/>
            </a:pPr>
            <a:r>
              <a:rPr lang="en-US" sz="1200" b="1" dirty="0">
                <a:solidFill>
                  <a:srgbClr val="0B2545"/>
                </a:solidFill>
              </a:rPr>
              <a:t>5.5</a:t>
            </a:r>
            <a:endParaRPr lang="en-US" sz="1200" dirty="0"/>
          </a:p>
          <a:p>
            <a:pPr algn="ctr" indent="0" marL="0">
              <a:buNone/>
            </a:pPr>
            <a:r>
              <a:rPr lang="en-US" sz="1200" b="1" dirty="0">
                <a:solidFill>
                  <a:srgbClr val="0B2545"/>
                </a:solidFill>
              </a:rPr>
              <a:t>Dean of Students approves</a:t>
            </a:r>
            <a:endParaRPr lang="en-US" sz="1200" dirty="0"/>
          </a:p>
        </p:txBody>
      </p:sp>
      <p:sp>
        <p:nvSpPr>
          <p:cNvPr id="22" name="connector"/>
          <p:cNvSpPr/>
          <p:nvPr/>
        </p:nvSpPr>
        <p:spPr>
          <a:xfrm>
            <a:off x="8686800" y="2816352"/>
            <a:ext cx="182880" cy="914"/>
          </a:xfrm>
          <a:prstGeom prst="line">
            <a:avLst/>
          </a:prstGeom>
          <a:noFill/>
          <a:ln w="15875">
            <a:solidFill>
              <a:srgbClr val="5B7A99"/>
            </a:solidFill>
            <a:prstDash val="solid"/>
            <a:tailEnd type="triangle"/>
          </a:ln>
        </p:spPr>
      </p:sp>
      <p:sp>
        <p:nvSpPr>
          <p:cNvPr id="23" name="5.6 Dean (Academic) approves"/>
          <p:cNvSpPr/>
          <p:nvPr/>
        </p:nvSpPr>
        <p:spPr>
          <a:xfrm>
            <a:off x="8869680" y="2377440"/>
            <a:ext cx="1280160" cy="868680"/>
          </a:xfrm>
          <a:prstGeom prst="roundRect">
            <a:avLst>
              <a:gd name="adj" fmla="val 8421"/>
            </a:avLst>
          </a:prstGeom>
          <a:solidFill>
            <a:srgbClr val="FFFFFF"/>
          </a:solidFill>
          <a:ln w="15875">
            <a:solidFill>
              <a:srgbClr val="E3A83B"/>
            </a:solidFill>
            <a:prstDash val="solid"/>
          </a:ln>
        </p:spPr>
      </p:sp>
      <p:sp>
        <p:nvSpPr>
          <p:cNvPr id="24" name="Text 22"/>
          <p:cNvSpPr txBox="1"/>
          <p:nvPr/>
        </p:nvSpPr>
        <p:spPr>
          <a:xfrm>
            <a:off x="8924544" y="2377440"/>
            <a:ext cx="1170432" cy="868680"/>
          </a:xfrm>
          <a:prstGeom prst="rect">
            <a:avLst/>
          </a:prstGeom>
          <a:noFill/>
          <a:ln/>
        </p:spPr>
        <p:txBody>
          <a:bodyPr wrap="square" lIns="0" tIns="0" rIns="0" bIns="0" rtlCol="0" anchor="ctr"/>
          <a:lstStyle/>
          <a:p>
            <a:pPr algn="ctr" indent="0" marL="0">
              <a:buNone/>
            </a:pPr>
            <a:r>
              <a:rPr lang="en-US" sz="1200" b="1" dirty="0">
                <a:solidFill>
                  <a:srgbClr val="0B2545"/>
                </a:solidFill>
              </a:rPr>
              <a:t>5.6</a:t>
            </a:r>
            <a:endParaRPr lang="en-US" sz="1200" dirty="0"/>
          </a:p>
          <a:p>
            <a:pPr algn="ctr" indent="0" marL="0">
              <a:buNone/>
            </a:pPr>
            <a:r>
              <a:rPr lang="en-US" sz="1200" b="1" dirty="0">
                <a:solidFill>
                  <a:srgbClr val="0B2545"/>
                </a:solidFill>
              </a:rPr>
              <a:t>Dean (Academic) approves</a:t>
            </a:r>
            <a:endParaRPr lang="en-US" sz="1200" dirty="0"/>
          </a:p>
        </p:txBody>
      </p:sp>
      <p:sp>
        <p:nvSpPr>
          <p:cNvPr id="25" name="connector"/>
          <p:cNvSpPr/>
          <p:nvPr/>
        </p:nvSpPr>
        <p:spPr>
          <a:xfrm>
            <a:off x="10149840" y="2816352"/>
            <a:ext cx="182880" cy="914"/>
          </a:xfrm>
          <a:prstGeom prst="line">
            <a:avLst/>
          </a:prstGeom>
          <a:noFill/>
          <a:ln w="15875">
            <a:solidFill>
              <a:srgbClr val="5B7A99"/>
            </a:solidFill>
            <a:prstDash val="solid"/>
            <a:tailEnd type="triangle"/>
          </a:ln>
        </p:spPr>
      </p:sp>
      <p:sp>
        <p:nvSpPr>
          <p:cNvPr id="26" name="5.7 Issue hall ticket no."/>
          <p:cNvSpPr/>
          <p:nvPr/>
        </p:nvSpPr>
        <p:spPr>
          <a:xfrm>
            <a:off x="10332720" y="2377440"/>
            <a:ext cx="1280160" cy="868680"/>
          </a:xfrm>
          <a:prstGeom prst="roundRect">
            <a:avLst>
              <a:gd name="adj" fmla="val 8421"/>
            </a:avLst>
          </a:prstGeom>
          <a:solidFill>
            <a:srgbClr val="0B2545"/>
          </a:solidFill>
          <a:ln w="15875">
            <a:solidFill>
              <a:srgbClr val="0B2545"/>
            </a:solidFill>
            <a:prstDash val="solid"/>
          </a:ln>
        </p:spPr>
      </p:sp>
      <p:sp>
        <p:nvSpPr>
          <p:cNvPr id="27" name="Text 25"/>
          <p:cNvSpPr txBox="1"/>
          <p:nvPr/>
        </p:nvSpPr>
        <p:spPr>
          <a:xfrm>
            <a:off x="10387584" y="2377440"/>
            <a:ext cx="1170432" cy="868680"/>
          </a:xfrm>
          <a:prstGeom prst="rect">
            <a:avLst/>
          </a:prstGeom>
          <a:noFill/>
          <a:ln/>
        </p:spPr>
        <p:txBody>
          <a:bodyPr wrap="square" lIns="0" tIns="0" rIns="0" bIns="0" rtlCol="0" anchor="ctr"/>
          <a:lstStyle/>
          <a:p>
            <a:pPr algn="ctr" indent="0" marL="0">
              <a:buNone/>
            </a:pPr>
            <a:r>
              <a:rPr lang="en-US" sz="1200" b="1" dirty="0">
                <a:solidFill>
                  <a:srgbClr val="FFFFFF"/>
                </a:solidFill>
              </a:rPr>
              <a:t>5.7</a:t>
            </a:r>
            <a:endParaRPr lang="en-US" sz="1200" dirty="0"/>
          </a:p>
          <a:p>
            <a:pPr algn="ctr" indent="0" marL="0">
              <a:buNone/>
            </a:pPr>
            <a:r>
              <a:rPr lang="en-US" sz="1200" b="1" dirty="0">
                <a:solidFill>
                  <a:srgbClr val="FFFFFF"/>
                </a:solidFill>
              </a:rPr>
              <a:t>Issue hall ticket no.</a:t>
            </a:r>
            <a:endParaRPr lang="en-US" sz="1200" dirty="0"/>
          </a:p>
        </p:txBody>
      </p:sp>
      <p:sp>
        <p:nvSpPr>
          <p:cNvPr id="28" name="connector"/>
          <p:cNvSpPr/>
          <p:nvPr/>
        </p:nvSpPr>
        <p:spPr>
          <a:xfrm>
            <a:off x="5486400" y="2816352"/>
            <a:ext cx="457200" cy="914"/>
          </a:xfrm>
          <a:prstGeom prst="line">
            <a:avLst/>
          </a:prstGeom>
          <a:noFill/>
          <a:ln w="15875">
            <a:solidFill>
              <a:srgbClr val="1E7E34"/>
            </a:solidFill>
            <a:prstDash val="solid"/>
            <a:tailEnd type="triangle"/>
          </a:ln>
        </p:spPr>
      </p:sp>
      <p:sp>
        <p:nvSpPr>
          <p:cNvPr id="29" name="Text 27"/>
          <p:cNvSpPr txBox="1"/>
          <p:nvPr/>
        </p:nvSpPr>
        <p:spPr>
          <a:xfrm>
            <a:off x="5486400" y="2441448"/>
            <a:ext cx="457200" cy="274320"/>
          </a:xfrm>
          <a:prstGeom prst="rect">
            <a:avLst/>
          </a:prstGeom>
          <a:noFill/>
          <a:ln/>
        </p:spPr>
        <p:txBody>
          <a:bodyPr wrap="square" lIns="0" tIns="0" rIns="0" bIns="0" rtlCol="0" anchor="t"/>
          <a:lstStyle/>
          <a:p>
            <a:pPr algn="ctr" indent="0" marL="0">
              <a:buNone/>
            </a:pPr>
            <a:r>
              <a:rPr lang="en-US" sz="1000" i="1" dirty="0">
                <a:solidFill>
                  <a:srgbClr val="1E7E34"/>
                </a:solidFill>
              </a:rPr>
              <a:t>yes</a:t>
            </a:r>
            <a:endParaRPr lang="en-US" sz="1000" dirty="0"/>
          </a:p>
        </p:txBody>
      </p:sp>
      <p:sp>
        <p:nvSpPr>
          <p:cNvPr id="30" name="Hold with a reason → notify student → later approvals reset"/>
          <p:cNvSpPr/>
          <p:nvPr/>
        </p:nvSpPr>
        <p:spPr>
          <a:xfrm>
            <a:off x="5943600" y="4206240"/>
            <a:ext cx="4206240" cy="731520"/>
          </a:xfrm>
          <a:prstGeom prst="roundRect">
            <a:avLst>
              <a:gd name="adj" fmla="val 10000"/>
            </a:avLst>
          </a:prstGeom>
          <a:solidFill>
            <a:srgbClr val="FDECEA"/>
          </a:solidFill>
          <a:ln w="15875">
            <a:solidFill>
              <a:srgbClr val="C0392B"/>
            </a:solidFill>
            <a:prstDash val="solid"/>
          </a:ln>
        </p:spPr>
      </p:sp>
      <p:sp>
        <p:nvSpPr>
          <p:cNvPr id="31" name="Text 29"/>
          <p:cNvSpPr txBox="1"/>
          <p:nvPr/>
        </p:nvSpPr>
        <p:spPr>
          <a:xfrm>
            <a:off x="5998464" y="4206240"/>
            <a:ext cx="4096512" cy="731520"/>
          </a:xfrm>
          <a:prstGeom prst="rect">
            <a:avLst/>
          </a:prstGeom>
          <a:noFill/>
          <a:ln/>
        </p:spPr>
        <p:txBody>
          <a:bodyPr wrap="square" lIns="0" tIns="0" rIns="0" bIns="0" rtlCol="0" anchor="ctr"/>
          <a:lstStyle/>
          <a:p>
            <a:pPr algn="ctr" indent="0" marL="0">
              <a:buNone/>
            </a:pPr>
            <a:r>
              <a:rPr lang="en-US" sz="1300" b="1" dirty="0">
                <a:solidFill>
                  <a:srgbClr val="C0392B"/>
                </a:solidFill>
              </a:rPr>
              <a:t>Hold with a reason → notify student → later approvals reset</a:t>
            </a:r>
            <a:endParaRPr lang="en-US" sz="1300" dirty="0"/>
          </a:p>
        </p:txBody>
      </p:sp>
      <p:sp>
        <p:nvSpPr>
          <p:cNvPr id="32" name="connector"/>
          <p:cNvSpPr/>
          <p:nvPr/>
        </p:nvSpPr>
        <p:spPr>
          <a:xfrm>
            <a:off x="6583680" y="3246120"/>
            <a:ext cx="914" cy="960120"/>
          </a:xfrm>
          <a:prstGeom prst="line">
            <a:avLst/>
          </a:prstGeom>
          <a:noFill/>
          <a:ln w="15875">
            <a:solidFill>
              <a:srgbClr val="C0392B"/>
            </a:solidFill>
            <a:prstDash val="dash"/>
            <a:tailEnd type="triangle"/>
          </a:ln>
        </p:spPr>
      </p:sp>
      <p:sp>
        <p:nvSpPr>
          <p:cNvPr id="33" name="connector"/>
          <p:cNvSpPr/>
          <p:nvPr/>
        </p:nvSpPr>
        <p:spPr>
          <a:xfrm>
            <a:off x="8046720" y="3246120"/>
            <a:ext cx="914" cy="960120"/>
          </a:xfrm>
          <a:prstGeom prst="line">
            <a:avLst/>
          </a:prstGeom>
          <a:noFill/>
          <a:ln w="15875">
            <a:solidFill>
              <a:srgbClr val="C0392B"/>
            </a:solidFill>
            <a:prstDash val="dash"/>
            <a:tailEnd type="triangle"/>
          </a:ln>
        </p:spPr>
      </p:sp>
      <p:sp>
        <p:nvSpPr>
          <p:cNvPr id="34" name="connector"/>
          <p:cNvSpPr/>
          <p:nvPr/>
        </p:nvSpPr>
        <p:spPr>
          <a:xfrm>
            <a:off x="9509760" y="3246120"/>
            <a:ext cx="914" cy="960120"/>
          </a:xfrm>
          <a:prstGeom prst="line">
            <a:avLst/>
          </a:prstGeom>
          <a:noFill/>
          <a:ln w="15875">
            <a:solidFill>
              <a:srgbClr val="C0392B"/>
            </a:solidFill>
            <a:prstDash val="dash"/>
            <a:tailEnd type="triangle"/>
          </a:ln>
        </p:spPr>
      </p:sp>
      <p:sp>
        <p:nvSpPr>
          <p:cNvPr id="35" name="connector"/>
          <p:cNvSpPr/>
          <p:nvPr/>
        </p:nvSpPr>
        <p:spPr>
          <a:xfrm>
            <a:off x="11000232" y="3246120"/>
            <a:ext cx="914" cy="960120"/>
          </a:xfrm>
          <a:prstGeom prst="line">
            <a:avLst/>
          </a:prstGeom>
          <a:noFill/>
          <a:ln w="15875">
            <a:solidFill>
              <a:srgbClr val="1E7E34"/>
            </a:solidFill>
            <a:prstDash val="solid"/>
            <a:tailEnd type="triangle"/>
          </a:ln>
        </p:spPr>
      </p:sp>
      <p:sp>
        <p:nvSpPr>
          <p:cNvPr id="36" name="Student prints ticket"/>
          <p:cNvSpPr/>
          <p:nvPr/>
        </p:nvSpPr>
        <p:spPr>
          <a:xfrm>
            <a:off x="10332720" y="4206240"/>
            <a:ext cx="1307592" cy="731520"/>
          </a:xfrm>
          <a:prstGeom prst="roundRect">
            <a:avLst>
              <a:gd name="adj" fmla="val 10000"/>
            </a:avLst>
          </a:prstGeom>
          <a:solidFill>
            <a:srgbClr val="E6F4EA"/>
          </a:solidFill>
          <a:ln w="15875">
            <a:solidFill>
              <a:srgbClr val="1E7E34"/>
            </a:solidFill>
            <a:prstDash val="solid"/>
          </a:ln>
        </p:spPr>
      </p:sp>
      <p:sp>
        <p:nvSpPr>
          <p:cNvPr id="37" name="Text 35"/>
          <p:cNvSpPr txBox="1"/>
          <p:nvPr/>
        </p:nvSpPr>
        <p:spPr>
          <a:xfrm>
            <a:off x="10387584" y="4206240"/>
            <a:ext cx="1197864" cy="731520"/>
          </a:xfrm>
          <a:prstGeom prst="rect">
            <a:avLst/>
          </a:prstGeom>
          <a:noFill/>
          <a:ln/>
        </p:spPr>
        <p:txBody>
          <a:bodyPr wrap="square" lIns="0" tIns="0" rIns="0" bIns="0" rtlCol="0" anchor="ctr"/>
          <a:lstStyle/>
          <a:p>
            <a:pPr algn="ctr" indent="0" marL="0">
              <a:buNone/>
            </a:pPr>
            <a:r>
              <a:rPr lang="en-US" sz="1200" b="1" dirty="0">
                <a:solidFill>
                  <a:srgbClr val="1E7E34"/>
                </a:solidFill>
              </a:rPr>
              <a:t>Student prints ticket</a:t>
            </a:r>
            <a:endParaRPr lang="en-US" sz="1200" dirty="0"/>
          </a:p>
        </p:txBody>
      </p:sp>
      <p:sp>
        <p:nvSpPr>
          <p:cNvPr id="38" name="store"/>
          <p:cNvSpPr/>
          <p:nvPr/>
        </p:nvSpPr>
        <p:spPr>
          <a:xfrm>
            <a:off x="548640" y="5440680"/>
            <a:ext cx="3566160" cy="457200"/>
          </a:xfrm>
          <a:prstGeom prst="rect">
            <a:avLst/>
          </a:prstGeom>
          <a:solidFill>
            <a:srgbClr val="EEF3F9"/>
          </a:solidFill>
          <a:ln w="12700">
            <a:solidFill>
              <a:srgbClr val="BFD3EA"/>
            </a:solidFill>
            <a:prstDash val="solid"/>
          </a:ln>
        </p:spPr>
      </p:sp>
      <p:sp>
        <p:nvSpPr>
          <p:cNvPr id="39" name="store id"/>
          <p:cNvSpPr/>
          <p:nvPr/>
        </p:nvSpPr>
        <p:spPr>
          <a:xfrm>
            <a:off x="548640" y="5440680"/>
            <a:ext cx="502920" cy="457200"/>
          </a:xfrm>
          <a:prstGeom prst="rect">
            <a:avLst/>
          </a:prstGeom>
          <a:solidFill>
            <a:srgbClr val="BFD3EA"/>
          </a:solidFill>
          <a:ln w="12700">
            <a:solidFill>
              <a:srgbClr val="BFD3EA"/>
            </a:solidFill>
            <a:prstDash val="solid"/>
          </a:ln>
        </p:spPr>
      </p:sp>
      <p:sp>
        <p:nvSpPr>
          <p:cNvPr id="40" name="Text 38"/>
          <p:cNvSpPr txBox="1"/>
          <p:nvPr/>
        </p:nvSpPr>
        <p:spPr>
          <a:xfrm>
            <a:off x="548640" y="5440680"/>
            <a:ext cx="502920" cy="457200"/>
          </a:xfrm>
          <a:prstGeom prst="rect">
            <a:avLst/>
          </a:prstGeom>
          <a:noFill/>
          <a:ln/>
        </p:spPr>
        <p:txBody>
          <a:bodyPr wrap="square" lIns="0" tIns="0" rIns="0" bIns="0" rtlCol="0" anchor="ctr"/>
          <a:lstStyle/>
          <a:p>
            <a:pPr algn="ctr" indent="0" marL="0">
              <a:buNone/>
            </a:pPr>
            <a:r>
              <a:rPr lang="en-US" sz="1200" b="1" dirty="0">
                <a:solidFill>
                  <a:srgbClr val="0B2545"/>
                </a:solidFill>
              </a:rPr>
              <a:t>D2</a:t>
            </a:r>
            <a:endParaRPr lang="en-US" sz="1200" dirty="0"/>
          </a:p>
        </p:txBody>
      </p:sp>
      <p:sp>
        <p:nvSpPr>
          <p:cNvPr id="41" name="Text 39"/>
          <p:cNvSpPr txBox="1"/>
          <p:nvPr/>
        </p:nvSpPr>
        <p:spPr>
          <a:xfrm>
            <a:off x="1143000" y="5440680"/>
            <a:ext cx="2880360" cy="457200"/>
          </a:xfrm>
          <a:prstGeom prst="rect">
            <a:avLst/>
          </a:prstGeom>
          <a:noFill/>
          <a:ln/>
        </p:spPr>
        <p:txBody>
          <a:bodyPr wrap="square" lIns="0" tIns="0" rIns="0" bIns="0" rtlCol="0" anchor="ctr"/>
          <a:lstStyle/>
          <a:p>
            <a:pPr indent="0" marL="0">
              <a:buNone/>
            </a:pPr>
            <a:r>
              <a:rPr lang="en-US" sz="1200" dirty="0">
                <a:solidFill>
                  <a:srgbClr val="1A2433"/>
                </a:solidFill>
              </a:rPr>
              <a:t>fee_entries (paid vs billed)</a:t>
            </a:r>
            <a:endParaRPr lang="en-US" sz="1200" dirty="0"/>
          </a:p>
        </p:txBody>
      </p:sp>
      <p:sp>
        <p:nvSpPr>
          <p:cNvPr id="42" name="store"/>
          <p:cNvSpPr/>
          <p:nvPr/>
        </p:nvSpPr>
        <p:spPr>
          <a:xfrm>
            <a:off x="4023360" y="5440680"/>
            <a:ext cx="3566160" cy="457200"/>
          </a:xfrm>
          <a:prstGeom prst="rect">
            <a:avLst/>
          </a:prstGeom>
          <a:solidFill>
            <a:srgbClr val="EEF3F9"/>
          </a:solidFill>
          <a:ln w="12700">
            <a:solidFill>
              <a:srgbClr val="BFD3EA"/>
            </a:solidFill>
            <a:prstDash val="solid"/>
          </a:ln>
        </p:spPr>
      </p:sp>
      <p:sp>
        <p:nvSpPr>
          <p:cNvPr id="43" name="store id"/>
          <p:cNvSpPr/>
          <p:nvPr/>
        </p:nvSpPr>
        <p:spPr>
          <a:xfrm>
            <a:off x="4023360" y="5440680"/>
            <a:ext cx="502920" cy="457200"/>
          </a:xfrm>
          <a:prstGeom prst="rect">
            <a:avLst/>
          </a:prstGeom>
          <a:solidFill>
            <a:srgbClr val="BFD3EA"/>
          </a:solidFill>
          <a:ln w="12700">
            <a:solidFill>
              <a:srgbClr val="BFD3EA"/>
            </a:solidFill>
            <a:prstDash val="solid"/>
          </a:ln>
        </p:spPr>
      </p:sp>
      <p:sp>
        <p:nvSpPr>
          <p:cNvPr id="44" name="Text 42"/>
          <p:cNvSpPr txBox="1"/>
          <p:nvPr/>
        </p:nvSpPr>
        <p:spPr>
          <a:xfrm>
            <a:off x="4023360" y="5440680"/>
            <a:ext cx="502920" cy="457200"/>
          </a:xfrm>
          <a:prstGeom prst="rect">
            <a:avLst/>
          </a:prstGeom>
          <a:noFill/>
          <a:ln/>
        </p:spPr>
        <p:txBody>
          <a:bodyPr wrap="square" lIns="0" tIns="0" rIns="0" bIns="0" rtlCol="0" anchor="ctr"/>
          <a:lstStyle/>
          <a:p>
            <a:pPr algn="ctr" indent="0" marL="0">
              <a:buNone/>
            </a:pPr>
            <a:r>
              <a:rPr lang="en-US" sz="1200" b="1" dirty="0">
                <a:solidFill>
                  <a:srgbClr val="0B2545"/>
                </a:solidFill>
              </a:rPr>
              <a:t>D5</a:t>
            </a:r>
            <a:endParaRPr lang="en-US" sz="1200" dirty="0"/>
          </a:p>
        </p:txBody>
      </p:sp>
      <p:sp>
        <p:nvSpPr>
          <p:cNvPr id="45" name="Text 43"/>
          <p:cNvSpPr txBox="1"/>
          <p:nvPr/>
        </p:nvSpPr>
        <p:spPr>
          <a:xfrm>
            <a:off x="4617720" y="5440680"/>
            <a:ext cx="2880360" cy="457200"/>
          </a:xfrm>
          <a:prstGeom prst="rect">
            <a:avLst/>
          </a:prstGeom>
          <a:noFill/>
          <a:ln/>
        </p:spPr>
        <p:txBody>
          <a:bodyPr wrap="square" lIns="0" tIns="0" rIns="0" bIns="0" rtlCol="0" anchor="ctr"/>
          <a:lstStyle/>
          <a:p>
            <a:pPr indent="0" marL="0">
              <a:buNone/>
            </a:pPr>
            <a:r>
              <a:rPr lang="en-US" sz="1200" dirty="0">
                <a:solidFill>
                  <a:srgbClr val="1A2433"/>
                </a:solidFill>
              </a:rPr>
              <a:t>exam_clearances (signatures, ticket_no)</a:t>
            </a:r>
            <a:endParaRPr lang="en-US" sz="1200" dirty="0"/>
          </a:p>
        </p:txBody>
      </p:sp>
      <p:sp>
        <p:nvSpPr>
          <p:cNvPr id="46" name="store"/>
          <p:cNvSpPr/>
          <p:nvPr/>
        </p:nvSpPr>
        <p:spPr>
          <a:xfrm>
            <a:off x="7863840" y="5440680"/>
            <a:ext cx="3566160" cy="457200"/>
          </a:xfrm>
          <a:prstGeom prst="rect">
            <a:avLst/>
          </a:prstGeom>
          <a:solidFill>
            <a:srgbClr val="EEF3F9"/>
          </a:solidFill>
          <a:ln w="12700">
            <a:solidFill>
              <a:srgbClr val="BFD3EA"/>
            </a:solidFill>
            <a:prstDash val="solid"/>
          </a:ln>
        </p:spPr>
      </p:sp>
      <p:sp>
        <p:nvSpPr>
          <p:cNvPr id="47" name="store id"/>
          <p:cNvSpPr/>
          <p:nvPr/>
        </p:nvSpPr>
        <p:spPr>
          <a:xfrm>
            <a:off x="7863840" y="5440680"/>
            <a:ext cx="502920" cy="457200"/>
          </a:xfrm>
          <a:prstGeom prst="rect">
            <a:avLst/>
          </a:prstGeom>
          <a:solidFill>
            <a:srgbClr val="BFD3EA"/>
          </a:solidFill>
          <a:ln w="12700">
            <a:solidFill>
              <a:srgbClr val="BFD3EA"/>
            </a:solidFill>
            <a:prstDash val="solid"/>
          </a:ln>
        </p:spPr>
      </p:sp>
      <p:sp>
        <p:nvSpPr>
          <p:cNvPr id="48" name="Text 46"/>
          <p:cNvSpPr txBox="1"/>
          <p:nvPr/>
        </p:nvSpPr>
        <p:spPr>
          <a:xfrm>
            <a:off x="7863840" y="5440680"/>
            <a:ext cx="502920" cy="457200"/>
          </a:xfrm>
          <a:prstGeom prst="rect">
            <a:avLst/>
          </a:prstGeom>
          <a:noFill/>
          <a:ln/>
        </p:spPr>
        <p:txBody>
          <a:bodyPr wrap="square" lIns="0" tIns="0" rIns="0" bIns="0" rtlCol="0" anchor="ctr"/>
          <a:lstStyle/>
          <a:p>
            <a:pPr algn="ctr" indent="0" marL="0">
              <a:buNone/>
            </a:pPr>
            <a:r>
              <a:rPr lang="en-US" sz="1200" b="1" dirty="0">
                <a:solidFill>
                  <a:srgbClr val="0B2545"/>
                </a:solidFill>
              </a:rPr>
              <a:t>D5</a:t>
            </a:r>
            <a:endParaRPr lang="en-US" sz="1200" dirty="0"/>
          </a:p>
        </p:txBody>
      </p:sp>
      <p:sp>
        <p:nvSpPr>
          <p:cNvPr id="49" name="Text 47"/>
          <p:cNvSpPr txBox="1"/>
          <p:nvPr/>
        </p:nvSpPr>
        <p:spPr>
          <a:xfrm>
            <a:off x="8458200" y="5440680"/>
            <a:ext cx="2880360" cy="457200"/>
          </a:xfrm>
          <a:prstGeom prst="rect">
            <a:avLst/>
          </a:prstGeom>
          <a:noFill/>
          <a:ln/>
        </p:spPr>
        <p:txBody>
          <a:bodyPr wrap="square" lIns="0" tIns="0" rIns="0" bIns="0" rtlCol="0" anchor="ctr"/>
          <a:lstStyle/>
          <a:p>
            <a:pPr indent="0" marL="0">
              <a:buNone/>
            </a:pPr>
            <a:r>
              <a:rPr lang="en-US" sz="1200" dirty="0">
                <a:solidFill>
                  <a:srgbClr val="1A2433"/>
                </a:solidFill>
              </a:rPr>
              <a:t>exam_timetable (programme + semester)</a:t>
            </a:r>
            <a:endParaRPr lang="en-US" sz="1200" dirty="0"/>
          </a:p>
        </p:txBody>
      </p:sp>
      <p:sp>
        <p:nvSpPr>
          <p:cNvPr id="50" name="connector"/>
          <p:cNvSpPr/>
          <p:nvPr/>
        </p:nvSpPr>
        <p:spPr>
          <a:xfrm flipV="1">
            <a:off x="2057400" y="4507992"/>
            <a:ext cx="914" cy="932688"/>
          </a:xfrm>
          <a:prstGeom prst="line">
            <a:avLst/>
          </a:prstGeom>
          <a:noFill/>
          <a:ln w="15875">
            <a:solidFill>
              <a:srgbClr val="5B7A99"/>
            </a:solidFill>
            <a:prstDash val="dash"/>
            <a:tailEnd type="triangle"/>
          </a:ln>
        </p:spPr>
      </p:sp>
      <p:sp>
        <p:nvSpPr>
          <p:cNvPr id="51" name="connector"/>
          <p:cNvSpPr/>
          <p:nvPr/>
        </p:nvSpPr>
        <p:spPr>
          <a:xfrm>
            <a:off x="4754880" y="3383280"/>
            <a:ext cx="914" cy="2057400"/>
          </a:xfrm>
          <a:prstGeom prst="line">
            <a:avLst/>
          </a:prstGeom>
          <a:noFill/>
          <a:ln w="15875">
            <a:solidFill>
              <a:srgbClr val="5B7A99"/>
            </a:solidFill>
            <a:prstDash val="dash"/>
            <a:tailEnd type="triangle"/>
          </a:ln>
        </p:spPr>
      </p:sp>
      <p:sp>
        <p:nvSpPr>
          <p:cNvPr id="52" name="connector"/>
          <p:cNvSpPr/>
          <p:nvPr/>
        </p:nvSpPr>
        <p:spPr>
          <a:xfrm>
            <a:off x="11000232" y="4937760"/>
            <a:ext cx="914" cy="502920"/>
          </a:xfrm>
          <a:prstGeom prst="line">
            <a:avLst/>
          </a:prstGeom>
          <a:noFill/>
          <a:ln w="15875">
            <a:solidFill>
              <a:srgbClr val="5B7A99"/>
            </a:solidFill>
            <a:prstDash val="dash"/>
          </a:ln>
        </p:spPr>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Use case diagram</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2nd Review</a:t>
            </a:r>
            <a:endParaRPr lang="en-US" sz="1100" dirty="0"/>
          </a:p>
        </p:txBody>
      </p:sp>
      <p:sp>
        <p:nvSpPr>
          <p:cNvPr id="5" name="system boundary"/>
          <p:cNvSpPr/>
          <p:nvPr/>
        </p:nvSpPr>
        <p:spPr>
          <a:xfrm>
            <a:off x="2743200" y="1325880"/>
            <a:ext cx="6355080" cy="4937760"/>
          </a:xfrm>
          <a:prstGeom prst="rect">
            <a:avLst/>
          </a:prstGeom>
          <a:solidFill>
            <a:srgbClr val="FAFCFE"/>
          </a:solidFill>
          <a:ln w="15875">
            <a:solidFill>
              <a:srgbClr val="0B2545"/>
            </a:solidFill>
            <a:prstDash val="solid"/>
          </a:ln>
        </p:spPr>
      </p:sp>
      <p:sp>
        <p:nvSpPr>
          <p:cNvPr id="6" name="Text 4"/>
          <p:cNvSpPr txBox="1"/>
          <p:nvPr/>
        </p:nvSpPr>
        <p:spPr>
          <a:xfrm>
            <a:off x="2880360" y="1371600"/>
            <a:ext cx="3657600" cy="274320"/>
          </a:xfrm>
          <a:prstGeom prst="rect">
            <a:avLst/>
          </a:prstGeom>
          <a:noFill/>
          <a:ln/>
        </p:spPr>
        <p:txBody>
          <a:bodyPr wrap="square" lIns="0" tIns="0" rIns="0" bIns="0" rtlCol="0" anchor="t"/>
          <a:lstStyle/>
          <a:p>
            <a:pPr indent="0" marL="0">
              <a:buNone/>
            </a:pPr>
            <a:r>
              <a:rPr lang="en-US" sz="1200" b="1" dirty="0">
                <a:solidFill>
                  <a:srgbClr val="0B2545"/>
                </a:solidFill>
              </a:rPr>
              <a:t>Online School Portal</a:t>
            </a:r>
            <a:endParaRPr lang="en-US" sz="1200" dirty="0"/>
          </a:p>
        </p:txBody>
      </p:sp>
      <p:sp>
        <p:nvSpPr>
          <p:cNvPr id="7" name="Apply for admission"/>
          <p:cNvSpPr/>
          <p:nvPr/>
        </p:nvSpPr>
        <p:spPr>
          <a:xfrm>
            <a:off x="2971800" y="1783080"/>
            <a:ext cx="2788920" cy="548640"/>
          </a:xfrm>
          <a:prstGeom prst="ellipse">
            <a:avLst>
              <a:gd name="adj" fmla="val 13333"/>
            </a:avLst>
          </a:prstGeom>
          <a:solidFill>
            <a:srgbClr val="FFFFFF"/>
          </a:solidFill>
          <a:ln w="15875">
            <a:solidFill>
              <a:srgbClr val="004080"/>
            </a:solidFill>
            <a:prstDash val="solid"/>
          </a:ln>
        </p:spPr>
      </p:sp>
      <p:sp>
        <p:nvSpPr>
          <p:cNvPr id="8" name="Text 6"/>
          <p:cNvSpPr txBox="1"/>
          <p:nvPr/>
        </p:nvSpPr>
        <p:spPr>
          <a:xfrm>
            <a:off x="3026664" y="1783080"/>
            <a:ext cx="2679192" cy="548640"/>
          </a:xfrm>
          <a:prstGeom prst="rect">
            <a:avLst/>
          </a:prstGeom>
          <a:noFill/>
          <a:ln/>
        </p:spPr>
        <p:txBody>
          <a:bodyPr wrap="square" lIns="0" tIns="0" rIns="0" bIns="0" rtlCol="0" anchor="ctr"/>
          <a:lstStyle/>
          <a:p>
            <a:pPr algn="ctr" indent="0" marL="0">
              <a:buNone/>
            </a:pPr>
            <a:r>
              <a:rPr lang="en-US" sz="1100" dirty="0">
                <a:solidFill>
                  <a:srgbClr val="1A2433"/>
                </a:solidFill>
              </a:rPr>
              <a:t>Apply for admission</a:t>
            </a:r>
            <a:endParaRPr lang="en-US" sz="1100" dirty="0"/>
          </a:p>
        </p:txBody>
      </p:sp>
      <p:sp>
        <p:nvSpPr>
          <p:cNvPr id="9" name="Register for semester"/>
          <p:cNvSpPr/>
          <p:nvPr/>
        </p:nvSpPr>
        <p:spPr>
          <a:xfrm>
            <a:off x="2971800" y="2514600"/>
            <a:ext cx="2788920" cy="548640"/>
          </a:xfrm>
          <a:prstGeom prst="ellipse">
            <a:avLst>
              <a:gd name="adj" fmla="val 13333"/>
            </a:avLst>
          </a:prstGeom>
          <a:solidFill>
            <a:srgbClr val="FFFFFF"/>
          </a:solidFill>
          <a:ln w="15875">
            <a:solidFill>
              <a:srgbClr val="004080"/>
            </a:solidFill>
            <a:prstDash val="solid"/>
          </a:ln>
        </p:spPr>
      </p:sp>
      <p:sp>
        <p:nvSpPr>
          <p:cNvPr id="10" name="Text 8"/>
          <p:cNvSpPr txBox="1"/>
          <p:nvPr/>
        </p:nvSpPr>
        <p:spPr>
          <a:xfrm>
            <a:off x="3026664" y="2514600"/>
            <a:ext cx="2679192" cy="548640"/>
          </a:xfrm>
          <a:prstGeom prst="rect">
            <a:avLst/>
          </a:prstGeom>
          <a:noFill/>
          <a:ln/>
        </p:spPr>
        <p:txBody>
          <a:bodyPr wrap="square" lIns="0" tIns="0" rIns="0" bIns="0" rtlCol="0" anchor="ctr"/>
          <a:lstStyle/>
          <a:p>
            <a:pPr algn="ctr" indent="0" marL="0">
              <a:buNone/>
            </a:pPr>
            <a:r>
              <a:rPr lang="en-US" sz="1100" dirty="0">
                <a:solidFill>
                  <a:srgbClr val="1A2433"/>
                </a:solidFill>
              </a:rPr>
              <a:t>Register for semester</a:t>
            </a:r>
            <a:endParaRPr lang="en-US" sz="1100" dirty="0"/>
          </a:p>
        </p:txBody>
      </p:sp>
      <p:sp>
        <p:nvSpPr>
          <p:cNvPr id="11" name="Upload proof of payment"/>
          <p:cNvSpPr/>
          <p:nvPr/>
        </p:nvSpPr>
        <p:spPr>
          <a:xfrm>
            <a:off x="2971800" y="3246120"/>
            <a:ext cx="2788920" cy="548640"/>
          </a:xfrm>
          <a:prstGeom prst="ellipse">
            <a:avLst>
              <a:gd name="adj" fmla="val 13333"/>
            </a:avLst>
          </a:prstGeom>
          <a:solidFill>
            <a:srgbClr val="FFFFFF"/>
          </a:solidFill>
          <a:ln w="15875">
            <a:solidFill>
              <a:srgbClr val="004080"/>
            </a:solidFill>
            <a:prstDash val="solid"/>
          </a:ln>
        </p:spPr>
      </p:sp>
      <p:sp>
        <p:nvSpPr>
          <p:cNvPr id="12" name="Text 10"/>
          <p:cNvSpPr txBox="1"/>
          <p:nvPr/>
        </p:nvSpPr>
        <p:spPr>
          <a:xfrm>
            <a:off x="3026664" y="3246120"/>
            <a:ext cx="2679192" cy="548640"/>
          </a:xfrm>
          <a:prstGeom prst="rect">
            <a:avLst/>
          </a:prstGeom>
          <a:noFill/>
          <a:ln/>
        </p:spPr>
        <p:txBody>
          <a:bodyPr wrap="square" lIns="0" tIns="0" rIns="0" bIns="0" rtlCol="0" anchor="ctr"/>
          <a:lstStyle/>
          <a:p>
            <a:pPr algn="ctr" indent="0" marL="0">
              <a:buNone/>
            </a:pPr>
            <a:r>
              <a:rPr lang="en-US" sz="1100" dirty="0">
                <a:solidFill>
                  <a:srgbClr val="1A2433"/>
                </a:solidFill>
              </a:rPr>
              <a:t>Upload proof of payment</a:t>
            </a:r>
            <a:endParaRPr lang="en-US" sz="1100" dirty="0"/>
          </a:p>
        </p:txBody>
      </p:sp>
      <p:sp>
        <p:nvSpPr>
          <p:cNvPr id="13" name="View results &amp; notes"/>
          <p:cNvSpPr/>
          <p:nvPr/>
        </p:nvSpPr>
        <p:spPr>
          <a:xfrm>
            <a:off x="2971800" y="3977640"/>
            <a:ext cx="2788920" cy="548640"/>
          </a:xfrm>
          <a:prstGeom prst="ellipse">
            <a:avLst>
              <a:gd name="adj" fmla="val 13333"/>
            </a:avLst>
          </a:prstGeom>
          <a:solidFill>
            <a:srgbClr val="FFFFFF"/>
          </a:solidFill>
          <a:ln w="15875">
            <a:solidFill>
              <a:srgbClr val="004080"/>
            </a:solidFill>
            <a:prstDash val="solid"/>
          </a:ln>
        </p:spPr>
      </p:sp>
      <p:sp>
        <p:nvSpPr>
          <p:cNvPr id="14" name="Text 12"/>
          <p:cNvSpPr txBox="1"/>
          <p:nvPr/>
        </p:nvSpPr>
        <p:spPr>
          <a:xfrm>
            <a:off x="3026664" y="3977640"/>
            <a:ext cx="2679192" cy="548640"/>
          </a:xfrm>
          <a:prstGeom prst="rect">
            <a:avLst/>
          </a:prstGeom>
          <a:noFill/>
          <a:ln/>
        </p:spPr>
        <p:txBody>
          <a:bodyPr wrap="square" lIns="0" tIns="0" rIns="0" bIns="0" rtlCol="0" anchor="ctr"/>
          <a:lstStyle/>
          <a:p>
            <a:pPr algn="ctr" indent="0" marL="0">
              <a:buNone/>
            </a:pPr>
            <a:r>
              <a:rPr lang="en-US" sz="1100" dirty="0">
                <a:solidFill>
                  <a:srgbClr val="1A2433"/>
                </a:solidFill>
              </a:rPr>
              <a:t>View results &amp; notes</a:t>
            </a:r>
            <a:endParaRPr lang="en-US" sz="1100" dirty="0"/>
          </a:p>
        </p:txBody>
      </p:sp>
      <p:sp>
        <p:nvSpPr>
          <p:cNvPr id="15" name="Submit assignment"/>
          <p:cNvSpPr/>
          <p:nvPr/>
        </p:nvSpPr>
        <p:spPr>
          <a:xfrm>
            <a:off x="2971800" y="4709160"/>
            <a:ext cx="2788920" cy="548640"/>
          </a:xfrm>
          <a:prstGeom prst="ellipse">
            <a:avLst>
              <a:gd name="adj" fmla="val 13333"/>
            </a:avLst>
          </a:prstGeom>
          <a:solidFill>
            <a:srgbClr val="FFFFFF"/>
          </a:solidFill>
          <a:ln w="15875">
            <a:solidFill>
              <a:srgbClr val="004080"/>
            </a:solidFill>
            <a:prstDash val="solid"/>
          </a:ln>
        </p:spPr>
      </p:sp>
      <p:sp>
        <p:nvSpPr>
          <p:cNvPr id="16" name="Text 14"/>
          <p:cNvSpPr txBox="1"/>
          <p:nvPr/>
        </p:nvSpPr>
        <p:spPr>
          <a:xfrm>
            <a:off x="3026664" y="4709160"/>
            <a:ext cx="2679192" cy="548640"/>
          </a:xfrm>
          <a:prstGeom prst="rect">
            <a:avLst/>
          </a:prstGeom>
          <a:noFill/>
          <a:ln/>
        </p:spPr>
        <p:txBody>
          <a:bodyPr wrap="square" lIns="0" tIns="0" rIns="0" bIns="0" rtlCol="0" anchor="ctr"/>
          <a:lstStyle/>
          <a:p>
            <a:pPr algn="ctr" indent="0" marL="0">
              <a:buNone/>
            </a:pPr>
            <a:r>
              <a:rPr lang="en-US" sz="1100" dirty="0">
                <a:solidFill>
                  <a:srgbClr val="1A2433"/>
                </a:solidFill>
              </a:rPr>
              <a:t>Submit assignment</a:t>
            </a:r>
            <a:endParaRPr lang="en-US" sz="1100" dirty="0"/>
          </a:p>
        </p:txBody>
      </p:sp>
      <p:sp>
        <p:nvSpPr>
          <p:cNvPr id="17" name="Print hall ticket"/>
          <p:cNvSpPr/>
          <p:nvPr/>
        </p:nvSpPr>
        <p:spPr>
          <a:xfrm>
            <a:off x="2971800" y="5440680"/>
            <a:ext cx="2788920" cy="548640"/>
          </a:xfrm>
          <a:prstGeom prst="ellipse">
            <a:avLst>
              <a:gd name="adj" fmla="val 13333"/>
            </a:avLst>
          </a:prstGeom>
          <a:solidFill>
            <a:srgbClr val="FFFFFF"/>
          </a:solidFill>
          <a:ln w="15875">
            <a:solidFill>
              <a:srgbClr val="004080"/>
            </a:solidFill>
            <a:prstDash val="solid"/>
          </a:ln>
        </p:spPr>
      </p:sp>
      <p:sp>
        <p:nvSpPr>
          <p:cNvPr id="18" name="Text 16"/>
          <p:cNvSpPr txBox="1"/>
          <p:nvPr/>
        </p:nvSpPr>
        <p:spPr>
          <a:xfrm>
            <a:off x="3026664" y="5440680"/>
            <a:ext cx="2679192" cy="548640"/>
          </a:xfrm>
          <a:prstGeom prst="rect">
            <a:avLst/>
          </a:prstGeom>
          <a:noFill/>
          <a:ln/>
        </p:spPr>
        <p:txBody>
          <a:bodyPr wrap="square" lIns="0" tIns="0" rIns="0" bIns="0" rtlCol="0" anchor="ctr"/>
          <a:lstStyle/>
          <a:p>
            <a:pPr algn="ctr" indent="0" marL="0">
              <a:buNone/>
            </a:pPr>
            <a:r>
              <a:rPr lang="en-US" sz="1100" dirty="0">
                <a:solidFill>
                  <a:srgbClr val="1A2433"/>
                </a:solidFill>
              </a:rPr>
              <a:t>Print hall ticket</a:t>
            </a:r>
            <a:endParaRPr lang="en-US" sz="1100" dirty="0"/>
          </a:p>
        </p:txBody>
      </p:sp>
      <p:sp>
        <p:nvSpPr>
          <p:cNvPr id="19" name="Verify payments &amp; bill fees"/>
          <p:cNvSpPr/>
          <p:nvPr/>
        </p:nvSpPr>
        <p:spPr>
          <a:xfrm>
            <a:off x="6080760" y="1737360"/>
            <a:ext cx="2834640" cy="512064"/>
          </a:xfrm>
          <a:prstGeom prst="ellipse">
            <a:avLst>
              <a:gd name="adj" fmla="val 14286"/>
            </a:avLst>
          </a:prstGeom>
          <a:solidFill>
            <a:srgbClr val="FFFFFF"/>
          </a:solidFill>
          <a:ln w="15875">
            <a:solidFill>
              <a:srgbClr val="004080"/>
            </a:solidFill>
            <a:prstDash val="solid"/>
          </a:ln>
        </p:spPr>
      </p:sp>
      <p:sp>
        <p:nvSpPr>
          <p:cNvPr id="20" name="Text 18"/>
          <p:cNvSpPr txBox="1"/>
          <p:nvPr/>
        </p:nvSpPr>
        <p:spPr>
          <a:xfrm>
            <a:off x="6135624" y="1737360"/>
            <a:ext cx="2724912" cy="512064"/>
          </a:xfrm>
          <a:prstGeom prst="rect">
            <a:avLst/>
          </a:prstGeom>
          <a:noFill/>
          <a:ln/>
        </p:spPr>
        <p:txBody>
          <a:bodyPr wrap="square" lIns="0" tIns="0" rIns="0" bIns="0" rtlCol="0" anchor="ctr"/>
          <a:lstStyle/>
          <a:p>
            <a:pPr algn="ctr" indent="0" marL="0">
              <a:buNone/>
            </a:pPr>
            <a:r>
              <a:rPr lang="en-US" sz="1100" dirty="0">
                <a:solidFill>
                  <a:srgbClr val="1A2433"/>
                </a:solidFill>
              </a:rPr>
              <a:t>Verify payments &amp; bill fees</a:t>
            </a:r>
            <a:endParaRPr lang="en-US" sz="1100" dirty="0"/>
          </a:p>
        </p:txBody>
      </p:sp>
      <p:sp>
        <p:nvSpPr>
          <p:cNvPr id="21" name="Approve or hold exam clearance"/>
          <p:cNvSpPr/>
          <p:nvPr/>
        </p:nvSpPr>
        <p:spPr>
          <a:xfrm>
            <a:off x="6080760" y="2359152"/>
            <a:ext cx="2834640" cy="512064"/>
          </a:xfrm>
          <a:prstGeom prst="ellipse">
            <a:avLst>
              <a:gd name="adj" fmla="val 14286"/>
            </a:avLst>
          </a:prstGeom>
          <a:solidFill>
            <a:srgbClr val="FFFFFF"/>
          </a:solidFill>
          <a:ln w="15875">
            <a:solidFill>
              <a:srgbClr val="004080"/>
            </a:solidFill>
            <a:prstDash val="solid"/>
          </a:ln>
        </p:spPr>
      </p:sp>
      <p:sp>
        <p:nvSpPr>
          <p:cNvPr id="22" name="Text 20"/>
          <p:cNvSpPr txBox="1"/>
          <p:nvPr/>
        </p:nvSpPr>
        <p:spPr>
          <a:xfrm>
            <a:off x="6135624" y="2359152"/>
            <a:ext cx="2724912" cy="512064"/>
          </a:xfrm>
          <a:prstGeom prst="rect">
            <a:avLst/>
          </a:prstGeom>
          <a:noFill/>
          <a:ln/>
        </p:spPr>
        <p:txBody>
          <a:bodyPr wrap="square" lIns="0" tIns="0" rIns="0" bIns="0" rtlCol="0" anchor="ctr"/>
          <a:lstStyle/>
          <a:p>
            <a:pPr algn="ctr" indent="0" marL="0">
              <a:buNone/>
            </a:pPr>
            <a:r>
              <a:rPr lang="en-US" sz="1100" dirty="0">
                <a:solidFill>
                  <a:srgbClr val="1A2433"/>
                </a:solidFill>
              </a:rPr>
              <a:t>Approve or hold exam clearance</a:t>
            </a:r>
            <a:endParaRPr lang="en-US" sz="1100" dirty="0"/>
          </a:p>
        </p:txBody>
      </p:sp>
      <p:sp>
        <p:nvSpPr>
          <p:cNvPr id="23" name="Approve semester registration"/>
          <p:cNvSpPr/>
          <p:nvPr/>
        </p:nvSpPr>
        <p:spPr>
          <a:xfrm>
            <a:off x="6080760" y="2980944"/>
            <a:ext cx="2834640" cy="512064"/>
          </a:xfrm>
          <a:prstGeom prst="ellipse">
            <a:avLst>
              <a:gd name="adj" fmla="val 14286"/>
            </a:avLst>
          </a:prstGeom>
          <a:solidFill>
            <a:srgbClr val="FFFFFF"/>
          </a:solidFill>
          <a:ln w="15875">
            <a:solidFill>
              <a:srgbClr val="004080"/>
            </a:solidFill>
            <a:prstDash val="solid"/>
          </a:ln>
        </p:spPr>
      </p:sp>
      <p:sp>
        <p:nvSpPr>
          <p:cNvPr id="24" name="Text 22"/>
          <p:cNvSpPr txBox="1"/>
          <p:nvPr/>
        </p:nvSpPr>
        <p:spPr>
          <a:xfrm>
            <a:off x="6135624" y="2980944"/>
            <a:ext cx="2724912" cy="512064"/>
          </a:xfrm>
          <a:prstGeom prst="rect">
            <a:avLst/>
          </a:prstGeom>
          <a:noFill/>
          <a:ln/>
        </p:spPr>
        <p:txBody>
          <a:bodyPr wrap="square" lIns="0" tIns="0" rIns="0" bIns="0" rtlCol="0" anchor="ctr"/>
          <a:lstStyle/>
          <a:p>
            <a:pPr algn="ctr" indent="0" marL="0">
              <a:buNone/>
            </a:pPr>
            <a:r>
              <a:rPr lang="en-US" sz="1100" dirty="0">
                <a:solidFill>
                  <a:srgbClr val="1A2433"/>
                </a:solidFill>
              </a:rPr>
              <a:t>Approve semester registration</a:t>
            </a:r>
            <a:endParaRPr lang="en-US" sz="1100" dirty="0"/>
          </a:p>
        </p:txBody>
      </p:sp>
      <p:sp>
        <p:nvSpPr>
          <p:cNvPr id="25" name="Post notes, assignments &amp; marks"/>
          <p:cNvSpPr/>
          <p:nvPr/>
        </p:nvSpPr>
        <p:spPr>
          <a:xfrm>
            <a:off x="6080760" y="3602736"/>
            <a:ext cx="2834640" cy="512064"/>
          </a:xfrm>
          <a:prstGeom prst="ellipse">
            <a:avLst>
              <a:gd name="adj" fmla="val 14286"/>
            </a:avLst>
          </a:prstGeom>
          <a:solidFill>
            <a:srgbClr val="FFFFFF"/>
          </a:solidFill>
          <a:ln w="15875">
            <a:solidFill>
              <a:srgbClr val="004080"/>
            </a:solidFill>
            <a:prstDash val="solid"/>
          </a:ln>
        </p:spPr>
      </p:sp>
      <p:sp>
        <p:nvSpPr>
          <p:cNvPr id="26" name="Text 24"/>
          <p:cNvSpPr txBox="1"/>
          <p:nvPr/>
        </p:nvSpPr>
        <p:spPr>
          <a:xfrm>
            <a:off x="6135624" y="3602736"/>
            <a:ext cx="2724912" cy="512064"/>
          </a:xfrm>
          <a:prstGeom prst="rect">
            <a:avLst/>
          </a:prstGeom>
          <a:noFill/>
          <a:ln/>
        </p:spPr>
        <p:txBody>
          <a:bodyPr wrap="square" lIns="0" tIns="0" rIns="0" bIns="0" rtlCol="0" anchor="ctr"/>
          <a:lstStyle/>
          <a:p>
            <a:pPr algn="ctr" indent="0" marL="0">
              <a:buNone/>
            </a:pPr>
            <a:r>
              <a:rPr lang="en-US" sz="1100" dirty="0">
                <a:solidFill>
                  <a:srgbClr val="1A2433"/>
                </a:solidFill>
              </a:rPr>
              <a:t>Post notes, assignments &amp; marks</a:t>
            </a:r>
            <a:endParaRPr lang="en-US" sz="1100" dirty="0"/>
          </a:p>
        </p:txBody>
      </p:sp>
      <p:sp>
        <p:nvSpPr>
          <p:cNvPr id="27" name="Manage exam sessions &amp; timetables"/>
          <p:cNvSpPr/>
          <p:nvPr/>
        </p:nvSpPr>
        <p:spPr>
          <a:xfrm>
            <a:off x="6080760" y="4224528"/>
            <a:ext cx="2834640" cy="512064"/>
          </a:xfrm>
          <a:prstGeom prst="ellipse">
            <a:avLst>
              <a:gd name="adj" fmla="val 14286"/>
            </a:avLst>
          </a:prstGeom>
          <a:solidFill>
            <a:srgbClr val="FFFFFF"/>
          </a:solidFill>
          <a:ln w="15875">
            <a:solidFill>
              <a:srgbClr val="004080"/>
            </a:solidFill>
            <a:prstDash val="solid"/>
          </a:ln>
        </p:spPr>
      </p:sp>
      <p:sp>
        <p:nvSpPr>
          <p:cNvPr id="28" name="Text 26"/>
          <p:cNvSpPr txBox="1"/>
          <p:nvPr/>
        </p:nvSpPr>
        <p:spPr>
          <a:xfrm>
            <a:off x="6135624" y="4224528"/>
            <a:ext cx="2724912" cy="512064"/>
          </a:xfrm>
          <a:prstGeom prst="rect">
            <a:avLst/>
          </a:prstGeom>
          <a:noFill/>
          <a:ln/>
        </p:spPr>
        <p:txBody>
          <a:bodyPr wrap="square" lIns="0" tIns="0" rIns="0" bIns="0" rtlCol="0" anchor="ctr"/>
          <a:lstStyle/>
          <a:p>
            <a:pPr algn="ctr" indent="0" marL="0">
              <a:buNone/>
            </a:pPr>
            <a:r>
              <a:rPr lang="en-US" sz="1100" dirty="0">
                <a:solidFill>
                  <a:srgbClr val="1A2433"/>
                </a:solidFill>
              </a:rPr>
              <a:t>Manage exam sessions &amp; timetables</a:t>
            </a:r>
            <a:endParaRPr lang="en-US" sz="1100" dirty="0"/>
          </a:p>
        </p:txBody>
      </p:sp>
      <p:sp>
        <p:nvSpPr>
          <p:cNvPr id="29" name="Grant direct-entry exemptions"/>
          <p:cNvSpPr/>
          <p:nvPr/>
        </p:nvSpPr>
        <p:spPr>
          <a:xfrm>
            <a:off x="6080760" y="4846320"/>
            <a:ext cx="2834640" cy="512064"/>
          </a:xfrm>
          <a:prstGeom prst="ellipse">
            <a:avLst>
              <a:gd name="adj" fmla="val 14286"/>
            </a:avLst>
          </a:prstGeom>
          <a:solidFill>
            <a:srgbClr val="FFFFFF"/>
          </a:solidFill>
          <a:ln w="15875">
            <a:solidFill>
              <a:srgbClr val="004080"/>
            </a:solidFill>
            <a:prstDash val="solid"/>
          </a:ln>
        </p:spPr>
      </p:sp>
      <p:sp>
        <p:nvSpPr>
          <p:cNvPr id="30" name="Text 28"/>
          <p:cNvSpPr txBox="1"/>
          <p:nvPr/>
        </p:nvSpPr>
        <p:spPr>
          <a:xfrm>
            <a:off x="6135624" y="4846320"/>
            <a:ext cx="2724912" cy="512064"/>
          </a:xfrm>
          <a:prstGeom prst="rect">
            <a:avLst/>
          </a:prstGeom>
          <a:noFill/>
          <a:ln/>
        </p:spPr>
        <p:txBody>
          <a:bodyPr wrap="square" lIns="0" tIns="0" rIns="0" bIns="0" rtlCol="0" anchor="ctr"/>
          <a:lstStyle/>
          <a:p>
            <a:pPr algn="ctr" indent="0" marL="0">
              <a:buNone/>
            </a:pPr>
            <a:r>
              <a:rPr lang="en-US" sz="1100" dirty="0">
                <a:solidFill>
                  <a:srgbClr val="1A2433"/>
                </a:solidFill>
              </a:rPr>
              <a:t>Grant direct-entry exemptions</a:t>
            </a:r>
            <a:endParaRPr lang="en-US" sz="1100" dirty="0"/>
          </a:p>
        </p:txBody>
      </p:sp>
      <p:sp>
        <p:nvSpPr>
          <p:cNvPr id="31" name="Manage users &amp; roles"/>
          <p:cNvSpPr/>
          <p:nvPr/>
        </p:nvSpPr>
        <p:spPr>
          <a:xfrm>
            <a:off x="6080760" y="5468112"/>
            <a:ext cx="2834640" cy="512064"/>
          </a:xfrm>
          <a:prstGeom prst="ellipse">
            <a:avLst>
              <a:gd name="adj" fmla="val 14286"/>
            </a:avLst>
          </a:prstGeom>
          <a:solidFill>
            <a:srgbClr val="FFFFFF"/>
          </a:solidFill>
          <a:ln w="15875">
            <a:solidFill>
              <a:srgbClr val="004080"/>
            </a:solidFill>
            <a:prstDash val="solid"/>
          </a:ln>
        </p:spPr>
      </p:sp>
      <p:sp>
        <p:nvSpPr>
          <p:cNvPr id="32" name="Text 30"/>
          <p:cNvSpPr txBox="1"/>
          <p:nvPr/>
        </p:nvSpPr>
        <p:spPr>
          <a:xfrm>
            <a:off x="6135624" y="5468112"/>
            <a:ext cx="2724912" cy="512064"/>
          </a:xfrm>
          <a:prstGeom prst="rect">
            <a:avLst/>
          </a:prstGeom>
          <a:noFill/>
          <a:ln/>
        </p:spPr>
        <p:txBody>
          <a:bodyPr wrap="square" lIns="0" tIns="0" rIns="0" bIns="0" rtlCol="0" anchor="ctr"/>
          <a:lstStyle/>
          <a:p>
            <a:pPr algn="ctr" indent="0" marL="0">
              <a:buNone/>
            </a:pPr>
            <a:r>
              <a:rPr lang="en-US" sz="1100" dirty="0">
                <a:solidFill>
                  <a:srgbClr val="1A2433"/>
                </a:solidFill>
              </a:rPr>
              <a:t>Manage users &amp; roles</a:t>
            </a:r>
            <a:endParaRPr lang="en-US" sz="1100" dirty="0"/>
          </a:p>
        </p:txBody>
      </p:sp>
      <p:pic>
        <p:nvPicPr>
          <p:cNvPr id="33" name="Image 0" descr="Applicant">    </p:cNvPr>
          <p:cNvPicPr>
            <a:picLocks noChangeAspect="1"/>
          </p:cNvPicPr>
          <p:nvPr/>
        </p:nvPicPr>
        <p:blipFill>
          <a:blip r:embed="rId1"/>
          <a:stretch>
            <a:fillRect/>
          </a:stretch>
        </p:blipFill>
        <p:spPr>
          <a:xfrm>
            <a:off x="1325880" y="1737360"/>
            <a:ext cx="384048" cy="384048"/>
          </a:xfrm>
          <a:prstGeom prst="rect">
            <a:avLst/>
          </a:prstGeom>
        </p:spPr>
      </p:pic>
      <p:sp>
        <p:nvSpPr>
          <p:cNvPr id="34" name="Text 31"/>
          <p:cNvSpPr txBox="1"/>
          <p:nvPr/>
        </p:nvSpPr>
        <p:spPr>
          <a:xfrm>
            <a:off x="777240" y="2139696"/>
            <a:ext cx="1481328" cy="384048"/>
          </a:xfrm>
          <a:prstGeom prst="rect">
            <a:avLst/>
          </a:prstGeom>
          <a:noFill/>
          <a:ln/>
        </p:spPr>
        <p:txBody>
          <a:bodyPr wrap="square" lIns="0" tIns="0" rIns="0" bIns="0" rtlCol="0" anchor="t"/>
          <a:lstStyle/>
          <a:p>
            <a:pPr algn="ctr" indent="0" marL="0">
              <a:buNone/>
            </a:pPr>
            <a:r>
              <a:rPr lang="en-US" sz="1100" b="1" dirty="0">
                <a:solidFill>
                  <a:srgbClr val="0B2545"/>
                </a:solidFill>
              </a:rPr>
              <a:t>Applicant</a:t>
            </a:r>
            <a:endParaRPr lang="en-US" sz="1100" dirty="0"/>
          </a:p>
        </p:txBody>
      </p:sp>
      <p:pic>
        <p:nvPicPr>
          <p:cNvPr id="35" name="Image 1" descr="Student">    </p:cNvPr>
          <p:cNvPicPr>
            <a:picLocks noChangeAspect="1"/>
          </p:cNvPicPr>
          <p:nvPr/>
        </p:nvPicPr>
        <p:blipFill>
          <a:blip r:embed="rId2"/>
          <a:stretch>
            <a:fillRect/>
          </a:stretch>
        </p:blipFill>
        <p:spPr>
          <a:xfrm>
            <a:off x="1325880" y="3749040"/>
            <a:ext cx="384048" cy="384048"/>
          </a:xfrm>
          <a:prstGeom prst="rect">
            <a:avLst/>
          </a:prstGeom>
        </p:spPr>
      </p:pic>
      <p:sp>
        <p:nvSpPr>
          <p:cNvPr id="36" name="Text 32"/>
          <p:cNvSpPr txBox="1"/>
          <p:nvPr/>
        </p:nvSpPr>
        <p:spPr>
          <a:xfrm>
            <a:off x="777240" y="4151376"/>
            <a:ext cx="1481328" cy="384048"/>
          </a:xfrm>
          <a:prstGeom prst="rect">
            <a:avLst/>
          </a:prstGeom>
          <a:noFill/>
          <a:ln/>
        </p:spPr>
        <p:txBody>
          <a:bodyPr wrap="square" lIns="0" tIns="0" rIns="0" bIns="0" rtlCol="0" anchor="t"/>
          <a:lstStyle/>
          <a:p>
            <a:pPr algn="ctr" indent="0" marL="0">
              <a:buNone/>
            </a:pPr>
            <a:r>
              <a:rPr lang="en-US" sz="1100" b="1" dirty="0">
                <a:solidFill>
                  <a:srgbClr val="0B2545"/>
                </a:solidFill>
              </a:rPr>
              <a:t>Student</a:t>
            </a:r>
            <a:endParaRPr lang="en-US" sz="1100" dirty="0"/>
          </a:p>
        </p:txBody>
      </p:sp>
      <p:pic>
        <p:nvPicPr>
          <p:cNvPr id="37" name="Image 2" descr="Lecturer / Class Advisor">    </p:cNvPr>
          <p:cNvPicPr>
            <a:picLocks noChangeAspect="1"/>
          </p:cNvPicPr>
          <p:nvPr/>
        </p:nvPicPr>
        <p:blipFill>
          <a:blip r:embed="rId3"/>
          <a:stretch>
            <a:fillRect/>
          </a:stretch>
        </p:blipFill>
        <p:spPr>
          <a:xfrm>
            <a:off x="10652760" y="1417320"/>
            <a:ext cx="384048" cy="384048"/>
          </a:xfrm>
          <a:prstGeom prst="rect">
            <a:avLst/>
          </a:prstGeom>
        </p:spPr>
      </p:pic>
      <p:sp>
        <p:nvSpPr>
          <p:cNvPr id="38" name="Text 33"/>
          <p:cNvSpPr txBox="1"/>
          <p:nvPr/>
        </p:nvSpPr>
        <p:spPr>
          <a:xfrm>
            <a:off x="10104120" y="1819656"/>
            <a:ext cx="1481328" cy="384048"/>
          </a:xfrm>
          <a:prstGeom prst="rect">
            <a:avLst/>
          </a:prstGeom>
          <a:noFill/>
          <a:ln/>
        </p:spPr>
        <p:txBody>
          <a:bodyPr wrap="square" lIns="0" tIns="0" rIns="0" bIns="0" rtlCol="0" anchor="t"/>
          <a:lstStyle/>
          <a:p>
            <a:pPr algn="ctr" indent="0" marL="0">
              <a:buNone/>
            </a:pPr>
            <a:r>
              <a:rPr lang="en-US" sz="1100" b="1" dirty="0">
                <a:solidFill>
                  <a:srgbClr val="0B2545"/>
                </a:solidFill>
              </a:rPr>
              <a:t>Lecturer / Class Advisor</a:t>
            </a:r>
            <a:endParaRPr lang="en-US" sz="1100" dirty="0"/>
          </a:p>
        </p:txBody>
      </p:sp>
      <p:pic>
        <p:nvPicPr>
          <p:cNvPr id="39" name="Image 3" descr="Accountant">    </p:cNvPr>
          <p:cNvPicPr>
            <a:picLocks noChangeAspect="1"/>
          </p:cNvPicPr>
          <p:nvPr/>
        </p:nvPicPr>
        <p:blipFill>
          <a:blip r:embed="rId4"/>
          <a:stretch>
            <a:fillRect/>
          </a:stretch>
        </p:blipFill>
        <p:spPr>
          <a:xfrm>
            <a:off x="10652760" y="2377440"/>
            <a:ext cx="384048" cy="384048"/>
          </a:xfrm>
          <a:prstGeom prst="rect">
            <a:avLst/>
          </a:prstGeom>
        </p:spPr>
      </p:pic>
      <p:sp>
        <p:nvSpPr>
          <p:cNvPr id="40" name="Text 34"/>
          <p:cNvSpPr txBox="1"/>
          <p:nvPr/>
        </p:nvSpPr>
        <p:spPr>
          <a:xfrm>
            <a:off x="10104120" y="2779776"/>
            <a:ext cx="1481328" cy="384048"/>
          </a:xfrm>
          <a:prstGeom prst="rect">
            <a:avLst/>
          </a:prstGeom>
          <a:noFill/>
          <a:ln/>
        </p:spPr>
        <p:txBody>
          <a:bodyPr wrap="square" lIns="0" tIns="0" rIns="0" bIns="0" rtlCol="0" anchor="t"/>
          <a:lstStyle/>
          <a:p>
            <a:pPr algn="ctr" indent="0" marL="0">
              <a:buNone/>
            </a:pPr>
            <a:r>
              <a:rPr lang="en-US" sz="1100" b="1" dirty="0">
                <a:solidFill>
                  <a:srgbClr val="0B2545"/>
                </a:solidFill>
              </a:rPr>
              <a:t>Accountant</a:t>
            </a:r>
            <a:endParaRPr lang="en-US" sz="1100" dirty="0"/>
          </a:p>
        </p:txBody>
      </p:sp>
      <p:pic>
        <p:nvPicPr>
          <p:cNvPr id="41" name="Image 4" descr="HOD / Dean of Students">    </p:cNvPr>
          <p:cNvPicPr>
            <a:picLocks noChangeAspect="1"/>
          </p:cNvPicPr>
          <p:nvPr/>
        </p:nvPicPr>
        <p:blipFill>
          <a:blip r:embed="rId5"/>
          <a:stretch>
            <a:fillRect/>
          </a:stretch>
        </p:blipFill>
        <p:spPr>
          <a:xfrm>
            <a:off x="10652760" y="3337560"/>
            <a:ext cx="384048" cy="384048"/>
          </a:xfrm>
          <a:prstGeom prst="rect">
            <a:avLst/>
          </a:prstGeom>
        </p:spPr>
      </p:pic>
      <p:sp>
        <p:nvSpPr>
          <p:cNvPr id="42" name="Text 35"/>
          <p:cNvSpPr txBox="1"/>
          <p:nvPr/>
        </p:nvSpPr>
        <p:spPr>
          <a:xfrm>
            <a:off x="10104120" y="3739896"/>
            <a:ext cx="1481328" cy="384048"/>
          </a:xfrm>
          <a:prstGeom prst="rect">
            <a:avLst/>
          </a:prstGeom>
          <a:noFill/>
          <a:ln/>
        </p:spPr>
        <p:txBody>
          <a:bodyPr wrap="square" lIns="0" tIns="0" rIns="0" bIns="0" rtlCol="0" anchor="t"/>
          <a:lstStyle/>
          <a:p>
            <a:pPr algn="ctr" indent="0" marL="0">
              <a:buNone/>
            </a:pPr>
            <a:r>
              <a:rPr lang="en-US" sz="1100" b="1" dirty="0">
                <a:solidFill>
                  <a:srgbClr val="0B2545"/>
                </a:solidFill>
              </a:rPr>
              <a:t>HOD / Dean of Students</a:t>
            </a:r>
            <a:endParaRPr lang="en-US" sz="1100" dirty="0"/>
          </a:p>
        </p:txBody>
      </p:sp>
      <p:pic>
        <p:nvPicPr>
          <p:cNvPr id="43" name="Image 5" descr="Dean (Academic) / Registrar">    </p:cNvPr>
          <p:cNvPicPr>
            <a:picLocks noChangeAspect="1"/>
          </p:cNvPicPr>
          <p:nvPr/>
        </p:nvPicPr>
        <p:blipFill>
          <a:blip r:embed="rId6"/>
          <a:stretch>
            <a:fillRect/>
          </a:stretch>
        </p:blipFill>
        <p:spPr>
          <a:xfrm>
            <a:off x="10652760" y="4297680"/>
            <a:ext cx="384048" cy="384048"/>
          </a:xfrm>
          <a:prstGeom prst="rect">
            <a:avLst/>
          </a:prstGeom>
        </p:spPr>
      </p:pic>
      <p:sp>
        <p:nvSpPr>
          <p:cNvPr id="44" name="Text 36"/>
          <p:cNvSpPr txBox="1"/>
          <p:nvPr/>
        </p:nvSpPr>
        <p:spPr>
          <a:xfrm>
            <a:off x="10104120" y="4700016"/>
            <a:ext cx="1481328" cy="384048"/>
          </a:xfrm>
          <a:prstGeom prst="rect">
            <a:avLst/>
          </a:prstGeom>
          <a:noFill/>
          <a:ln/>
        </p:spPr>
        <p:txBody>
          <a:bodyPr wrap="square" lIns="0" tIns="0" rIns="0" bIns="0" rtlCol="0" anchor="t"/>
          <a:lstStyle/>
          <a:p>
            <a:pPr algn="ctr" indent="0" marL="0">
              <a:buNone/>
            </a:pPr>
            <a:r>
              <a:rPr lang="en-US" sz="1100" b="1" dirty="0">
                <a:solidFill>
                  <a:srgbClr val="0B2545"/>
                </a:solidFill>
              </a:rPr>
              <a:t>Dean (Academic) / Registrar</a:t>
            </a:r>
            <a:endParaRPr lang="en-US" sz="1100" dirty="0"/>
          </a:p>
        </p:txBody>
      </p:sp>
      <p:pic>
        <p:nvPicPr>
          <p:cNvPr id="45" name="Image 6" descr="Administrator">    </p:cNvPr>
          <p:cNvPicPr>
            <a:picLocks noChangeAspect="1"/>
          </p:cNvPicPr>
          <p:nvPr/>
        </p:nvPicPr>
        <p:blipFill>
          <a:blip r:embed="rId7"/>
          <a:stretch>
            <a:fillRect/>
          </a:stretch>
        </p:blipFill>
        <p:spPr>
          <a:xfrm>
            <a:off x="10652760" y="5349240"/>
            <a:ext cx="384048" cy="384048"/>
          </a:xfrm>
          <a:prstGeom prst="rect">
            <a:avLst/>
          </a:prstGeom>
        </p:spPr>
      </p:pic>
      <p:sp>
        <p:nvSpPr>
          <p:cNvPr id="46" name="Text 37"/>
          <p:cNvSpPr txBox="1"/>
          <p:nvPr/>
        </p:nvSpPr>
        <p:spPr>
          <a:xfrm>
            <a:off x="10104120" y="5751576"/>
            <a:ext cx="1481328" cy="384048"/>
          </a:xfrm>
          <a:prstGeom prst="rect">
            <a:avLst/>
          </a:prstGeom>
          <a:noFill/>
          <a:ln/>
        </p:spPr>
        <p:txBody>
          <a:bodyPr wrap="square" lIns="0" tIns="0" rIns="0" bIns="0" rtlCol="0" anchor="t"/>
          <a:lstStyle/>
          <a:p>
            <a:pPr algn="ctr" indent="0" marL="0">
              <a:buNone/>
            </a:pPr>
            <a:r>
              <a:rPr lang="en-US" sz="1100" b="1" dirty="0">
                <a:solidFill>
                  <a:srgbClr val="0B2545"/>
                </a:solidFill>
              </a:rPr>
              <a:t>Administrator</a:t>
            </a:r>
            <a:endParaRPr lang="en-US" sz="1100" dirty="0"/>
          </a:p>
        </p:txBody>
      </p:sp>
      <p:sp>
        <p:nvSpPr>
          <p:cNvPr id="47" name="connector"/>
          <p:cNvSpPr/>
          <p:nvPr/>
        </p:nvSpPr>
        <p:spPr>
          <a:xfrm>
            <a:off x="1783080" y="1929384"/>
            <a:ext cx="1188720" cy="128016"/>
          </a:xfrm>
          <a:prstGeom prst="line">
            <a:avLst/>
          </a:prstGeom>
          <a:noFill/>
          <a:ln w="12700">
            <a:solidFill>
              <a:srgbClr val="8FA3B8"/>
            </a:solidFill>
            <a:prstDash val="solid"/>
          </a:ln>
        </p:spPr>
      </p:sp>
      <p:sp>
        <p:nvSpPr>
          <p:cNvPr id="48" name="connector"/>
          <p:cNvSpPr/>
          <p:nvPr/>
        </p:nvSpPr>
        <p:spPr>
          <a:xfrm flipV="1">
            <a:off x="1783080" y="2788920"/>
            <a:ext cx="1188720" cy="1152144"/>
          </a:xfrm>
          <a:prstGeom prst="line">
            <a:avLst/>
          </a:prstGeom>
          <a:noFill/>
          <a:ln w="12700">
            <a:solidFill>
              <a:srgbClr val="8FA3B8"/>
            </a:solidFill>
            <a:prstDash val="solid"/>
          </a:ln>
        </p:spPr>
      </p:sp>
      <p:sp>
        <p:nvSpPr>
          <p:cNvPr id="49" name="connector"/>
          <p:cNvSpPr/>
          <p:nvPr/>
        </p:nvSpPr>
        <p:spPr>
          <a:xfrm flipV="1">
            <a:off x="1783080" y="3520440"/>
            <a:ext cx="1188720" cy="420624"/>
          </a:xfrm>
          <a:prstGeom prst="line">
            <a:avLst/>
          </a:prstGeom>
          <a:noFill/>
          <a:ln w="12700">
            <a:solidFill>
              <a:srgbClr val="8FA3B8"/>
            </a:solidFill>
            <a:prstDash val="solid"/>
          </a:ln>
        </p:spPr>
      </p:sp>
      <p:sp>
        <p:nvSpPr>
          <p:cNvPr id="50" name="connector"/>
          <p:cNvSpPr/>
          <p:nvPr/>
        </p:nvSpPr>
        <p:spPr>
          <a:xfrm>
            <a:off x="1783080" y="3941064"/>
            <a:ext cx="1188720" cy="310896"/>
          </a:xfrm>
          <a:prstGeom prst="line">
            <a:avLst/>
          </a:prstGeom>
          <a:noFill/>
          <a:ln w="12700">
            <a:solidFill>
              <a:srgbClr val="8FA3B8"/>
            </a:solidFill>
            <a:prstDash val="solid"/>
          </a:ln>
        </p:spPr>
      </p:sp>
      <p:sp>
        <p:nvSpPr>
          <p:cNvPr id="51" name="connector"/>
          <p:cNvSpPr/>
          <p:nvPr/>
        </p:nvSpPr>
        <p:spPr>
          <a:xfrm>
            <a:off x="1783080" y="3941064"/>
            <a:ext cx="1188720" cy="1042416"/>
          </a:xfrm>
          <a:prstGeom prst="line">
            <a:avLst/>
          </a:prstGeom>
          <a:noFill/>
          <a:ln w="12700">
            <a:solidFill>
              <a:srgbClr val="8FA3B8"/>
            </a:solidFill>
            <a:prstDash val="solid"/>
          </a:ln>
        </p:spPr>
      </p:sp>
      <p:sp>
        <p:nvSpPr>
          <p:cNvPr id="52" name="connector"/>
          <p:cNvSpPr/>
          <p:nvPr/>
        </p:nvSpPr>
        <p:spPr>
          <a:xfrm>
            <a:off x="1783080" y="3941064"/>
            <a:ext cx="1188720" cy="1773936"/>
          </a:xfrm>
          <a:prstGeom prst="line">
            <a:avLst/>
          </a:prstGeom>
          <a:noFill/>
          <a:ln w="12700">
            <a:solidFill>
              <a:srgbClr val="8FA3B8"/>
            </a:solidFill>
            <a:prstDash val="solid"/>
          </a:ln>
        </p:spPr>
      </p:sp>
      <p:sp>
        <p:nvSpPr>
          <p:cNvPr id="53" name="connector"/>
          <p:cNvSpPr/>
          <p:nvPr/>
        </p:nvSpPr>
        <p:spPr>
          <a:xfrm flipH="1">
            <a:off x="8915400" y="1609344"/>
            <a:ext cx="1691640" cy="1005840"/>
          </a:xfrm>
          <a:prstGeom prst="line">
            <a:avLst/>
          </a:prstGeom>
          <a:noFill/>
          <a:ln w="12700">
            <a:solidFill>
              <a:srgbClr val="8FA3B8"/>
            </a:solidFill>
            <a:prstDash val="solid"/>
          </a:ln>
        </p:spPr>
      </p:sp>
      <p:sp>
        <p:nvSpPr>
          <p:cNvPr id="54" name="connector"/>
          <p:cNvSpPr/>
          <p:nvPr/>
        </p:nvSpPr>
        <p:spPr>
          <a:xfrm flipH="1">
            <a:off x="8915400" y="1609344"/>
            <a:ext cx="1691640" cy="1627632"/>
          </a:xfrm>
          <a:prstGeom prst="line">
            <a:avLst/>
          </a:prstGeom>
          <a:noFill/>
          <a:ln w="12700">
            <a:solidFill>
              <a:srgbClr val="8FA3B8"/>
            </a:solidFill>
            <a:prstDash val="solid"/>
          </a:ln>
        </p:spPr>
      </p:sp>
      <p:sp>
        <p:nvSpPr>
          <p:cNvPr id="55" name="connector"/>
          <p:cNvSpPr/>
          <p:nvPr/>
        </p:nvSpPr>
        <p:spPr>
          <a:xfrm flipH="1">
            <a:off x="8915400" y="1609344"/>
            <a:ext cx="1691640" cy="2249424"/>
          </a:xfrm>
          <a:prstGeom prst="line">
            <a:avLst/>
          </a:prstGeom>
          <a:noFill/>
          <a:ln w="12700">
            <a:solidFill>
              <a:srgbClr val="8FA3B8"/>
            </a:solidFill>
            <a:prstDash val="solid"/>
          </a:ln>
        </p:spPr>
      </p:sp>
      <p:sp>
        <p:nvSpPr>
          <p:cNvPr id="56" name="connector"/>
          <p:cNvSpPr/>
          <p:nvPr/>
        </p:nvSpPr>
        <p:spPr>
          <a:xfrm flipH="1" flipV="1">
            <a:off x="8915400" y="1993392"/>
            <a:ext cx="1691640" cy="576072"/>
          </a:xfrm>
          <a:prstGeom prst="line">
            <a:avLst/>
          </a:prstGeom>
          <a:noFill/>
          <a:ln w="12700">
            <a:solidFill>
              <a:srgbClr val="8FA3B8"/>
            </a:solidFill>
            <a:prstDash val="solid"/>
          </a:ln>
        </p:spPr>
      </p:sp>
      <p:sp>
        <p:nvSpPr>
          <p:cNvPr id="57" name="connector"/>
          <p:cNvSpPr/>
          <p:nvPr/>
        </p:nvSpPr>
        <p:spPr>
          <a:xfrm flipH="1">
            <a:off x="8915400" y="2569464"/>
            <a:ext cx="1691640" cy="45720"/>
          </a:xfrm>
          <a:prstGeom prst="line">
            <a:avLst/>
          </a:prstGeom>
          <a:noFill/>
          <a:ln w="12700">
            <a:solidFill>
              <a:srgbClr val="8FA3B8"/>
            </a:solidFill>
            <a:prstDash val="solid"/>
          </a:ln>
        </p:spPr>
      </p:sp>
      <p:sp>
        <p:nvSpPr>
          <p:cNvPr id="58" name="connector"/>
          <p:cNvSpPr/>
          <p:nvPr/>
        </p:nvSpPr>
        <p:spPr>
          <a:xfrm flipH="1">
            <a:off x="8915400" y="2569464"/>
            <a:ext cx="1691640" cy="667512"/>
          </a:xfrm>
          <a:prstGeom prst="line">
            <a:avLst/>
          </a:prstGeom>
          <a:noFill/>
          <a:ln w="12700">
            <a:solidFill>
              <a:srgbClr val="8FA3B8"/>
            </a:solidFill>
            <a:prstDash val="solid"/>
          </a:ln>
        </p:spPr>
      </p:sp>
      <p:sp>
        <p:nvSpPr>
          <p:cNvPr id="59" name="connector"/>
          <p:cNvSpPr/>
          <p:nvPr/>
        </p:nvSpPr>
        <p:spPr>
          <a:xfrm flipH="1" flipV="1">
            <a:off x="8915400" y="2615184"/>
            <a:ext cx="1691640" cy="914400"/>
          </a:xfrm>
          <a:prstGeom prst="line">
            <a:avLst/>
          </a:prstGeom>
          <a:noFill/>
          <a:ln w="12700">
            <a:solidFill>
              <a:srgbClr val="8FA3B8"/>
            </a:solidFill>
            <a:prstDash val="solid"/>
          </a:ln>
        </p:spPr>
      </p:sp>
      <p:sp>
        <p:nvSpPr>
          <p:cNvPr id="60" name="connector"/>
          <p:cNvSpPr/>
          <p:nvPr/>
        </p:nvSpPr>
        <p:spPr>
          <a:xfrm flipH="1" flipV="1">
            <a:off x="8915400" y="3236976"/>
            <a:ext cx="1691640" cy="292608"/>
          </a:xfrm>
          <a:prstGeom prst="line">
            <a:avLst/>
          </a:prstGeom>
          <a:noFill/>
          <a:ln w="12700">
            <a:solidFill>
              <a:srgbClr val="8FA3B8"/>
            </a:solidFill>
            <a:prstDash val="solid"/>
          </a:ln>
        </p:spPr>
      </p:sp>
      <p:sp>
        <p:nvSpPr>
          <p:cNvPr id="61" name="connector"/>
          <p:cNvSpPr/>
          <p:nvPr/>
        </p:nvSpPr>
        <p:spPr>
          <a:xfrm flipH="1" flipV="1">
            <a:off x="8915400" y="2615184"/>
            <a:ext cx="1691640" cy="1874520"/>
          </a:xfrm>
          <a:prstGeom prst="line">
            <a:avLst/>
          </a:prstGeom>
          <a:noFill/>
          <a:ln w="12700">
            <a:solidFill>
              <a:srgbClr val="8FA3B8"/>
            </a:solidFill>
            <a:prstDash val="solid"/>
          </a:ln>
        </p:spPr>
      </p:sp>
      <p:sp>
        <p:nvSpPr>
          <p:cNvPr id="62" name="connector"/>
          <p:cNvSpPr/>
          <p:nvPr/>
        </p:nvSpPr>
        <p:spPr>
          <a:xfrm flipH="1" flipV="1">
            <a:off x="8915400" y="3236976"/>
            <a:ext cx="1691640" cy="1252728"/>
          </a:xfrm>
          <a:prstGeom prst="line">
            <a:avLst/>
          </a:prstGeom>
          <a:noFill/>
          <a:ln w="12700">
            <a:solidFill>
              <a:srgbClr val="8FA3B8"/>
            </a:solidFill>
            <a:prstDash val="solid"/>
          </a:ln>
        </p:spPr>
      </p:sp>
      <p:sp>
        <p:nvSpPr>
          <p:cNvPr id="63" name="connector"/>
          <p:cNvSpPr/>
          <p:nvPr/>
        </p:nvSpPr>
        <p:spPr>
          <a:xfrm flipH="1" flipV="1">
            <a:off x="8915400" y="4480560"/>
            <a:ext cx="1691640" cy="9144"/>
          </a:xfrm>
          <a:prstGeom prst="line">
            <a:avLst/>
          </a:prstGeom>
          <a:noFill/>
          <a:ln w="12700">
            <a:solidFill>
              <a:srgbClr val="8FA3B8"/>
            </a:solidFill>
            <a:prstDash val="solid"/>
          </a:ln>
        </p:spPr>
      </p:sp>
      <p:sp>
        <p:nvSpPr>
          <p:cNvPr id="64" name="connector"/>
          <p:cNvSpPr/>
          <p:nvPr/>
        </p:nvSpPr>
        <p:spPr>
          <a:xfrm flipH="1">
            <a:off x="8915400" y="4489704"/>
            <a:ext cx="1691640" cy="612648"/>
          </a:xfrm>
          <a:prstGeom prst="line">
            <a:avLst/>
          </a:prstGeom>
          <a:noFill/>
          <a:ln w="12700">
            <a:solidFill>
              <a:srgbClr val="8FA3B8"/>
            </a:solidFill>
            <a:prstDash val="solid"/>
          </a:ln>
        </p:spPr>
      </p:sp>
      <p:sp>
        <p:nvSpPr>
          <p:cNvPr id="65" name="connector"/>
          <p:cNvSpPr/>
          <p:nvPr/>
        </p:nvSpPr>
        <p:spPr>
          <a:xfrm flipH="1">
            <a:off x="8915400" y="5541264"/>
            <a:ext cx="1691640" cy="182880"/>
          </a:xfrm>
          <a:prstGeom prst="line">
            <a:avLst/>
          </a:prstGeom>
          <a:noFill/>
          <a:ln w="12700">
            <a:solidFill>
              <a:srgbClr val="8FA3B8"/>
            </a:solidFill>
            <a:prstDash val="solid"/>
          </a:ln>
        </p:spPr>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Database design: entity relationship diagram</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2nd Review</a:t>
            </a:r>
            <a:endParaRPr lang="en-US" sz="1100" dirty="0"/>
          </a:p>
        </p:txBody>
      </p:sp>
      <p:sp>
        <p:nvSpPr>
          <p:cNvPr id="5" name="entity LECTURERS"/>
          <p:cNvSpPr/>
          <p:nvPr/>
        </p:nvSpPr>
        <p:spPr>
          <a:xfrm>
            <a:off x="548640" y="1325880"/>
            <a:ext cx="2514600" cy="1417320"/>
          </a:xfrm>
          <a:prstGeom prst="rect">
            <a:avLst/>
          </a:prstGeom>
          <a:solidFill>
            <a:srgbClr val="FFFFFF"/>
          </a:solidFill>
          <a:ln w="12700">
            <a:solidFill>
              <a:srgbClr val="004080"/>
            </a:solidFill>
            <a:prstDash val="solid"/>
          </a:ln>
        </p:spPr>
      </p:sp>
      <p:sp>
        <p:nvSpPr>
          <p:cNvPr id="6" name="entity header"/>
          <p:cNvSpPr/>
          <p:nvPr/>
        </p:nvSpPr>
        <p:spPr>
          <a:xfrm>
            <a:off x="548640" y="1325880"/>
            <a:ext cx="2514600" cy="347472"/>
          </a:xfrm>
          <a:prstGeom prst="rect">
            <a:avLst/>
          </a:prstGeom>
          <a:solidFill>
            <a:srgbClr val="0B2545"/>
          </a:solidFill>
          <a:ln w="12700">
            <a:solidFill>
              <a:srgbClr val="0B2545"/>
            </a:solidFill>
            <a:prstDash val="solid"/>
          </a:ln>
        </p:spPr>
      </p:sp>
      <p:sp>
        <p:nvSpPr>
          <p:cNvPr id="7" name="Text 5"/>
          <p:cNvSpPr txBox="1"/>
          <p:nvPr/>
        </p:nvSpPr>
        <p:spPr>
          <a:xfrm>
            <a:off x="640080" y="1325880"/>
            <a:ext cx="2331720" cy="347472"/>
          </a:xfrm>
          <a:prstGeom prst="rect">
            <a:avLst/>
          </a:prstGeom>
          <a:noFill/>
          <a:ln/>
        </p:spPr>
        <p:txBody>
          <a:bodyPr wrap="square" lIns="0" tIns="0" rIns="0" bIns="0" rtlCol="0" anchor="ctr"/>
          <a:lstStyle/>
          <a:p>
            <a:pPr indent="0" marL="0">
              <a:buNone/>
            </a:pPr>
            <a:r>
              <a:rPr lang="en-US" sz="1200" b="1" dirty="0">
                <a:solidFill>
                  <a:srgbClr val="FFFFFF"/>
                </a:solidFill>
              </a:rPr>
              <a:t>LECTURERS</a:t>
            </a:r>
            <a:endParaRPr lang="en-US" sz="1200" dirty="0"/>
          </a:p>
        </p:txBody>
      </p:sp>
      <p:sp>
        <p:nvSpPr>
          <p:cNvPr id="8" name="Text 6"/>
          <p:cNvSpPr txBox="1"/>
          <p:nvPr/>
        </p:nvSpPr>
        <p:spPr>
          <a:xfrm>
            <a:off x="658368" y="1728216"/>
            <a:ext cx="2295144" cy="603504"/>
          </a:xfrm>
          <a:prstGeom prst="rect">
            <a:avLst/>
          </a:prstGeom>
          <a:noFill/>
          <a:ln/>
        </p:spPr>
        <p:txBody>
          <a:bodyPr wrap="square" lIns="0" tIns="0" rIns="0" bIns="0" rtlCol="0" anchor="t"/>
          <a:lstStyle/>
          <a:p>
            <a:pPr indent="0" marL="0">
              <a:lnSpc>
                <a:spcPct val="95000"/>
              </a:lnSpc>
              <a:buNone/>
            </a:pPr>
            <a:r>
              <a:rPr lang="en-US" sz="1050" b="1" dirty="0">
                <a:solidFill>
                  <a:srgbClr val="1A2433"/>
                </a:solidFill>
              </a:rPr>
              <a:t>lecturer_id PK</a:t>
            </a:r>
            <a:endParaRPr lang="en-US" sz="1050" dirty="0"/>
          </a:p>
          <a:p>
            <a:pPr indent="0" marL="0">
              <a:lnSpc>
                <a:spcPct val="95000"/>
              </a:lnSpc>
              <a:buNone/>
            </a:pPr>
            <a:r>
              <a:rPr lang="en-US" sz="1050" dirty="0">
                <a:solidFill>
                  <a:srgbClr val="1A2433"/>
                </a:solidFill>
              </a:rPr>
              <a:t>user_id FK</a:t>
            </a:r>
            <a:endParaRPr lang="en-US" sz="1050" dirty="0"/>
          </a:p>
          <a:p>
            <a:pPr indent="0" marL="0">
              <a:lnSpc>
                <a:spcPct val="95000"/>
              </a:lnSpc>
              <a:buNone/>
            </a:pPr>
            <a:r>
              <a:rPr lang="en-US" sz="1050" dirty="0">
                <a:solidFill>
                  <a:srgbClr val="1A2433"/>
                </a:solidFill>
              </a:rPr>
              <a:t>school</a:t>
            </a:r>
            <a:endParaRPr lang="en-US" sz="1050" dirty="0"/>
          </a:p>
        </p:txBody>
      </p:sp>
      <p:sp>
        <p:nvSpPr>
          <p:cNvPr id="9" name="entity USERS"/>
          <p:cNvSpPr/>
          <p:nvPr/>
        </p:nvSpPr>
        <p:spPr>
          <a:xfrm>
            <a:off x="3407969" y="1325880"/>
            <a:ext cx="2514600" cy="1417320"/>
          </a:xfrm>
          <a:prstGeom prst="rect">
            <a:avLst/>
          </a:prstGeom>
          <a:solidFill>
            <a:srgbClr val="FFFFFF"/>
          </a:solidFill>
          <a:ln w="12700">
            <a:solidFill>
              <a:srgbClr val="004080"/>
            </a:solidFill>
            <a:prstDash val="solid"/>
          </a:ln>
        </p:spPr>
      </p:sp>
      <p:sp>
        <p:nvSpPr>
          <p:cNvPr id="10" name="entity header"/>
          <p:cNvSpPr/>
          <p:nvPr/>
        </p:nvSpPr>
        <p:spPr>
          <a:xfrm>
            <a:off x="3407969" y="1325880"/>
            <a:ext cx="2514600" cy="347472"/>
          </a:xfrm>
          <a:prstGeom prst="rect">
            <a:avLst/>
          </a:prstGeom>
          <a:solidFill>
            <a:srgbClr val="0B2545"/>
          </a:solidFill>
          <a:ln w="12700">
            <a:solidFill>
              <a:srgbClr val="0B2545"/>
            </a:solidFill>
            <a:prstDash val="solid"/>
          </a:ln>
        </p:spPr>
      </p:sp>
      <p:sp>
        <p:nvSpPr>
          <p:cNvPr id="11" name="Text 9"/>
          <p:cNvSpPr txBox="1"/>
          <p:nvPr/>
        </p:nvSpPr>
        <p:spPr>
          <a:xfrm>
            <a:off x="3499409" y="1325880"/>
            <a:ext cx="2331720" cy="347472"/>
          </a:xfrm>
          <a:prstGeom prst="rect">
            <a:avLst/>
          </a:prstGeom>
          <a:noFill/>
          <a:ln/>
        </p:spPr>
        <p:txBody>
          <a:bodyPr wrap="square" lIns="0" tIns="0" rIns="0" bIns="0" rtlCol="0" anchor="ctr"/>
          <a:lstStyle/>
          <a:p>
            <a:pPr indent="0" marL="0">
              <a:buNone/>
            </a:pPr>
            <a:r>
              <a:rPr lang="en-US" sz="1200" b="1" dirty="0">
                <a:solidFill>
                  <a:srgbClr val="FFFFFF"/>
                </a:solidFill>
              </a:rPr>
              <a:t>USERS</a:t>
            </a:r>
            <a:endParaRPr lang="en-US" sz="1200" dirty="0"/>
          </a:p>
        </p:txBody>
      </p:sp>
      <p:sp>
        <p:nvSpPr>
          <p:cNvPr id="12" name="Text 10"/>
          <p:cNvSpPr txBox="1"/>
          <p:nvPr/>
        </p:nvSpPr>
        <p:spPr>
          <a:xfrm>
            <a:off x="3517697" y="1728216"/>
            <a:ext cx="2295144" cy="804672"/>
          </a:xfrm>
          <a:prstGeom prst="rect">
            <a:avLst/>
          </a:prstGeom>
          <a:noFill/>
          <a:ln/>
        </p:spPr>
        <p:txBody>
          <a:bodyPr wrap="square" lIns="0" tIns="0" rIns="0" bIns="0" rtlCol="0" anchor="t"/>
          <a:lstStyle/>
          <a:p>
            <a:pPr indent="0" marL="0">
              <a:lnSpc>
                <a:spcPct val="95000"/>
              </a:lnSpc>
              <a:buNone/>
            </a:pPr>
            <a:r>
              <a:rPr lang="en-US" sz="1050" b="1" dirty="0">
                <a:solidFill>
                  <a:srgbClr val="1A2433"/>
                </a:solidFill>
              </a:rPr>
              <a:t>user_id PK</a:t>
            </a:r>
            <a:endParaRPr lang="en-US" sz="1050" dirty="0"/>
          </a:p>
          <a:p>
            <a:pPr indent="0" marL="0">
              <a:lnSpc>
                <a:spcPct val="95000"/>
              </a:lnSpc>
              <a:buNone/>
            </a:pPr>
            <a:r>
              <a:rPr lang="en-US" sz="1050" dirty="0">
                <a:solidFill>
                  <a:srgbClr val="1A2433"/>
                </a:solidFill>
              </a:rPr>
              <a:t>name, email</a:t>
            </a:r>
            <a:endParaRPr lang="en-US" sz="1050" dirty="0"/>
          </a:p>
          <a:p>
            <a:pPr indent="0" marL="0">
              <a:lnSpc>
                <a:spcPct val="95000"/>
              </a:lnSpc>
              <a:buNone/>
            </a:pPr>
            <a:r>
              <a:rPr lang="en-US" sz="1050" dirty="0">
                <a:solidFill>
                  <a:srgbClr val="1A2433"/>
                </a:solidFill>
              </a:rPr>
              <a:t>password (bcrypt hash)</a:t>
            </a:r>
            <a:endParaRPr lang="en-US" sz="1050" dirty="0"/>
          </a:p>
          <a:p>
            <a:pPr indent="0" marL="0">
              <a:lnSpc>
                <a:spcPct val="95000"/>
              </a:lnSpc>
              <a:buNone/>
            </a:pPr>
            <a:r>
              <a:rPr lang="en-US" sz="1050" dirty="0">
                <a:solidFill>
                  <a:srgbClr val="1A2433"/>
                </a:solidFill>
              </a:rPr>
              <a:t>role, status</a:t>
            </a:r>
            <a:endParaRPr lang="en-US" sz="1050" dirty="0"/>
          </a:p>
        </p:txBody>
      </p:sp>
      <p:sp>
        <p:nvSpPr>
          <p:cNvPr id="13" name="entity fee_entries"/>
          <p:cNvSpPr/>
          <p:nvPr/>
        </p:nvSpPr>
        <p:spPr>
          <a:xfrm>
            <a:off x="6267298" y="1325880"/>
            <a:ext cx="2514600" cy="1417320"/>
          </a:xfrm>
          <a:prstGeom prst="rect">
            <a:avLst/>
          </a:prstGeom>
          <a:solidFill>
            <a:srgbClr val="FFFFFF"/>
          </a:solidFill>
          <a:ln w="12700">
            <a:solidFill>
              <a:srgbClr val="004080"/>
            </a:solidFill>
            <a:prstDash val="solid"/>
          </a:ln>
        </p:spPr>
      </p:sp>
      <p:sp>
        <p:nvSpPr>
          <p:cNvPr id="14" name="entity header"/>
          <p:cNvSpPr/>
          <p:nvPr/>
        </p:nvSpPr>
        <p:spPr>
          <a:xfrm>
            <a:off x="6267298" y="1325880"/>
            <a:ext cx="2514600" cy="347472"/>
          </a:xfrm>
          <a:prstGeom prst="rect">
            <a:avLst/>
          </a:prstGeom>
          <a:solidFill>
            <a:srgbClr val="0B2545"/>
          </a:solidFill>
          <a:ln w="12700">
            <a:solidFill>
              <a:srgbClr val="0B2545"/>
            </a:solidFill>
            <a:prstDash val="solid"/>
          </a:ln>
        </p:spPr>
      </p:sp>
      <p:sp>
        <p:nvSpPr>
          <p:cNvPr id="15" name="Text 13"/>
          <p:cNvSpPr txBox="1"/>
          <p:nvPr/>
        </p:nvSpPr>
        <p:spPr>
          <a:xfrm>
            <a:off x="6358738" y="1325880"/>
            <a:ext cx="2331720" cy="347472"/>
          </a:xfrm>
          <a:prstGeom prst="rect">
            <a:avLst/>
          </a:prstGeom>
          <a:noFill/>
          <a:ln/>
        </p:spPr>
        <p:txBody>
          <a:bodyPr wrap="square" lIns="0" tIns="0" rIns="0" bIns="0" rtlCol="0" anchor="ctr"/>
          <a:lstStyle/>
          <a:p>
            <a:pPr indent="0" marL="0">
              <a:buNone/>
            </a:pPr>
            <a:r>
              <a:rPr lang="en-US" sz="1200" b="1" dirty="0">
                <a:solidFill>
                  <a:srgbClr val="FFFFFF"/>
                </a:solidFill>
              </a:rPr>
              <a:t>fee_entries</a:t>
            </a:r>
            <a:endParaRPr lang="en-US" sz="1200" dirty="0"/>
          </a:p>
        </p:txBody>
      </p:sp>
      <p:sp>
        <p:nvSpPr>
          <p:cNvPr id="16" name="Text 14"/>
          <p:cNvSpPr txBox="1"/>
          <p:nvPr/>
        </p:nvSpPr>
        <p:spPr>
          <a:xfrm>
            <a:off x="6377026" y="1728216"/>
            <a:ext cx="2295144" cy="804672"/>
          </a:xfrm>
          <a:prstGeom prst="rect">
            <a:avLst/>
          </a:prstGeom>
          <a:noFill/>
          <a:ln/>
        </p:spPr>
        <p:txBody>
          <a:bodyPr wrap="square" lIns="0" tIns="0" rIns="0" bIns="0" rtlCol="0" anchor="t"/>
          <a:lstStyle/>
          <a:p>
            <a:pPr indent="0" marL="0">
              <a:lnSpc>
                <a:spcPct val="95000"/>
              </a:lnSpc>
              <a:buNone/>
            </a:pPr>
            <a:r>
              <a:rPr lang="en-US" sz="1050" b="1" dirty="0">
                <a:solidFill>
                  <a:srgbClr val="1A2433"/>
                </a:solidFill>
              </a:rPr>
              <a:t>entry_id PK</a:t>
            </a:r>
            <a:endParaRPr lang="en-US" sz="1050" dirty="0"/>
          </a:p>
          <a:p>
            <a:pPr indent="0" marL="0">
              <a:lnSpc>
                <a:spcPct val="95000"/>
              </a:lnSpc>
              <a:buNone/>
            </a:pPr>
            <a:r>
              <a:rPr lang="en-US" sz="1050" dirty="0">
                <a:solidFill>
                  <a:srgbClr val="1A2433"/>
                </a:solidFill>
              </a:rPr>
              <a:t>student_id FK</a:t>
            </a:r>
            <a:endParaRPr lang="en-US" sz="1050" dirty="0"/>
          </a:p>
          <a:p>
            <a:pPr indent="0" marL="0">
              <a:lnSpc>
                <a:spcPct val="95000"/>
              </a:lnSpc>
              <a:buNone/>
            </a:pPr>
            <a:r>
              <a:rPr lang="en-US" sz="1050" dirty="0">
                <a:solidFill>
                  <a:srgbClr val="1A2433"/>
                </a:solidFill>
              </a:rPr>
              <a:t>entry_type, amount</a:t>
            </a:r>
            <a:endParaRPr lang="en-US" sz="1050" dirty="0"/>
          </a:p>
          <a:p>
            <a:pPr indent="0" marL="0">
              <a:lnSpc>
                <a:spcPct val="95000"/>
              </a:lnSpc>
              <a:buNone/>
            </a:pPr>
            <a:r>
              <a:rPr lang="en-US" sz="1050" dirty="0">
                <a:solidFill>
                  <a:srgbClr val="1A2433"/>
                </a:solidFill>
              </a:rPr>
              <a:t>entry_date</a:t>
            </a:r>
            <a:endParaRPr lang="en-US" sz="1050" dirty="0"/>
          </a:p>
        </p:txBody>
      </p:sp>
      <p:sp>
        <p:nvSpPr>
          <p:cNvPr id="17" name="entity payment_proofs"/>
          <p:cNvSpPr/>
          <p:nvPr/>
        </p:nvSpPr>
        <p:spPr>
          <a:xfrm>
            <a:off x="9125712" y="1325880"/>
            <a:ext cx="2514600" cy="1417320"/>
          </a:xfrm>
          <a:prstGeom prst="rect">
            <a:avLst/>
          </a:prstGeom>
          <a:solidFill>
            <a:srgbClr val="FFFFFF"/>
          </a:solidFill>
          <a:ln w="12700">
            <a:solidFill>
              <a:srgbClr val="004080"/>
            </a:solidFill>
            <a:prstDash val="solid"/>
          </a:ln>
        </p:spPr>
      </p:sp>
      <p:sp>
        <p:nvSpPr>
          <p:cNvPr id="18" name="entity header"/>
          <p:cNvSpPr/>
          <p:nvPr/>
        </p:nvSpPr>
        <p:spPr>
          <a:xfrm>
            <a:off x="9125712" y="1325880"/>
            <a:ext cx="2514600" cy="347472"/>
          </a:xfrm>
          <a:prstGeom prst="rect">
            <a:avLst/>
          </a:prstGeom>
          <a:solidFill>
            <a:srgbClr val="0B2545"/>
          </a:solidFill>
          <a:ln w="12700">
            <a:solidFill>
              <a:srgbClr val="0B2545"/>
            </a:solidFill>
            <a:prstDash val="solid"/>
          </a:ln>
        </p:spPr>
      </p:sp>
      <p:sp>
        <p:nvSpPr>
          <p:cNvPr id="19" name="Text 17"/>
          <p:cNvSpPr txBox="1"/>
          <p:nvPr/>
        </p:nvSpPr>
        <p:spPr>
          <a:xfrm>
            <a:off x="9217152" y="1325880"/>
            <a:ext cx="2331720" cy="347472"/>
          </a:xfrm>
          <a:prstGeom prst="rect">
            <a:avLst/>
          </a:prstGeom>
          <a:noFill/>
          <a:ln/>
        </p:spPr>
        <p:txBody>
          <a:bodyPr wrap="square" lIns="0" tIns="0" rIns="0" bIns="0" rtlCol="0" anchor="ctr"/>
          <a:lstStyle/>
          <a:p>
            <a:pPr indent="0" marL="0">
              <a:buNone/>
            </a:pPr>
            <a:r>
              <a:rPr lang="en-US" sz="1200" b="1" dirty="0">
                <a:solidFill>
                  <a:srgbClr val="FFFFFF"/>
                </a:solidFill>
              </a:rPr>
              <a:t>payment_proofs</a:t>
            </a:r>
            <a:endParaRPr lang="en-US" sz="1200" dirty="0"/>
          </a:p>
        </p:txBody>
      </p:sp>
      <p:sp>
        <p:nvSpPr>
          <p:cNvPr id="20" name="Text 18"/>
          <p:cNvSpPr txBox="1"/>
          <p:nvPr/>
        </p:nvSpPr>
        <p:spPr>
          <a:xfrm>
            <a:off x="9235440" y="1728216"/>
            <a:ext cx="2295144" cy="804672"/>
          </a:xfrm>
          <a:prstGeom prst="rect">
            <a:avLst/>
          </a:prstGeom>
          <a:noFill/>
          <a:ln/>
        </p:spPr>
        <p:txBody>
          <a:bodyPr wrap="square" lIns="0" tIns="0" rIns="0" bIns="0" rtlCol="0" anchor="t"/>
          <a:lstStyle/>
          <a:p>
            <a:pPr indent="0" marL="0">
              <a:lnSpc>
                <a:spcPct val="95000"/>
              </a:lnSpc>
              <a:buNone/>
            </a:pPr>
            <a:r>
              <a:rPr lang="en-US" sz="1050" b="1" dirty="0">
                <a:solidFill>
                  <a:srgbClr val="1A2433"/>
                </a:solidFill>
              </a:rPr>
              <a:t>proof_id PK</a:t>
            </a:r>
            <a:endParaRPr lang="en-US" sz="1050" dirty="0"/>
          </a:p>
          <a:p>
            <a:pPr indent="0" marL="0">
              <a:lnSpc>
                <a:spcPct val="95000"/>
              </a:lnSpc>
              <a:buNone/>
            </a:pPr>
            <a:r>
              <a:rPr lang="en-US" sz="1050" dirty="0">
                <a:solidFill>
                  <a:srgbClr val="1A2433"/>
                </a:solidFill>
              </a:rPr>
              <a:t>student_id FK</a:t>
            </a:r>
            <a:endParaRPr lang="en-US" sz="1050" dirty="0"/>
          </a:p>
          <a:p>
            <a:pPr indent="0" marL="0">
              <a:lnSpc>
                <a:spcPct val="95000"/>
              </a:lnSpc>
              <a:buNone/>
            </a:pPr>
            <a:r>
              <a:rPr lang="en-US" sz="1050" dirty="0">
                <a:solidFill>
                  <a:srgbClr val="1A2433"/>
                </a:solidFill>
              </a:rPr>
              <a:t>amount, reference</a:t>
            </a:r>
            <a:endParaRPr lang="en-US" sz="1050" dirty="0"/>
          </a:p>
          <a:p>
            <a:pPr indent="0" marL="0">
              <a:lnSpc>
                <a:spcPct val="95000"/>
              </a:lnSpc>
              <a:buNone/>
            </a:pPr>
            <a:r>
              <a:rPr lang="en-US" sz="1050" dirty="0">
                <a:solidFill>
                  <a:srgbClr val="1A2433"/>
                </a:solidFill>
              </a:rPr>
              <a:t>status, entry_id FK</a:t>
            </a:r>
            <a:endParaRPr lang="en-US" sz="1050" dirty="0"/>
          </a:p>
        </p:txBody>
      </p:sp>
      <p:sp>
        <p:nvSpPr>
          <p:cNvPr id="21" name="entity student_exemptions"/>
          <p:cNvSpPr/>
          <p:nvPr/>
        </p:nvSpPr>
        <p:spPr>
          <a:xfrm>
            <a:off x="548640" y="2971800"/>
            <a:ext cx="2514600" cy="1417320"/>
          </a:xfrm>
          <a:prstGeom prst="rect">
            <a:avLst/>
          </a:prstGeom>
          <a:solidFill>
            <a:srgbClr val="FFFFFF"/>
          </a:solidFill>
          <a:ln w="12700">
            <a:solidFill>
              <a:srgbClr val="004080"/>
            </a:solidFill>
            <a:prstDash val="solid"/>
          </a:ln>
        </p:spPr>
      </p:sp>
      <p:sp>
        <p:nvSpPr>
          <p:cNvPr id="22" name="entity header"/>
          <p:cNvSpPr/>
          <p:nvPr/>
        </p:nvSpPr>
        <p:spPr>
          <a:xfrm>
            <a:off x="548640" y="2971800"/>
            <a:ext cx="2514600" cy="347472"/>
          </a:xfrm>
          <a:prstGeom prst="rect">
            <a:avLst/>
          </a:prstGeom>
          <a:solidFill>
            <a:srgbClr val="0B2545"/>
          </a:solidFill>
          <a:ln w="12700">
            <a:solidFill>
              <a:srgbClr val="0B2545"/>
            </a:solidFill>
            <a:prstDash val="solid"/>
          </a:ln>
        </p:spPr>
      </p:sp>
      <p:sp>
        <p:nvSpPr>
          <p:cNvPr id="23" name="Text 21"/>
          <p:cNvSpPr txBox="1"/>
          <p:nvPr/>
        </p:nvSpPr>
        <p:spPr>
          <a:xfrm>
            <a:off x="640080" y="2971800"/>
            <a:ext cx="2331720" cy="347472"/>
          </a:xfrm>
          <a:prstGeom prst="rect">
            <a:avLst/>
          </a:prstGeom>
          <a:noFill/>
          <a:ln/>
        </p:spPr>
        <p:txBody>
          <a:bodyPr wrap="square" lIns="0" tIns="0" rIns="0" bIns="0" rtlCol="0" anchor="ctr"/>
          <a:lstStyle/>
          <a:p>
            <a:pPr indent="0" marL="0">
              <a:buNone/>
            </a:pPr>
            <a:r>
              <a:rPr lang="en-US" sz="1200" b="1" dirty="0">
                <a:solidFill>
                  <a:srgbClr val="FFFFFF"/>
                </a:solidFill>
              </a:rPr>
              <a:t>student_exemptions</a:t>
            </a:r>
            <a:endParaRPr lang="en-US" sz="1200" dirty="0"/>
          </a:p>
        </p:txBody>
      </p:sp>
      <p:sp>
        <p:nvSpPr>
          <p:cNvPr id="24" name="Text 22"/>
          <p:cNvSpPr txBox="1"/>
          <p:nvPr/>
        </p:nvSpPr>
        <p:spPr>
          <a:xfrm>
            <a:off x="658368" y="3374136"/>
            <a:ext cx="2295144" cy="804672"/>
          </a:xfrm>
          <a:prstGeom prst="rect">
            <a:avLst/>
          </a:prstGeom>
          <a:noFill/>
          <a:ln/>
        </p:spPr>
        <p:txBody>
          <a:bodyPr wrap="square" lIns="0" tIns="0" rIns="0" bIns="0" rtlCol="0" anchor="t"/>
          <a:lstStyle/>
          <a:p>
            <a:pPr indent="0" marL="0">
              <a:lnSpc>
                <a:spcPct val="95000"/>
              </a:lnSpc>
              <a:buNone/>
            </a:pPr>
            <a:r>
              <a:rPr lang="en-US" sz="1050" b="1" dirty="0">
                <a:solidFill>
                  <a:srgbClr val="1A2433"/>
                </a:solidFill>
              </a:rPr>
              <a:t>exemption_id PK</a:t>
            </a:r>
            <a:endParaRPr lang="en-US" sz="1050" dirty="0"/>
          </a:p>
          <a:p>
            <a:pPr indent="0" marL="0">
              <a:lnSpc>
                <a:spcPct val="95000"/>
              </a:lnSpc>
              <a:buNone/>
            </a:pPr>
            <a:r>
              <a:rPr lang="en-US" sz="1050" dirty="0">
                <a:solidFill>
                  <a:srgbClr val="1A2433"/>
                </a:solidFill>
              </a:rPr>
              <a:t>student_id FK</a:t>
            </a:r>
            <a:endParaRPr lang="en-US" sz="1050" dirty="0"/>
          </a:p>
          <a:p>
            <a:pPr indent="0" marL="0">
              <a:lnSpc>
                <a:spcPct val="95000"/>
              </a:lnSpc>
              <a:buNone/>
            </a:pPr>
            <a:r>
              <a:rPr lang="en-US" sz="1050" dirty="0">
                <a:solidFill>
                  <a:srgbClr val="1A2433"/>
                </a:solidFill>
              </a:rPr>
              <a:t>from / to_semester</a:t>
            </a:r>
            <a:endParaRPr lang="en-US" sz="1050" dirty="0"/>
          </a:p>
          <a:p>
            <a:pPr indent="0" marL="0">
              <a:lnSpc>
                <a:spcPct val="95000"/>
              </a:lnSpc>
              <a:buNone/>
            </a:pPr>
            <a:r>
              <a:rPr lang="en-US" sz="1050" dirty="0">
                <a:solidFill>
                  <a:srgbClr val="1A2433"/>
                </a:solidFill>
              </a:rPr>
              <a:t>reason</a:t>
            </a:r>
            <a:endParaRPr lang="en-US" sz="1050" dirty="0"/>
          </a:p>
        </p:txBody>
      </p:sp>
      <p:sp>
        <p:nvSpPr>
          <p:cNvPr id="25" name="entity students"/>
          <p:cNvSpPr/>
          <p:nvPr/>
        </p:nvSpPr>
        <p:spPr>
          <a:xfrm>
            <a:off x="3407969" y="2971800"/>
            <a:ext cx="2514600" cy="1417320"/>
          </a:xfrm>
          <a:prstGeom prst="rect">
            <a:avLst/>
          </a:prstGeom>
          <a:solidFill>
            <a:srgbClr val="FFFFFF"/>
          </a:solidFill>
          <a:ln w="12700">
            <a:solidFill>
              <a:srgbClr val="004080"/>
            </a:solidFill>
            <a:prstDash val="solid"/>
          </a:ln>
        </p:spPr>
      </p:sp>
      <p:sp>
        <p:nvSpPr>
          <p:cNvPr id="26" name="entity header"/>
          <p:cNvSpPr/>
          <p:nvPr/>
        </p:nvSpPr>
        <p:spPr>
          <a:xfrm>
            <a:off x="3407969" y="2971800"/>
            <a:ext cx="2514600" cy="347472"/>
          </a:xfrm>
          <a:prstGeom prst="rect">
            <a:avLst/>
          </a:prstGeom>
          <a:solidFill>
            <a:srgbClr val="E3A83B"/>
          </a:solidFill>
          <a:ln w="12700">
            <a:solidFill>
              <a:srgbClr val="E3A83B"/>
            </a:solidFill>
            <a:prstDash val="solid"/>
          </a:ln>
        </p:spPr>
      </p:sp>
      <p:sp>
        <p:nvSpPr>
          <p:cNvPr id="27" name="Text 25"/>
          <p:cNvSpPr txBox="1"/>
          <p:nvPr/>
        </p:nvSpPr>
        <p:spPr>
          <a:xfrm>
            <a:off x="3499409" y="2971800"/>
            <a:ext cx="2331720" cy="347472"/>
          </a:xfrm>
          <a:prstGeom prst="rect">
            <a:avLst/>
          </a:prstGeom>
          <a:noFill/>
          <a:ln/>
        </p:spPr>
        <p:txBody>
          <a:bodyPr wrap="square" lIns="0" tIns="0" rIns="0" bIns="0" rtlCol="0" anchor="ctr"/>
          <a:lstStyle/>
          <a:p>
            <a:pPr indent="0" marL="0">
              <a:buNone/>
            </a:pPr>
            <a:r>
              <a:rPr lang="en-US" sz="1200" b="1" dirty="0">
                <a:solidFill>
                  <a:srgbClr val="0B2545"/>
                </a:solidFill>
              </a:rPr>
              <a:t>students</a:t>
            </a:r>
            <a:endParaRPr lang="en-US" sz="1200" dirty="0"/>
          </a:p>
        </p:txBody>
      </p:sp>
      <p:sp>
        <p:nvSpPr>
          <p:cNvPr id="28" name="Text 26"/>
          <p:cNvSpPr txBox="1"/>
          <p:nvPr/>
        </p:nvSpPr>
        <p:spPr>
          <a:xfrm>
            <a:off x="3517697" y="3374136"/>
            <a:ext cx="2295144" cy="1005840"/>
          </a:xfrm>
          <a:prstGeom prst="rect">
            <a:avLst/>
          </a:prstGeom>
          <a:noFill/>
          <a:ln/>
        </p:spPr>
        <p:txBody>
          <a:bodyPr wrap="square" lIns="0" tIns="0" rIns="0" bIns="0" rtlCol="0" anchor="t"/>
          <a:lstStyle/>
          <a:p>
            <a:pPr indent="0" marL="0">
              <a:lnSpc>
                <a:spcPct val="95000"/>
              </a:lnSpc>
              <a:buNone/>
            </a:pPr>
            <a:r>
              <a:rPr lang="en-US" sz="1050" b="1" dirty="0">
                <a:solidFill>
                  <a:srgbClr val="1A2433"/>
                </a:solidFill>
              </a:rPr>
              <a:t>student_id PK</a:t>
            </a:r>
            <a:endParaRPr lang="en-US" sz="1050" dirty="0"/>
          </a:p>
          <a:p>
            <a:pPr indent="0" marL="0">
              <a:lnSpc>
                <a:spcPct val="95000"/>
              </a:lnSpc>
              <a:buNone/>
            </a:pPr>
            <a:r>
              <a:rPr lang="en-US" sz="1050" dirty="0">
                <a:solidFill>
                  <a:srgbClr val="1A2433"/>
                </a:solidFill>
              </a:rPr>
              <a:t>user_id FK</a:t>
            </a:r>
            <a:endParaRPr lang="en-US" sz="1050" dirty="0"/>
          </a:p>
          <a:p>
            <a:pPr indent="0" marL="0">
              <a:lnSpc>
                <a:spcPct val="95000"/>
              </a:lnSpc>
              <a:buNone/>
            </a:pPr>
            <a:r>
              <a:rPr lang="en-US" sz="1050" dirty="0">
                <a:solidFill>
                  <a:srgbClr val="1A2433"/>
                </a:solidFill>
              </a:rPr>
              <a:t>programme, school</a:t>
            </a:r>
            <a:endParaRPr lang="en-US" sz="1050" dirty="0"/>
          </a:p>
          <a:p>
            <a:pPr indent="0" marL="0">
              <a:lnSpc>
                <a:spcPct val="95000"/>
              </a:lnSpc>
              <a:buNone/>
            </a:pPr>
            <a:r>
              <a:rPr lang="en-US" sz="1050" dirty="0">
                <a:solidFill>
                  <a:srgbClr val="1A2433"/>
                </a:solidFill>
              </a:rPr>
              <a:t>current_semester, reg_no</a:t>
            </a:r>
            <a:endParaRPr lang="en-US" sz="1050" dirty="0"/>
          </a:p>
          <a:p>
            <a:pPr indent="0" marL="0">
              <a:lnSpc>
                <a:spcPct val="95000"/>
              </a:lnSpc>
              <a:buNone/>
            </a:pPr>
            <a:r>
              <a:rPr lang="en-US" sz="1050" dirty="0">
                <a:solidFill>
                  <a:srgbClr val="1A2433"/>
                </a:solidFill>
              </a:rPr>
              <a:t>entry_type</a:t>
            </a:r>
            <a:endParaRPr lang="en-US" sz="1050" dirty="0"/>
          </a:p>
        </p:txBody>
      </p:sp>
      <p:sp>
        <p:nvSpPr>
          <p:cNvPr id="29" name="entity semester_registrations"/>
          <p:cNvSpPr/>
          <p:nvPr/>
        </p:nvSpPr>
        <p:spPr>
          <a:xfrm>
            <a:off x="6267298" y="2971800"/>
            <a:ext cx="2514600" cy="1417320"/>
          </a:xfrm>
          <a:prstGeom prst="rect">
            <a:avLst/>
          </a:prstGeom>
          <a:solidFill>
            <a:srgbClr val="FFFFFF"/>
          </a:solidFill>
          <a:ln w="12700">
            <a:solidFill>
              <a:srgbClr val="004080"/>
            </a:solidFill>
            <a:prstDash val="solid"/>
          </a:ln>
        </p:spPr>
      </p:sp>
      <p:sp>
        <p:nvSpPr>
          <p:cNvPr id="30" name="entity header"/>
          <p:cNvSpPr/>
          <p:nvPr/>
        </p:nvSpPr>
        <p:spPr>
          <a:xfrm>
            <a:off x="6267298" y="2971800"/>
            <a:ext cx="2514600" cy="347472"/>
          </a:xfrm>
          <a:prstGeom prst="rect">
            <a:avLst/>
          </a:prstGeom>
          <a:solidFill>
            <a:srgbClr val="0B2545"/>
          </a:solidFill>
          <a:ln w="12700">
            <a:solidFill>
              <a:srgbClr val="0B2545"/>
            </a:solidFill>
            <a:prstDash val="solid"/>
          </a:ln>
        </p:spPr>
      </p:sp>
      <p:sp>
        <p:nvSpPr>
          <p:cNvPr id="31" name="Text 29"/>
          <p:cNvSpPr txBox="1"/>
          <p:nvPr/>
        </p:nvSpPr>
        <p:spPr>
          <a:xfrm>
            <a:off x="6358738" y="2971800"/>
            <a:ext cx="2331720" cy="347472"/>
          </a:xfrm>
          <a:prstGeom prst="rect">
            <a:avLst/>
          </a:prstGeom>
          <a:noFill/>
          <a:ln/>
        </p:spPr>
        <p:txBody>
          <a:bodyPr wrap="square" lIns="0" tIns="0" rIns="0" bIns="0" rtlCol="0" anchor="ctr"/>
          <a:lstStyle/>
          <a:p>
            <a:pPr indent="0" marL="0">
              <a:buNone/>
            </a:pPr>
            <a:r>
              <a:rPr lang="en-US" sz="1200" b="1" dirty="0">
                <a:solidFill>
                  <a:srgbClr val="FFFFFF"/>
                </a:solidFill>
              </a:rPr>
              <a:t>semester_registrations</a:t>
            </a:r>
            <a:endParaRPr lang="en-US" sz="1200" dirty="0"/>
          </a:p>
        </p:txBody>
      </p:sp>
      <p:sp>
        <p:nvSpPr>
          <p:cNvPr id="32" name="Text 30"/>
          <p:cNvSpPr txBox="1"/>
          <p:nvPr/>
        </p:nvSpPr>
        <p:spPr>
          <a:xfrm>
            <a:off x="6377026" y="3374136"/>
            <a:ext cx="2295144" cy="804672"/>
          </a:xfrm>
          <a:prstGeom prst="rect">
            <a:avLst/>
          </a:prstGeom>
          <a:noFill/>
          <a:ln/>
        </p:spPr>
        <p:txBody>
          <a:bodyPr wrap="square" lIns="0" tIns="0" rIns="0" bIns="0" rtlCol="0" anchor="t"/>
          <a:lstStyle/>
          <a:p>
            <a:pPr indent="0" marL="0">
              <a:lnSpc>
                <a:spcPct val="95000"/>
              </a:lnSpc>
              <a:buNone/>
            </a:pPr>
            <a:r>
              <a:rPr lang="en-US" sz="1050" b="1" dirty="0">
                <a:solidFill>
                  <a:srgbClr val="1A2433"/>
                </a:solidFill>
              </a:rPr>
              <a:t>reg_id PK</a:t>
            </a:r>
            <a:endParaRPr lang="en-US" sz="1050" dirty="0"/>
          </a:p>
          <a:p>
            <a:pPr indent="0" marL="0">
              <a:lnSpc>
                <a:spcPct val="95000"/>
              </a:lnSpc>
              <a:buNone/>
            </a:pPr>
            <a:r>
              <a:rPr lang="en-US" sz="1050" dirty="0">
                <a:solidFill>
                  <a:srgbClr val="1A2433"/>
                </a:solidFill>
              </a:rPr>
              <a:t>period_id FK, student_id FK</a:t>
            </a:r>
            <a:endParaRPr lang="en-US" sz="1050" dirty="0"/>
          </a:p>
          <a:p>
            <a:pPr indent="0" marL="0">
              <a:lnSpc>
                <a:spcPct val="95000"/>
              </a:lnSpc>
              <a:buNone/>
            </a:pPr>
            <a:r>
              <a:rPr lang="en-US" sz="1050" dirty="0">
                <a:solidFill>
                  <a:srgbClr val="1A2433"/>
                </a:solidFill>
              </a:rPr>
              <a:t>semester, status</a:t>
            </a:r>
            <a:endParaRPr lang="en-US" sz="1050" dirty="0"/>
          </a:p>
          <a:p>
            <a:pPr indent="0" marL="0">
              <a:lnSpc>
                <a:spcPct val="95000"/>
              </a:lnSpc>
              <a:buNone/>
            </a:pPr>
            <a:r>
              <a:rPr lang="en-US" sz="1050" dirty="0">
                <a:solidFill>
                  <a:srgbClr val="1A2433"/>
                </a:solidFill>
              </a:rPr>
              <a:t>5 step signatures</a:t>
            </a:r>
            <a:endParaRPr lang="en-US" sz="1050" dirty="0"/>
          </a:p>
        </p:txBody>
      </p:sp>
      <p:sp>
        <p:nvSpPr>
          <p:cNvPr id="33" name="entity registration_periods"/>
          <p:cNvSpPr/>
          <p:nvPr/>
        </p:nvSpPr>
        <p:spPr>
          <a:xfrm>
            <a:off x="9125712" y="2971800"/>
            <a:ext cx="2514600" cy="1417320"/>
          </a:xfrm>
          <a:prstGeom prst="rect">
            <a:avLst/>
          </a:prstGeom>
          <a:solidFill>
            <a:srgbClr val="FFFFFF"/>
          </a:solidFill>
          <a:ln w="12700">
            <a:solidFill>
              <a:srgbClr val="004080"/>
            </a:solidFill>
            <a:prstDash val="solid"/>
          </a:ln>
        </p:spPr>
      </p:sp>
      <p:sp>
        <p:nvSpPr>
          <p:cNvPr id="34" name="entity header"/>
          <p:cNvSpPr/>
          <p:nvPr/>
        </p:nvSpPr>
        <p:spPr>
          <a:xfrm>
            <a:off x="9125712" y="2971800"/>
            <a:ext cx="2514600" cy="347472"/>
          </a:xfrm>
          <a:prstGeom prst="rect">
            <a:avLst/>
          </a:prstGeom>
          <a:solidFill>
            <a:srgbClr val="0B2545"/>
          </a:solidFill>
          <a:ln w="12700">
            <a:solidFill>
              <a:srgbClr val="0B2545"/>
            </a:solidFill>
            <a:prstDash val="solid"/>
          </a:ln>
        </p:spPr>
      </p:sp>
      <p:sp>
        <p:nvSpPr>
          <p:cNvPr id="35" name="Text 33"/>
          <p:cNvSpPr txBox="1"/>
          <p:nvPr/>
        </p:nvSpPr>
        <p:spPr>
          <a:xfrm>
            <a:off x="9217152" y="2971800"/>
            <a:ext cx="2331720" cy="347472"/>
          </a:xfrm>
          <a:prstGeom prst="rect">
            <a:avLst/>
          </a:prstGeom>
          <a:noFill/>
          <a:ln/>
        </p:spPr>
        <p:txBody>
          <a:bodyPr wrap="square" lIns="0" tIns="0" rIns="0" bIns="0" rtlCol="0" anchor="ctr"/>
          <a:lstStyle/>
          <a:p>
            <a:pPr indent="0" marL="0">
              <a:buNone/>
            </a:pPr>
            <a:r>
              <a:rPr lang="en-US" sz="1200" b="1" dirty="0">
                <a:solidFill>
                  <a:srgbClr val="FFFFFF"/>
                </a:solidFill>
              </a:rPr>
              <a:t>registration_periods</a:t>
            </a:r>
            <a:endParaRPr lang="en-US" sz="1200" dirty="0"/>
          </a:p>
        </p:txBody>
      </p:sp>
      <p:sp>
        <p:nvSpPr>
          <p:cNvPr id="36" name="Text 34"/>
          <p:cNvSpPr txBox="1"/>
          <p:nvPr/>
        </p:nvSpPr>
        <p:spPr>
          <a:xfrm>
            <a:off x="9235440" y="3374136"/>
            <a:ext cx="2295144" cy="603504"/>
          </a:xfrm>
          <a:prstGeom prst="rect">
            <a:avLst/>
          </a:prstGeom>
          <a:noFill/>
          <a:ln/>
        </p:spPr>
        <p:txBody>
          <a:bodyPr wrap="square" lIns="0" tIns="0" rIns="0" bIns="0" rtlCol="0" anchor="t"/>
          <a:lstStyle/>
          <a:p>
            <a:pPr indent="0" marL="0">
              <a:lnSpc>
                <a:spcPct val="95000"/>
              </a:lnSpc>
              <a:buNone/>
            </a:pPr>
            <a:r>
              <a:rPr lang="en-US" sz="1050" b="1" dirty="0">
                <a:solidFill>
                  <a:srgbClr val="1A2433"/>
                </a:solidFill>
              </a:rPr>
              <a:t>period_id PK</a:t>
            </a:r>
            <a:endParaRPr lang="en-US" sz="1050" dirty="0"/>
          </a:p>
          <a:p>
            <a:pPr indent="0" marL="0">
              <a:lnSpc>
                <a:spcPct val="95000"/>
              </a:lnSpc>
              <a:buNone/>
            </a:pPr>
            <a:r>
              <a:rPr lang="en-US" sz="1050" dirty="0">
                <a:solidFill>
                  <a:srgbClr val="1A2433"/>
                </a:solidFill>
              </a:rPr>
              <a:t>name, min_paid_pct</a:t>
            </a:r>
            <a:endParaRPr lang="en-US" sz="1050" dirty="0"/>
          </a:p>
          <a:p>
            <a:pPr indent="0" marL="0">
              <a:lnSpc>
                <a:spcPct val="95000"/>
              </a:lnSpc>
              <a:buNone/>
            </a:pPr>
            <a:r>
              <a:rPr lang="en-US" sz="1050" dirty="0">
                <a:solidFill>
                  <a:srgbClr val="1A2433"/>
                </a:solidFill>
              </a:rPr>
              <a:t>is_open</a:t>
            </a:r>
            <a:endParaRPr lang="en-US" sz="1050" dirty="0"/>
          </a:p>
        </p:txBody>
      </p:sp>
      <p:sp>
        <p:nvSpPr>
          <p:cNvPr id="37" name="entity programme_modules"/>
          <p:cNvSpPr/>
          <p:nvPr/>
        </p:nvSpPr>
        <p:spPr>
          <a:xfrm>
            <a:off x="548640" y="4754880"/>
            <a:ext cx="2514600" cy="1417320"/>
          </a:xfrm>
          <a:prstGeom prst="rect">
            <a:avLst/>
          </a:prstGeom>
          <a:solidFill>
            <a:srgbClr val="FFFFFF"/>
          </a:solidFill>
          <a:ln w="12700">
            <a:solidFill>
              <a:srgbClr val="004080"/>
            </a:solidFill>
            <a:prstDash val="solid"/>
          </a:ln>
        </p:spPr>
      </p:sp>
      <p:sp>
        <p:nvSpPr>
          <p:cNvPr id="38" name="entity header"/>
          <p:cNvSpPr/>
          <p:nvPr/>
        </p:nvSpPr>
        <p:spPr>
          <a:xfrm>
            <a:off x="548640" y="4754880"/>
            <a:ext cx="2514600" cy="347472"/>
          </a:xfrm>
          <a:prstGeom prst="rect">
            <a:avLst/>
          </a:prstGeom>
          <a:solidFill>
            <a:srgbClr val="0B2545"/>
          </a:solidFill>
          <a:ln w="12700">
            <a:solidFill>
              <a:srgbClr val="0B2545"/>
            </a:solidFill>
            <a:prstDash val="solid"/>
          </a:ln>
        </p:spPr>
      </p:sp>
      <p:sp>
        <p:nvSpPr>
          <p:cNvPr id="39" name="Text 37"/>
          <p:cNvSpPr txBox="1"/>
          <p:nvPr/>
        </p:nvSpPr>
        <p:spPr>
          <a:xfrm>
            <a:off x="640080" y="4754880"/>
            <a:ext cx="2331720" cy="347472"/>
          </a:xfrm>
          <a:prstGeom prst="rect">
            <a:avLst/>
          </a:prstGeom>
          <a:noFill/>
          <a:ln/>
        </p:spPr>
        <p:txBody>
          <a:bodyPr wrap="square" lIns="0" tIns="0" rIns="0" bIns="0" rtlCol="0" anchor="ctr"/>
          <a:lstStyle/>
          <a:p>
            <a:pPr indent="0" marL="0">
              <a:buNone/>
            </a:pPr>
            <a:r>
              <a:rPr lang="en-US" sz="1200" b="1" dirty="0">
                <a:solidFill>
                  <a:srgbClr val="FFFFFF"/>
                </a:solidFill>
              </a:rPr>
              <a:t>programme_modules</a:t>
            </a:r>
            <a:endParaRPr lang="en-US" sz="1200" dirty="0"/>
          </a:p>
        </p:txBody>
      </p:sp>
      <p:sp>
        <p:nvSpPr>
          <p:cNvPr id="40" name="Text 38"/>
          <p:cNvSpPr txBox="1"/>
          <p:nvPr/>
        </p:nvSpPr>
        <p:spPr>
          <a:xfrm>
            <a:off x="658368" y="5157216"/>
            <a:ext cx="2295144" cy="603504"/>
          </a:xfrm>
          <a:prstGeom prst="rect">
            <a:avLst/>
          </a:prstGeom>
          <a:noFill/>
          <a:ln/>
        </p:spPr>
        <p:txBody>
          <a:bodyPr wrap="square" lIns="0" tIns="0" rIns="0" bIns="0" rtlCol="0" anchor="t"/>
          <a:lstStyle/>
          <a:p>
            <a:pPr indent="0" marL="0">
              <a:lnSpc>
                <a:spcPct val="95000"/>
              </a:lnSpc>
              <a:buNone/>
            </a:pPr>
            <a:r>
              <a:rPr lang="en-US" sz="1050" b="1" dirty="0">
                <a:solidFill>
                  <a:srgbClr val="1A2433"/>
                </a:solidFill>
              </a:rPr>
              <a:t>module_id PK</a:t>
            </a:r>
            <a:endParaRPr lang="en-US" sz="1050" dirty="0"/>
          </a:p>
          <a:p>
            <a:pPr indent="0" marL="0">
              <a:lnSpc>
                <a:spcPct val="95000"/>
              </a:lnSpc>
              <a:buNone/>
            </a:pPr>
            <a:r>
              <a:rPr lang="en-US" sz="1050" dirty="0">
                <a:solidFill>
                  <a:srgbClr val="1A2433"/>
                </a:solidFill>
              </a:rPr>
              <a:t>programme, semester</a:t>
            </a:r>
            <a:endParaRPr lang="en-US" sz="1050" dirty="0"/>
          </a:p>
          <a:p>
            <a:pPr indent="0" marL="0">
              <a:lnSpc>
                <a:spcPct val="95000"/>
              </a:lnSpc>
              <a:buNone/>
            </a:pPr>
            <a:r>
              <a:rPr lang="en-US" sz="1050" dirty="0">
                <a:solidFill>
                  <a:srgbClr val="1A2433"/>
                </a:solidFill>
              </a:rPr>
              <a:t>module_code, name</a:t>
            </a:r>
            <a:endParaRPr lang="en-US" sz="1050" dirty="0"/>
          </a:p>
        </p:txBody>
      </p:sp>
      <p:sp>
        <p:nvSpPr>
          <p:cNvPr id="41" name="entity exam_timetable"/>
          <p:cNvSpPr/>
          <p:nvPr/>
        </p:nvSpPr>
        <p:spPr>
          <a:xfrm>
            <a:off x="3407969" y="4754880"/>
            <a:ext cx="2514600" cy="1417320"/>
          </a:xfrm>
          <a:prstGeom prst="rect">
            <a:avLst/>
          </a:prstGeom>
          <a:solidFill>
            <a:srgbClr val="FFFFFF"/>
          </a:solidFill>
          <a:ln w="12700">
            <a:solidFill>
              <a:srgbClr val="004080"/>
            </a:solidFill>
            <a:prstDash val="solid"/>
          </a:ln>
        </p:spPr>
      </p:sp>
      <p:sp>
        <p:nvSpPr>
          <p:cNvPr id="42" name="entity header"/>
          <p:cNvSpPr/>
          <p:nvPr/>
        </p:nvSpPr>
        <p:spPr>
          <a:xfrm>
            <a:off x="3407969" y="4754880"/>
            <a:ext cx="2514600" cy="347472"/>
          </a:xfrm>
          <a:prstGeom prst="rect">
            <a:avLst/>
          </a:prstGeom>
          <a:solidFill>
            <a:srgbClr val="0B2545"/>
          </a:solidFill>
          <a:ln w="12700">
            <a:solidFill>
              <a:srgbClr val="0B2545"/>
            </a:solidFill>
            <a:prstDash val="solid"/>
          </a:ln>
        </p:spPr>
      </p:sp>
      <p:sp>
        <p:nvSpPr>
          <p:cNvPr id="43" name="Text 41"/>
          <p:cNvSpPr txBox="1"/>
          <p:nvPr/>
        </p:nvSpPr>
        <p:spPr>
          <a:xfrm>
            <a:off x="3499409" y="4754880"/>
            <a:ext cx="2331720" cy="347472"/>
          </a:xfrm>
          <a:prstGeom prst="rect">
            <a:avLst/>
          </a:prstGeom>
          <a:noFill/>
          <a:ln/>
        </p:spPr>
        <p:txBody>
          <a:bodyPr wrap="square" lIns="0" tIns="0" rIns="0" bIns="0" rtlCol="0" anchor="ctr"/>
          <a:lstStyle/>
          <a:p>
            <a:pPr indent="0" marL="0">
              <a:buNone/>
            </a:pPr>
            <a:r>
              <a:rPr lang="en-US" sz="1200" b="1" dirty="0">
                <a:solidFill>
                  <a:srgbClr val="FFFFFF"/>
                </a:solidFill>
              </a:rPr>
              <a:t>exam_timetable</a:t>
            </a:r>
            <a:endParaRPr lang="en-US" sz="1200" dirty="0"/>
          </a:p>
        </p:txBody>
      </p:sp>
      <p:sp>
        <p:nvSpPr>
          <p:cNvPr id="44" name="Text 42"/>
          <p:cNvSpPr txBox="1"/>
          <p:nvPr/>
        </p:nvSpPr>
        <p:spPr>
          <a:xfrm>
            <a:off x="3517697" y="5157216"/>
            <a:ext cx="2295144" cy="804672"/>
          </a:xfrm>
          <a:prstGeom prst="rect">
            <a:avLst/>
          </a:prstGeom>
          <a:noFill/>
          <a:ln/>
        </p:spPr>
        <p:txBody>
          <a:bodyPr wrap="square" lIns="0" tIns="0" rIns="0" bIns="0" rtlCol="0" anchor="t"/>
          <a:lstStyle/>
          <a:p>
            <a:pPr indent="0" marL="0">
              <a:lnSpc>
                <a:spcPct val="95000"/>
              </a:lnSpc>
              <a:buNone/>
            </a:pPr>
            <a:r>
              <a:rPr lang="en-US" sz="1050" b="1" dirty="0">
                <a:solidFill>
                  <a:srgbClr val="1A2433"/>
                </a:solidFill>
              </a:rPr>
              <a:t>row_id PK</a:t>
            </a:r>
            <a:endParaRPr lang="en-US" sz="1050" dirty="0"/>
          </a:p>
          <a:p>
            <a:pPr indent="0" marL="0">
              <a:lnSpc>
                <a:spcPct val="95000"/>
              </a:lnSpc>
              <a:buNone/>
            </a:pPr>
            <a:r>
              <a:rPr lang="en-US" sz="1050" dirty="0">
                <a:solidFill>
                  <a:srgbClr val="1A2433"/>
                </a:solidFill>
              </a:rPr>
              <a:t>session_id FK</a:t>
            </a:r>
            <a:endParaRPr lang="en-US" sz="1050" dirty="0"/>
          </a:p>
          <a:p>
            <a:pPr indent="0" marL="0">
              <a:lnSpc>
                <a:spcPct val="95000"/>
              </a:lnSpc>
              <a:buNone/>
            </a:pPr>
            <a:r>
              <a:rPr lang="en-US" sz="1050" dirty="0">
                <a:solidFill>
                  <a:srgbClr val="1A2433"/>
                </a:solidFill>
              </a:rPr>
              <a:t>programme, semester</a:t>
            </a:r>
            <a:endParaRPr lang="en-US" sz="1050" dirty="0"/>
          </a:p>
          <a:p>
            <a:pPr indent="0" marL="0">
              <a:lnSpc>
                <a:spcPct val="95000"/>
              </a:lnSpc>
              <a:buNone/>
            </a:pPr>
            <a:r>
              <a:rPr lang="en-US" sz="1050" dirty="0">
                <a:solidFill>
                  <a:srgbClr val="1A2433"/>
                </a:solidFill>
              </a:rPr>
              <a:t>module_code, exam_date</a:t>
            </a:r>
            <a:endParaRPr lang="en-US" sz="1050" dirty="0"/>
          </a:p>
        </p:txBody>
      </p:sp>
      <p:sp>
        <p:nvSpPr>
          <p:cNvPr id="45" name="entity exam_sessions"/>
          <p:cNvSpPr/>
          <p:nvPr/>
        </p:nvSpPr>
        <p:spPr>
          <a:xfrm>
            <a:off x="6267298" y="4754880"/>
            <a:ext cx="2514600" cy="1417320"/>
          </a:xfrm>
          <a:prstGeom prst="rect">
            <a:avLst/>
          </a:prstGeom>
          <a:solidFill>
            <a:srgbClr val="FFFFFF"/>
          </a:solidFill>
          <a:ln w="12700">
            <a:solidFill>
              <a:srgbClr val="004080"/>
            </a:solidFill>
            <a:prstDash val="solid"/>
          </a:ln>
        </p:spPr>
      </p:sp>
      <p:sp>
        <p:nvSpPr>
          <p:cNvPr id="46" name="entity header"/>
          <p:cNvSpPr/>
          <p:nvPr/>
        </p:nvSpPr>
        <p:spPr>
          <a:xfrm>
            <a:off x="6267298" y="4754880"/>
            <a:ext cx="2514600" cy="347472"/>
          </a:xfrm>
          <a:prstGeom prst="rect">
            <a:avLst/>
          </a:prstGeom>
          <a:solidFill>
            <a:srgbClr val="0B2545"/>
          </a:solidFill>
          <a:ln w="12700">
            <a:solidFill>
              <a:srgbClr val="0B2545"/>
            </a:solidFill>
            <a:prstDash val="solid"/>
          </a:ln>
        </p:spPr>
      </p:sp>
      <p:sp>
        <p:nvSpPr>
          <p:cNvPr id="47" name="Text 45"/>
          <p:cNvSpPr txBox="1"/>
          <p:nvPr/>
        </p:nvSpPr>
        <p:spPr>
          <a:xfrm>
            <a:off x="6358738" y="4754880"/>
            <a:ext cx="2331720" cy="347472"/>
          </a:xfrm>
          <a:prstGeom prst="rect">
            <a:avLst/>
          </a:prstGeom>
          <a:noFill/>
          <a:ln/>
        </p:spPr>
        <p:txBody>
          <a:bodyPr wrap="square" lIns="0" tIns="0" rIns="0" bIns="0" rtlCol="0" anchor="ctr"/>
          <a:lstStyle/>
          <a:p>
            <a:pPr indent="0" marL="0">
              <a:buNone/>
            </a:pPr>
            <a:r>
              <a:rPr lang="en-US" sz="1200" b="1" dirty="0">
                <a:solidFill>
                  <a:srgbClr val="FFFFFF"/>
                </a:solidFill>
              </a:rPr>
              <a:t>exam_sessions</a:t>
            </a:r>
            <a:endParaRPr lang="en-US" sz="1200" dirty="0"/>
          </a:p>
        </p:txBody>
      </p:sp>
      <p:sp>
        <p:nvSpPr>
          <p:cNvPr id="48" name="Text 46"/>
          <p:cNvSpPr txBox="1"/>
          <p:nvPr/>
        </p:nvSpPr>
        <p:spPr>
          <a:xfrm>
            <a:off x="6377026" y="5157216"/>
            <a:ext cx="2295144" cy="603504"/>
          </a:xfrm>
          <a:prstGeom prst="rect">
            <a:avLst/>
          </a:prstGeom>
          <a:noFill/>
          <a:ln/>
        </p:spPr>
        <p:txBody>
          <a:bodyPr wrap="square" lIns="0" tIns="0" rIns="0" bIns="0" rtlCol="0" anchor="t"/>
          <a:lstStyle/>
          <a:p>
            <a:pPr indent="0" marL="0">
              <a:lnSpc>
                <a:spcPct val="95000"/>
              </a:lnSpc>
              <a:buNone/>
            </a:pPr>
            <a:r>
              <a:rPr lang="en-US" sz="1050" b="1" dirty="0">
                <a:solidFill>
                  <a:srgbClr val="1A2433"/>
                </a:solidFill>
              </a:rPr>
              <a:t>session_id PK</a:t>
            </a:r>
            <a:endParaRPr lang="en-US" sz="1050" dirty="0"/>
          </a:p>
          <a:p>
            <a:pPr indent="0" marL="0">
              <a:lnSpc>
                <a:spcPct val="95000"/>
              </a:lnSpc>
              <a:buNone/>
            </a:pPr>
            <a:r>
              <a:rPr lang="en-US" sz="1050" dirty="0">
                <a:solidFill>
                  <a:srgbClr val="1A2433"/>
                </a:solidFill>
              </a:rPr>
              <a:t>name, exam_type</a:t>
            </a:r>
            <a:endParaRPr lang="en-US" sz="1050" dirty="0"/>
          </a:p>
          <a:p>
            <a:pPr indent="0" marL="0">
              <a:lnSpc>
                <a:spcPct val="95000"/>
              </a:lnSpc>
              <a:buNone/>
            </a:pPr>
            <a:r>
              <a:rPr lang="en-US" sz="1050" dirty="0">
                <a:solidFill>
                  <a:srgbClr val="1A2433"/>
                </a:solidFill>
              </a:rPr>
              <a:t>min_paid_pct, centre</a:t>
            </a:r>
            <a:endParaRPr lang="en-US" sz="1050" dirty="0"/>
          </a:p>
        </p:txBody>
      </p:sp>
      <p:sp>
        <p:nvSpPr>
          <p:cNvPr id="49" name="entity exam_clearances"/>
          <p:cNvSpPr/>
          <p:nvPr/>
        </p:nvSpPr>
        <p:spPr>
          <a:xfrm>
            <a:off x="9125712" y="4754880"/>
            <a:ext cx="2514600" cy="1417320"/>
          </a:xfrm>
          <a:prstGeom prst="rect">
            <a:avLst/>
          </a:prstGeom>
          <a:solidFill>
            <a:srgbClr val="FFFFFF"/>
          </a:solidFill>
          <a:ln w="12700">
            <a:solidFill>
              <a:srgbClr val="004080"/>
            </a:solidFill>
            <a:prstDash val="solid"/>
          </a:ln>
        </p:spPr>
      </p:sp>
      <p:sp>
        <p:nvSpPr>
          <p:cNvPr id="50" name="entity header"/>
          <p:cNvSpPr/>
          <p:nvPr/>
        </p:nvSpPr>
        <p:spPr>
          <a:xfrm>
            <a:off x="9125712" y="4754880"/>
            <a:ext cx="2514600" cy="347472"/>
          </a:xfrm>
          <a:prstGeom prst="rect">
            <a:avLst/>
          </a:prstGeom>
          <a:solidFill>
            <a:srgbClr val="0B2545"/>
          </a:solidFill>
          <a:ln w="12700">
            <a:solidFill>
              <a:srgbClr val="0B2545"/>
            </a:solidFill>
            <a:prstDash val="solid"/>
          </a:ln>
        </p:spPr>
      </p:sp>
      <p:sp>
        <p:nvSpPr>
          <p:cNvPr id="51" name="Text 49"/>
          <p:cNvSpPr txBox="1"/>
          <p:nvPr/>
        </p:nvSpPr>
        <p:spPr>
          <a:xfrm>
            <a:off x="9217152" y="4754880"/>
            <a:ext cx="2331720" cy="347472"/>
          </a:xfrm>
          <a:prstGeom prst="rect">
            <a:avLst/>
          </a:prstGeom>
          <a:noFill/>
          <a:ln/>
        </p:spPr>
        <p:txBody>
          <a:bodyPr wrap="square" lIns="0" tIns="0" rIns="0" bIns="0" rtlCol="0" anchor="ctr"/>
          <a:lstStyle/>
          <a:p>
            <a:pPr indent="0" marL="0">
              <a:buNone/>
            </a:pPr>
            <a:r>
              <a:rPr lang="en-US" sz="1200" b="1" dirty="0">
                <a:solidFill>
                  <a:srgbClr val="FFFFFF"/>
                </a:solidFill>
              </a:rPr>
              <a:t>exam_clearances</a:t>
            </a:r>
            <a:endParaRPr lang="en-US" sz="1200" dirty="0"/>
          </a:p>
        </p:txBody>
      </p:sp>
      <p:sp>
        <p:nvSpPr>
          <p:cNvPr id="52" name="Text 50"/>
          <p:cNvSpPr txBox="1"/>
          <p:nvPr/>
        </p:nvSpPr>
        <p:spPr>
          <a:xfrm>
            <a:off x="9235440" y="5157216"/>
            <a:ext cx="2295144" cy="804672"/>
          </a:xfrm>
          <a:prstGeom prst="rect">
            <a:avLst/>
          </a:prstGeom>
          <a:noFill/>
          <a:ln/>
        </p:spPr>
        <p:txBody>
          <a:bodyPr wrap="square" lIns="0" tIns="0" rIns="0" bIns="0" rtlCol="0" anchor="t"/>
          <a:lstStyle/>
          <a:p>
            <a:pPr indent="0" marL="0">
              <a:lnSpc>
                <a:spcPct val="95000"/>
              </a:lnSpc>
              <a:buNone/>
            </a:pPr>
            <a:r>
              <a:rPr lang="en-US" sz="1050" b="1" dirty="0">
                <a:solidFill>
                  <a:srgbClr val="1A2433"/>
                </a:solidFill>
              </a:rPr>
              <a:t>session_id PK FK</a:t>
            </a:r>
            <a:endParaRPr lang="en-US" sz="1050" dirty="0"/>
          </a:p>
          <a:p>
            <a:pPr indent="0" marL="0">
              <a:lnSpc>
                <a:spcPct val="95000"/>
              </a:lnSpc>
              <a:buNone/>
            </a:pPr>
            <a:r>
              <a:rPr lang="en-US" sz="1050" b="1" dirty="0">
                <a:solidFill>
                  <a:srgbClr val="1A2433"/>
                </a:solidFill>
              </a:rPr>
              <a:t>student_id PK FK</a:t>
            </a:r>
            <a:endParaRPr lang="en-US" sz="1050" dirty="0"/>
          </a:p>
          <a:p>
            <a:pPr indent="0" marL="0">
              <a:lnSpc>
                <a:spcPct val="95000"/>
              </a:lnSpc>
              <a:buNone/>
            </a:pPr>
            <a:r>
              <a:rPr lang="en-US" sz="1050" dirty="0">
                <a:solidFill>
                  <a:srgbClr val="1A2433"/>
                </a:solidFill>
              </a:rPr>
              <a:t>6 step signatures</a:t>
            </a:r>
            <a:endParaRPr lang="en-US" sz="1050" dirty="0"/>
          </a:p>
          <a:p>
            <a:pPr indent="0" marL="0">
              <a:lnSpc>
                <a:spcPct val="95000"/>
              </a:lnSpc>
              <a:buNone/>
            </a:pPr>
            <a:r>
              <a:rPr lang="en-US" sz="1050" dirty="0">
                <a:solidFill>
                  <a:srgbClr val="1A2433"/>
                </a:solidFill>
              </a:rPr>
              <a:t>ticket_no</a:t>
            </a:r>
            <a:endParaRPr lang="en-US" sz="1050" dirty="0"/>
          </a:p>
        </p:txBody>
      </p:sp>
      <p:sp>
        <p:nvSpPr>
          <p:cNvPr id="53" name="connector"/>
          <p:cNvSpPr/>
          <p:nvPr/>
        </p:nvSpPr>
        <p:spPr>
          <a:xfrm flipH="1">
            <a:off x="3063240" y="2034540"/>
            <a:ext cx="344729" cy="914"/>
          </a:xfrm>
          <a:prstGeom prst="line">
            <a:avLst/>
          </a:prstGeom>
          <a:noFill/>
          <a:ln w="15875">
            <a:solidFill>
              <a:srgbClr val="5B7A99"/>
            </a:solidFill>
            <a:prstDash val="solid"/>
          </a:ln>
        </p:spPr>
      </p:sp>
      <p:sp>
        <p:nvSpPr>
          <p:cNvPr id="54" name="Text 52"/>
          <p:cNvSpPr txBox="1"/>
          <p:nvPr/>
        </p:nvSpPr>
        <p:spPr>
          <a:xfrm>
            <a:off x="2961284" y="1760220"/>
            <a:ext cx="548640" cy="219456"/>
          </a:xfrm>
          <a:prstGeom prst="rect">
            <a:avLst/>
          </a:prstGeom>
          <a:noFill/>
          <a:ln/>
        </p:spPr>
        <p:txBody>
          <a:bodyPr wrap="square" lIns="0" tIns="0" rIns="0" bIns="0" rtlCol="0" anchor="t"/>
          <a:lstStyle/>
          <a:p>
            <a:pPr algn="ctr" indent="0" marL="0">
              <a:buNone/>
            </a:pPr>
            <a:r>
              <a:rPr lang="en-US" sz="1000" b="1" dirty="0">
                <a:solidFill>
                  <a:srgbClr val="004080"/>
                </a:solidFill>
              </a:rPr>
              <a:t>1:1</a:t>
            </a:r>
            <a:endParaRPr lang="en-US" sz="1000" dirty="0"/>
          </a:p>
        </p:txBody>
      </p:sp>
      <p:sp>
        <p:nvSpPr>
          <p:cNvPr id="55" name="connector"/>
          <p:cNvSpPr/>
          <p:nvPr/>
        </p:nvSpPr>
        <p:spPr>
          <a:xfrm>
            <a:off x="4665269" y="2743200"/>
            <a:ext cx="914" cy="228600"/>
          </a:xfrm>
          <a:prstGeom prst="line">
            <a:avLst/>
          </a:prstGeom>
          <a:noFill/>
          <a:ln w="15875">
            <a:solidFill>
              <a:srgbClr val="5B7A99"/>
            </a:solidFill>
            <a:prstDash val="solid"/>
          </a:ln>
        </p:spPr>
      </p:sp>
      <p:sp>
        <p:nvSpPr>
          <p:cNvPr id="56" name="Text 54"/>
          <p:cNvSpPr txBox="1"/>
          <p:nvPr/>
        </p:nvSpPr>
        <p:spPr>
          <a:xfrm>
            <a:off x="4710989" y="2807208"/>
            <a:ext cx="274320" cy="237744"/>
          </a:xfrm>
          <a:prstGeom prst="rect">
            <a:avLst/>
          </a:prstGeom>
          <a:noFill/>
          <a:ln/>
        </p:spPr>
        <p:txBody>
          <a:bodyPr wrap="square" lIns="0" tIns="0" rIns="0" bIns="0" rtlCol="0" anchor="t"/>
          <a:lstStyle/>
          <a:p>
            <a:pPr algn="ctr" indent="0" marL="0">
              <a:buNone/>
            </a:pPr>
            <a:r>
              <a:rPr lang="en-US" sz="1100" b="1" dirty="0">
                <a:solidFill>
                  <a:srgbClr val="004080"/>
                </a:solidFill>
              </a:rPr>
              <a:t>1</a:t>
            </a:r>
            <a:endParaRPr lang="en-US" sz="1100" dirty="0"/>
          </a:p>
        </p:txBody>
      </p:sp>
      <p:sp>
        <p:nvSpPr>
          <p:cNvPr id="57" name="Text 55"/>
          <p:cNvSpPr txBox="1"/>
          <p:nvPr/>
        </p:nvSpPr>
        <p:spPr>
          <a:xfrm>
            <a:off x="4710989" y="2670048"/>
            <a:ext cx="274320" cy="237744"/>
          </a:xfrm>
          <a:prstGeom prst="rect">
            <a:avLst/>
          </a:prstGeom>
          <a:noFill/>
          <a:ln/>
        </p:spPr>
        <p:txBody>
          <a:bodyPr wrap="square" lIns="0" tIns="0" rIns="0" bIns="0" rtlCol="0" anchor="t"/>
          <a:lstStyle/>
          <a:p>
            <a:pPr algn="ctr" indent="0" marL="0">
              <a:buNone/>
            </a:pPr>
            <a:r>
              <a:rPr lang="en-US" sz="1100" b="1" dirty="0">
                <a:solidFill>
                  <a:srgbClr val="004080"/>
                </a:solidFill>
              </a:rPr>
              <a:t>1</a:t>
            </a:r>
            <a:endParaRPr lang="en-US" sz="1100" dirty="0"/>
          </a:p>
        </p:txBody>
      </p:sp>
      <p:sp>
        <p:nvSpPr>
          <p:cNvPr id="58" name="connector"/>
          <p:cNvSpPr/>
          <p:nvPr/>
        </p:nvSpPr>
        <p:spPr>
          <a:xfrm flipH="1">
            <a:off x="3063240" y="3680460"/>
            <a:ext cx="344729" cy="914"/>
          </a:xfrm>
          <a:prstGeom prst="line">
            <a:avLst/>
          </a:prstGeom>
          <a:noFill/>
          <a:ln w="15875">
            <a:solidFill>
              <a:srgbClr val="5B7A99"/>
            </a:solidFill>
            <a:prstDash val="solid"/>
          </a:ln>
        </p:spPr>
      </p:sp>
      <p:sp>
        <p:nvSpPr>
          <p:cNvPr id="59" name="Text 57"/>
          <p:cNvSpPr txBox="1"/>
          <p:nvPr/>
        </p:nvSpPr>
        <p:spPr>
          <a:xfrm>
            <a:off x="2961284" y="3406140"/>
            <a:ext cx="548640" cy="219456"/>
          </a:xfrm>
          <a:prstGeom prst="rect">
            <a:avLst/>
          </a:prstGeom>
          <a:noFill/>
          <a:ln/>
        </p:spPr>
        <p:txBody>
          <a:bodyPr wrap="square" lIns="0" tIns="0" rIns="0" bIns="0" rtlCol="0" anchor="t"/>
          <a:lstStyle/>
          <a:p>
            <a:pPr algn="ctr" indent="0" marL="0">
              <a:buNone/>
            </a:pPr>
            <a:r>
              <a:rPr lang="en-US" sz="1000" b="1" dirty="0">
                <a:solidFill>
                  <a:srgbClr val="004080"/>
                </a:solidFill>
              </a:rPr>
              <a:t>N:1</a:t>
            </a:r>
            <a:endParaRPr lang="en-US" sz="1000" dirty="0"/>
          </a:p>
        </p:txBody>
      </p:sp>
      <p:sp>
        <p:nvSpPr>
          <p:cNvPr id="60" name="connector"/>
          <p:cNvSpPr/>
          <p:nvPr/>
        </p:nvSpPr>
        <p:spPr>
          <a:xfrm>
            <a:off x="5922569" y="3680460"/>
            <a:ext cx="344729" cy="914"/>
          </a:xfrm>
          <a:prstGeom prst="line">
            <a:avLst/>
          </a:prstGeom>
          <a:noFill/>
          <a:ln w="15875">
            <a:solidFill>
              <a:srgbClr val="5B7A99"/>
            </a:solidFill>
            <a:prstDash val="solid"/>
          </a:ln>
        </p:spPr>
      </p:sp>
      <p:sp>
        <p:nvSpPr>
          <p:cNvPr id="61" name="Text 59"/>
          <p:cNvSpPr txBox="1"/>
          <p:nvPr/>
        </p:nvSpPr>
        <p:spPr>
          <a:xfrm>
            <a:off x="5820613" y="3406140"/>
            <a:ext cx="548640" cy="219456"/>
          </a:xfrm>
          <a:prstGeom prst="rect">
            <a:avLst/>
          </a:prstGeom>
          <a:noFill/>
          <a:ln/>
        </p:spPr>
        <p:txBody>
          <a:bodyPr wrap="square" lIns="0" tIns="0" rIns="0" bIns="0" rtlCol="0" anchor="t"/>
          <a:lstStyle/>
          <a:p>
            <a:pPr algn="ctr" indent="0" marL="0">
              <a:buNone/>
            </a:pPr>
            <a:r>
              <a:rPr lang="en-US" sz="1000" b="1" dirty="0">
                <a:solidFill>
                  <a:srgbClr val="004080"/>
                </a:solidFill>
              </a:rPr>
              <a:t>1:N</a:t>
            </a:r>
            <a:endParaRPr lang="en-US" sz="1000" dirty="0"/>
          </a:p>
        </p:txBody>
      </p:sp>
      <p:sp>
        <p:nvSpPr>
          <p:cNvPr id="62" name="connector"/>
          <p:cNvSpPr/>
          <p:nvPr/>
        </p:nvSpPr>
        <p:spPr>
          <a:xfrm flipH="1">
            <a:off x="8781898" y="3680460"/>
            <a:ext cx="343814" cy="914"/>
          </a:xfrm>
          <a:prstGeom prst="line">
            <a:avLst/>
          </a:prstGeom>
          <a:noFill/>
          <a:ln w="15875">
            <a:solidFill>
              <a:srgbClr val="5B7A99"/>
            </a:solidFill>
            <a:prstDash val="solid"/>
          </a:ln>
        </p:spPr>
      </p:sp>
      <p:sp>
        <p:nvSpPr>
          <p:cNvPr id="63" name="Text 61"/>
          <p:cNvSpPr txBox="1"/>
          <p:nvPr/>
        </p:nvSpPr>
        <p:spPr>
          <a:xfrm>
            <a:off x="8679485" y="3406140"/>
            <a:ext cx="548640" cy="219456"/>
          </a:xfrm>
          <a:prstGeom prst="rect">
            <a:avLst/>
          </a:prstGeom>
          <a:noFill/>
          <a:ln/>
        </p:spPr>
        <p:txBody>
          <a:bodyPr wrap="square" lIns="0" tIns="0" rIns="0" bIns="0" rtlCol="0" anchor="t"/>
          <a:lstStyle/>
          <a:p>
            <a:pPr algn="ctr" indent="0" marL="0">
              <a:buNone/>
            </a:pPr>
            <a:r>
              <a:rPr lang="en-US" sz="1000" b="1" dirty="0">
                <a:solidFill>
                  <a:srgbClr val="004080"/>
                </a:solidFill>
              </a:rPr>
              <a:t>N:1</a:t>
            </a:r>
            <a:endParaRPr lang="en-US" sz="1000" dirty="0"/>
          </a:p>
        </p:txBody>
      </p:sp>
      <p:sp>
        <p:nvSpPr>
          <p:cNvPr id="64" name="connector"/>
          <p:cNvSpPr/>
          <p:nvPr/>
        </p:nvSpPr>
        <p:spPr>
          <a:xfrm flipV="1">
            <a:off x="5922569" y="2743200"/>
            <a:ext cx="1602029" cy="320040"/>
          </a:xfrm>
          <a:prstGeom prst="line">
            <a:avLst/>
          </a:prstGeom>
          <a:noFill/>
          <a:ln w="15875">
            <a:solidFill>
              <a:srgbClr val="5B7A99"/>
            </a:solidFill>
            <a:prstDash val="solid"/>
          </a:ln>
        </p:spPr>
      </p:sp>
      <p:sp>
        <p:nvSpPr>
          <p:cNvPr id="65" name="Text 63"/>
          <p:cNvSpPr txBox="1"/>
          <p:nvPr/>
        </p:nvSpPr>
        <p:spPr>
          <a:xfrm>
            <a:off x="5968289" y="2761488"/>
            <a:ext cx="274320" cy="237744"/>
          </a:xfrm>
          <a:prstGeom prst="rect">
            <a:avLst/>
          </a:prstGeom>
          <a:noFill/>
          <a:ln/>
        </p:spPr>
        <p:txBody>
          <a:bodyPr wrap="square" lIns="0" tIns="0" rIns="0" bIns="0" rtlCol="0" anchor="t"/>
          <a:lstStyle/>
          <a:p>
            <a:pPr algn="ctr" indent="0" marL="0">
              <a:buNone/>
            </a:pPr>
            <a:r>
              <a:rPr lang="en-US" sz="1100" b="1" dirty="0">
                <a:solidFill>
                  <a:srgbClr val="004080"/>
                </a:solidFill>
              </a:rPr>
              <a:t>1</a:t>
            </a:r>
            <a:endParaRPr lang="en-US" sz="1100" dirty="0"/>
          </a:p>
        </p:txBody>
      </p:sp>
      <p:sp>
        <p:nvSpPr>
          <p:cNvPr id="66" name="Text 64"/>
          <p:cNvSpPr txBox="1"/>
          <p:nvPr/>
        </p:nvSpPr>
        <p:spPr>
          <a:xfrm>
            <a:off x="7204558" y="2807208"/>
            <a:ext cx="274320" cy="237744"/>
          </a:xfrm>
          <a:prstGeom prst="rect">
            <a:avLst/>
          </a:prstGeom>
          <a:noFill/>
          <a:ln/>
        </p:spPr>
        <p:txBody>
          <a:bodyPr wrap="square" lIns="0" tIns="0" rIns="0" bIns="0" rtlCol="0" anchor="t"/>
          <a:lstStyle/>
          <a:p>
            <a:pPr algn="ctr" indent="0" marL="0">
              <a:buNone/>
            </a:pPr>
            <a:r>
              <a:rPr lang="en-US" sz="1100" b="1" dirty="0">
                <a:solidFill>
                  <a:srgbClr val="004080"/>
                </a:solidFill>
              </a:rPr>
              <a:t>N</a:t>
            </a:r>
            <a:endParaRPr lang="en-US" sz="1100" dirty="0"/>
          </a:p>
        </p:txBody>
      </p:sp>
      <p:sp>
        <p:nvSpPr>
          <p:cNvPr id="67" name="connector"/>
          <p:cNvSpPr/>
          <p:nvPr/>
        </p:nvSpPr>
        <p:spPr>
          <a:xfrm>
            <a:off x="8781898" y="2034540"/>
            <a:ext cx="343814" cy="914"/>
          </a:xfrm>
          <a:prstGeom prst="line">
            <a:avLst/>
          </a:prstGeom>
          <a:noFill/>
          <a:ln w="15875">
            <a:solidFill>
              <a:srgbClr val="5B7A99"/>
            </a:solidFill>
            <a:prstDash val="solid"/>
          </a:ln>
        </p:spPr>
      </p:sp>
      <p:sp>
        <p:nvSpPr>
          <p:cNvPr id="68" name="Text 66"/>
          <p:cNvSpPr txBox="1"/>
          <p:nvPr/>
        </p:nvSpPr>
        <p:spPr>
          <a:xfrm>
            <a:off x="8679485" y="1760220"/>
            <a:ext cx="548640" cy="219456"/>
          </a:xfrm>
          <a:prstGeom prst="rect">
            <a:avLst/>
          </a:prstGeom>
          <a:noFill/>
          <a:ln/>
        </p:spPr>
        <p:txBody>
          <a:bodyPr wrap="square" lIns="0" tIns="0" rIns="0" bIns="0" rtlCol="0" anchor="t"/>
          <a:lstStyle/>
          <a:p>
            <a:pPr algn="ctr" indent="0" marL="0">
              <a:buNone/>
            </a:pPr>
            <a:r>
              <a:rPr lang="en-US" sz="1000" b="1" dirty="0">
                <a:solidFill>
                  <a:srgbClr val="004080"/>
                </a:solidFill>
              </a:rPr>
              <a:t>1:0..1</a:t>
            </a:r>
            <a:endParaRPr lang="en-US" sz="1000" dirty="0"/>
          </a:p>
        </p:txBody>
      </p:sp>
      <p:sp>
        <p:nvSpPr>
          <p:cNvPr id="69" name="connector"/>
          <p:cNvSpPr/>
          <p:nvPr/>
        </p:nvSpPr>
        <p:spPr>
          <a:xfrm flipH="1">
            <a:off x="5922569" y="5463540"/>
            <a:ext cx="344729" cy="914"/>
          </a:xfrm>
          <a:prstGeom prst="line">
            <a:avLst/>
          </a:prstGeom>
          <a:noFill/>
          <a:ln w="15875">
            <a:solidFill>
              <a:srgbClr val="5B7A99"/>
            </a:solidFill>
            <a:prstDash val="solid"/>
          </a:ln>
        </p:spPr>
      </p:sp>
      <p:sp>
        <p:nvSpPr>
          <p:cNvPr id="70" name="Text 68"/>
          <p:cNvSpPr txBox="1"/>
          <p:nvPr/>
        </p:nvSpPr>
        <p:spPr>
          <a:xfrm>
            <a:off x="5820613" y="5189220"/>
            <a:ext cx="548640" cy="219456"/>
          </a:xfrm>
          <a:prstGeom prst="rect">
            <a:avLst/>
          </a:prstGeom>
          <a:noFill/>
          <a:ln/>
        </p:spPr>
        <p:txBody>
          <a:bodyPr wrap="square" lIns="0" tIns="0" rIns="0" bIns="0" rtlCol="0" anchor="t"/>
          <a:lstStyle/>
          <a:p>
            <a:pPr algn="ctr" indent="0" marL="0">
              <a:buNone/>
            </a:pPr>
            <a:r>
              <a:rPr lang="en-US" sz="1000" b="1" dirty="0">
                <a:solidFill>
                  <a:srgbClr val="004080"/>
                </a:solidFill>
              </a:rPr>
              <a:t>N:1</a:t>
            </a:r>
            <a:endParaRPr lang="en-US" sz="1000" dirty="0"/>
          </a:p>
        </p:txBody>
      </p:sp>
      <p:sp>
        <p:nvSpPr>
          <p:cNvPr id="71" name="connector"/>
          <p:cNvSpPr/>
          <p:nvPr/>
        </p:nvSpPr>
        <p:spPr>
          <a:xfrm>
            <a:off x="8781898" y="5463540"/>
            <a:ext cx="343814" cy="914"/>
          </a:xfrm>
          <a:prstGeom prst="line">
            <a:avLst/>
          </a:prstGeom>
          <a:noFill/>
          <a:ln w="15875">
            <a:solidFill>
              <a:srgbClr val="5B7A99"/>
            </a:solidFill>
            <a:prstDash val="solid"/>
          </a:ln>
        </p:spPr>
      </p:sp>
      <p:sp>
        <p:nvSpPr>
          <p:cNvPr id="72" name="Text 70"/>
          <p:cNvSpPr txBox="1"/>
          <p:nvPr/>
        </p:nvSpPr>
        <p:spPr>
          <a:xfrm>
            <a:off x="8679485" y="5189220"/>
            <a:ext cx="548640" cy="219456"/>
          </a:xfrm>
          <a:prstGeom prst="rect">
            <a:avLst/>
          </a:prstGeom>
          <a:noFill/>
          <a:ln/>
        </p:spPr>
        <p:txBody>
          <a:bodyPr wrap="square" lIns="0" tIns="0" rIns="0" bIns="0" rtlCol="0" anchor="t"/>
          <a:lstStyle/>
          <a:p>
            <a:pPr algn="ctr" indent="0" marL="0">
              <a:buNone/>
            </a:pPr>
            <a:r>
              <a:rPr lang="en-US" sz="1000" b="1" dirty="0">
                <a:solidFill>
                  <a:srgbClr val="004080"/>
                </a:solidFill>
              </a:rPr>
              <a:t>1:N</a:t>
            </a:r>
            <a:endParaRPr lang="en-US" sz="1000" dirty="0"/>
          </a:p>
        </p:txBody>
      </p:sp>
      <p:sp>
        <p:nvSpPr>
          <p:cNvPr id="73" name="connector"/>
          <p:cNvSpPr/>
          <p:nvPr/>
        </p:nvSpPr>
        <p:spPr>
          <a:xfrm>
            <a:off x="5922569" y="4297680"/>
            <a:ext cx="4460443" cy="457200"/>
          </a:xfrm>
          <a:prstGeom prst="line">
            <a:avLst/>
          </a:prstGeom>
          <a:noFill/>
          <a:ln w="15875">
            <a:solidFill>
              <a:srgbClr val="5B7A99"/>
            </a:solidFill>
            <a:prstDash val="solid"/>
          </a:ln>
        </p:spPr>
      </p:sp>
      <p:sp>
        <p:nvSpPr>
          <p:cNvPr id="74" name="Text 72"/>
          <p:cNvSpPr txBox="1"/>
          <p:nvPr/>
        </p:nvSpPr>
        <p:spPr>
          <a:xfrm>
            <a:off x="5968289" y="4361688"/>
            <a:ext cx="274320" cy="237744"/>
          </a:xfrm>
          <a:prstGeom prst="rect">
            <a:avLst/>
          </a:prstGeom>
          <a:noFill/>
          <a:ln/>
        </p:spPr>
        <p:txBody>
          <a:bodyPr wrap="square" lIns="0" tIns="0" rIns="0" bIns="0" rtlCol="0" anchor="t"/>
          <a:lstStyle/>
          <a:p>
            <a:pPr algn="ctr" indent="0" marL="0">
              <a:buNone/>
            </a:pPr>
            <a:r>
              <a:rPr lang="en-US" sz="1100" b="1" dirty="0">
                <a:solidFill>
                  <a:srgbClr val="004080"/>
                </a:solidFill>
              </a:rPr>
              <a:t>1</a:t>
            </a:r>
            <a:endParaRPr lang="en-US" sz="1100" dirty="0"/>
          </a:p>
        </p:txBody>
      </p:sp>
      <p:sp>
        <p:nvSpPr>
          <p:cNvPr id="75" name="Text 73"/>
          <p:cNvSpPr txBox="1"/>
          <p:nvPr/>
        </p:nvSpPr>
        <p:spPr>
          <a:xfrm>
            <a:off x="10062972" y="4453128"/>
            <a:ext cx="274320" cy="237744"/>
          </a:xfrm>
          <a:prstGeom prst="rect">
            <a:avLst/>
          </a:prstGeom>
          <a:noFill/>
          <a:ln/>
        </p:spPr>
        <p:txBody>
          <a:bodyPr wrap="square" lIns="0" tIns="0" rIns="0" bIns="0" rtlCol="0" anchor="t"/>
          <a:lstStyle/>
          <a:p>
            <a:pPr algn="ctr" indent="0" marL="0">
              <a:buNone/>
            </a:pPr>
            <a:r>
              <a:rPr lang="en-US" sz="1100" b="1" dirty="0">
                <a:solidFill>
                  <a:srgbClr val="004080"/>
                </a:solidFill>
              </a:rPr>
              <a:t>N</a:t>
            </a:r>
            <a:endParaRPr lang="en-US" sz="1100" dirty="0"/>
          </a:p>
        </p:txBody>
      </p:sp>
      <p:sp>
        <p:nvSpPr>
          <p:cNvPr id="76" name="connector"/>
          <p:cNvSpPr/>
          <p:nvPr/>
        </p:nvSpPr>
        <p:spPr>
          <a:xfrm>
            <a:off x="3063240" y="5463540"/>
            <a:ext cx="344729" cy="914"/>
          </a:xfrm>
          <a:prstGeom prst="line">
            <a:avLst/>
          </a:prstGeom>
          <a:noFill/>
          <a:ln w="15875">
            <a:solidFill>
              <a:srgbClr val="5B7A99"/>
            </a:solidFill>
            <a:prstDash val="solid"/>
          </a:ln>
        </p:spPr>
      </p:sp>
      <p:sp>
        <p:nvSpPr>
          <p:cNvPr id="77" name="Text 75"/>
          <p:cNvSpPr txBox="1"/>
          <p:nvPr/>
        </p:nvSpPr>
        <p:spPr>
          <a:xfrm>
            <a:off x="2961284" y="5189220"/>
            <a:ext cx="548640" cy="219456"/>
          </a:xfrm>
          <a:prstGeom prst="rect">
            <a:avLst/>
          </a:prstGeom>
          <a:noFill/>
          <a:ln/>
        </p:spPr>
        <p:txBody>
          <a:bodyPr wrap="square" lIns="0" tIns="0" rIns="0" bIns="0" rtlCol="0" anchor="t"/>
          <a:lstStyle/>
          <a:p>
            <a:pPr algn="ctr" indent="0" marL="0">
              <a:buNone/>
            </a:pPr>
            <a:r>
              <a:rPr lang="en-US" sz="1000" b="1" dirty="0">
                <a:solidFill>
                  <a:srgbClr val="004080"/>
                </a:solidFill>
              </a:rPr>
              <a:t>1:N</a:t>
            </a:r>
            <a:endParaRPr lang="en-US" sz="10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6400800" cy="137160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3rd Review</a:t>
            </a:r>
            <a:endParaRPr lang="en-US" sz="4400" dirty="0"/>
          </a:p>
        </p:txBody>
      </p:sp>
      <p:sp>
        <p:nvSpPr>
          <p:cNvPr id="3" name="Text 0"/>
          <p:cNvSpPr/>
          <p:nvPr>
            <p:ph idx="101" type="body" hasCustomPrompt="1"/>
          </p:nvPr>
        </p:nvSpPr>
        <p:spPr>
          <a:xfrm>
            <a:off x="731520" y="3657600"/>
            <a:ext cx="6400800" cy="2377440"/>
          </a:xfrm>
          <a:prstGeom prst="rect">
            <a:avLst/>
          </a:prstGeom>
          <a:noFill/>
          <a:ln/>
        </p:spPr>
        <p:txBody>
          <a:bodyPr wrap="square" lIns="0" tIns="0" rIns="0" bIns="0" rtlCol="0" anchor="t"/>
          <a:lstStyle/>
          <a:p>
            <a:pPr indent="0" marL="0">
              <a:buNone/>
            </a:pPr>
            <a:r>
              <a:rPr lang="en-US" sz="1800" dirty="0">
                <a:solidFill>
                  <a:srgbClr val="D6E2F1"/>
                </a:solidFill>
              </a:rPr>
              <a:t>23/10/2026  ·  Programming language &amp; program design, evaluation &amp; maintenance, installation &amp; operation, security, system pages, features &amp; code, conclusion &amp; summary</a:t>
            </a:r>
            <a:endParaRPr lang="en-US" sz="1800" dirty="0"/>
          </a:p>
        </p:txBody>
      </p:sp>
      <p:sp>
        <p:nvSpPr>
          <p:cNvPr id="4" name="icon circle"/>
          <p:cNvSpPr/>
          <p:nvPr/>
        </p:nvSpPr>
        <p:spPr>
          <a:xfrm>
            <a:off x="8503920" y="2011680"/>
            <a:ext cx="2560320" cy="2560320"/>
          </a:xfrm>
          <a:prstGeom prst="ellipse">
            <a:avLst/>
          </a:prstGeom>
          <a:solidFill>
            <a:srgbClr val="163A63"/>
          </a:solidFill>
          <a:ln w="12700">
            <a:solidFill>
              <a:srgbClr val="163A63"/>
            </a:solidFill>
            <a:prstDash val="solid"/>
          </a:ln>
        </p:spPr>
      </p:sp>
      <p:pic>
        <p:nvPicPr>
          <p:cNvPr id="5" name="Image 0" descr="FaCode">    </p:cNvPr>
          <p:cNvPicPr>
            <a:picLocks noChangeAspect="1"/>
          </p:cNvPicPr>
          <p:nvPr/>
        </p:nvPicPr>
        <p:blipFill>
          <a:blip r:embed="rId1"/>
          <a:stretch>
            <a:fillRect/>
          </a:stretch>
        </p:blipFill>
        <p:spPr>
          <a:xfrm>
            <a:off x="9118397" y="2626157"/>
            <a:ext cx="1331366" cy="133136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Programming language &amp; tools</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3rd Review</a:t>
            </a:r>
            <a:endParaRPr lang="en-US" sz="1100" dirty="0"/>
          </a:p>
        </p:txBody>
      </p:sp>
      <p:sp>
        <p:nvSpPr>
          <p:cNvPr id="5" name="card"/>
          <p:cNvSpPr/>
          <p:nvPr/>
        </p:nvSpPr>
        <p:spPr>
          <a:xfrm>
            <a:off x="548640" y="1371600"/>
            <a:ext cx="6949440" cy="1078992"/>
          </a:xfrm>
          <a:prstGeom prst="roundRect">
            <a:avLst>
              <a:gd name="adj" fmla="val 10169"/>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6" name="icon circle"/>
          <p:cNvSpPr/>
          <p:nvPr/>
        </p:nvSpPr>
        <p:spPr>
          <a:xfrm>
            <a:off x="777240" y="1591056"/>
            <a:ext cx="640080" cy="640080"/>
          </a:xfrm>
          <a:prstGeom prst="ellipse">
            <a:avLst/>
          </a:prstGeom>
          <a:solidFill>
            <a:srgbClr val="004080"/>
          </a:solidFill>
          <a:ln w="12700">
            <a:solidFill>
              <a:srgbClr val="004080"/>
            </a:solidFill>
            <a:prstDash val="solid"/>
          </a:ln>
        </p:spPr>
      </p:sp>
      <p:pic>
        <p:nvPicPr>
          <p:cNvPr id="7" name="Image 0" descr="FaNodeJs">    </p:cNvPr>
          <p:cNvPicPr>
            <a:picLocks noChangeAspect="1"/>
          </p:cNvPicPr>
          <p:nvPr/>
        </p:nvPicPr>
        <p:blipFill>
          <a:blip r:embed="rId1"/>
          <a:stretch>
            <a:fillRect/>
          </a:stretch>
        </p:blipFill>
        <p:spPr>
          <a:xfrm>
            <a:off x="930859" y="1744675"/>
            <a:ext cx="332842" cy="332842"/>
          </a:xfrm>
          <a:prstGeom prst="rect">
            <a:avLst/>
          </a:prstGeom>
        </p:spPr>
      </p:pic>
      <p:sp>
        <p:nvSpPr>
          <p:cNvPr id="8" name="Text 5"/>
          <p:cNvSpPr txBox="1"/>
          <p:nvPr/>
        </p:nvSpPr>
        <p:spPr>
          <a:xfrm>
            <a:off x="1645920" y="1517904"/>
            <a:ext cx="5669280" cy="347472"/>
          </a:xfrm>
          <a:prstGeom prst="rect">
            <a:avLst/>
          </a:prstGeom>
          <a:noFill/>
          <a:ln/>
        </p:spPr>
        <p:txBody>
          <a:bodyPr wrap="square" lIns="0" tIns="0" rIns="0" bIns="0" rtlCol="0" anchor="t"/>
          <a:lstStyle/>
          <a:p>
            <a:pPr indent="0" marL="0">
              <a:buNone/>
            </a:pPr>
            <a:r>
              <a:rPr lang="en-US" sz="1700" b="1" dirty="0">
                <a:solidFill>
                  <a:srgbClr val="0B2545"/>
                </a:solidFill>
              </a:rPr>
              <a:t>JavaScript on Node.js</a:t>
            </a:r>
            <a:endParaRPr lang="en-US" sz="1700" dirty="0"/>
          </a:p>
        </p:txBody>
      </p:sp>
      <p:sp>
        <p:nvSpPr>
          <p:cNvPr id="9" name="Text 6"/>
          <p:cNvSpPr txBox="1"/>
          <p:nvPr/>
        </p:nvSpPr>
        <p:spPr>
          <a:xfrm>
            <a:off x="1645920" y="1874520"/>
            <a:ext cx="5669280" cy="502920"/>
          </a:xfrm>
          <a:prstGeom prst="rect">
            <a:avLst/>
          </a:prstGeom>
          <a:noFill/>
          <a:ln/>
        </p:spPr>
        <p:txBody>
          <a:bodyPr wrap="square" lIns="0" tIns="0" rIns="0" bIns="0" rtlCol="0" anchor="t"/>
          <a:lstStyle/>
          <a:p>
            <a:pPr indent="0" marL="0">
              <a:buNone/>
            </a:pPr>
            <a:r>
              <a:rPr lang="en-US" sz="1400" dirty="0">
                <a:solidFill>
                  <a:srgbClr val="1A2433"/>
                </a:solidFill>
              </a:rPr>
              <a:t>One language for both server and browser; fast, event-driven I/O suits many simultaneous users.</a:t>
            </a:r>
            <a:endParaRPr lang="en-US" sz="1400" dirty="0"/>
          </a:p>
        </p:txBody>
      </p:sp>
      <p:sp>
        <p:nvSpPr>
          <p:cNvPr id="10" name="card"/>
          <p:cNvSpPr/>
          <p:nvPr/>
        </p:nvSpPr>
        <p:spPr>
          <a:xfrm>
            <a:off x="548640" y="2587752"/>
            <a:ext cx="6949440" cy="1078992"/>
          </a:xfrm>
          <a:prstGeom prst="roundRect">
            <a:avLst>
              <a:gd name="adj" fmla="val 10169"/>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11" name="icon circle"/>
          <p:cNvSpPr/>
          <p:nvPr/>
        </p:nvSpPr>
        <p:spPr>
          <a:xfrm>
            <a:off x="777240" y="2807208"/>
            <a:ext cx="640080" cy="640080"/>
          </a:xfrm>
          <a:prstGeom prst="ellipse">
            <a:avLst/>
          </a:prstGeom>
          <a:solidFill>
            <a:srgbClr val="E3A83B"/>
          </a:solidFill>
          <a:ln w="12700">
            <a:solidFill>
              <a:srgbClr val="E3A83B"/>
            </a:solidFill>
            <a:prstDash val="solid"/>
          </a:ln>
        </p:spPr>
      </p:sp>
      <p:pic>
        <p:nvPicPr>
          <p:cNvPr id="12" name="Image 1" descr="FaServer">    </p:cNvPr>
          <p:cNvPicPr>
            <a:picLocks noChangeAspect="1"/>
          </p:cNvPicPr>
          <p:nvPr/>
        </p:nvPicPr>
        <p:blipFill>
          <a:blip r:embed="rId2"/>
          <a:stretch>
            <a:fillRect/>
          </a:stretch>
        </p:blipFill>
        <p:spPr>
          <a:xfrm>
            <a:off x="930859" y="2960827"/>
            <a:ext cx="332842" cy="332842"/>
          </a:xfrm>
          <a:prstGeom prst="rect">
            <a:avLst/>
          </a:prstGeom>
        </p:spPr>
      </p:pic>
      <p:sp>
        <p:nvSpPr>
          <p:cNvPr id="13" name="Text 9"/>
          <p:cNvSpPr txBox="1"/>
          <p:nvPr/>
        </p:nvSpPr>
        <p:spPr>
          <a:xfrm>
            <a:off x="1645920" y="2734056"/>
            <a:ext cx="5669280" cy="347472"/>
          </a:xfrm>
          <a:prstGeom prst="rect">
            <a:avLst/>
          </a:prstGeom>
          <a:noFill/>
          <a:ln/>
        </p:spPr>
        <p:txBody>
          <a:bodyPr wrap="square" lIns="0" tIns="0" rIns="0" bIns="0" rtlCol="0" anchor="t"/>
          <a:lstStyle/>
          <a:p>
            <a:pPr indent="0" marL="0">
              <a:buNone/>
            </a:pPr>
            <a:r>
              <a:rPr lang="en-US" sz="1700" b="1" dirty="0">
                <a:solidFill>
                  <a:srgbClr val="0B2545"/>
                </a:solidFill>
              </a:rPr>
              <a:t>Express 5</a:t>
            </a:r>
            <a:endParaRPr lang="en-US" sz="1700" dirty="0"/>
          </a:p>
        </p:txBody>
      </p:sp>
      <p:sp>
        <p:nvSpPr>
          <p:cNvPr id="14" name="Text 10"/>
          <p:cNvSpPr txBox="1"/>
          <p:nvPr/>
        </p:nvSpPr>
        <p:spPr>
          <a:xfrm>
            <a:off x="1645920" y="3090672"/>
            <a:ext cx="5669280" cy="502920"/>
          </a:xfrm>
          <a:prstGeom prst="rect">
            <a:avLst/>
          </a:prstGeom>
          <a:noFill/>
          <a:ln/>
        </p:spPr>
        <p:txBody>
          <a:bodyPr wrap="square" lIns="0" tIns="0" rIns="0" bIns="0" rtlCol="0" anchor="t"/>
          <a:lstStyle/>
          <a:p>
            <a:pPr indent="0" marL="0">
              <a:buNone/>
            </a:pPr>
            <a:r>
              <a:rPr lang="en-US" sz="1400" dirty="0">
                <a:solidFill>
                  <a:srgbClr val="1A2433"/>
                </a:solidFill>
              </a:rPr>
              <a:t>Lightweight web framework for the REST API, middleware and serving the pages.</a:t>
            </a:r>
            <a:endParaRPr lang="en-US" sz="1400" dirty="0"/>
          </a:p>
        </p:txBody>
      </p:sp>
      <p:sp>
        <p:nvSpPr>
          <p:cNvPr id="15" name="card"/>
          <p:cNvSpPr/>
          <p:nvPr/>
        </p:nvSpPr>
        <p:spPr>
          <a:xfrm>
            <a:off x="548640" y="3803904"/>
            <a:ext cx="6949440" cy="1078992"/>
          </a:xfrm>
          <a:prstGeom prst="roundRect">
            <a:avLst>
              <a:gd name="adj" fmla="val 10169"/>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16" name="icon circle"/>
          <p:cNvSpPr/>
          <p:nvPr/>
        </p:nvSpPr>
        <p:spPr>
          <a:xfrm>
            <a:off x="777240" y="4023360"/>
            <a:ext cx="640080" cy="640080"/>
          </a:xfrm>
          <a:prstGeom prst="ellipse">
            <a:avLst/>
          </a:prstGeom>
          <a:solidFill>
            <a:srgbClr val="004080"/>
          </a:solidFill>
          <a:ln w="12700">
            <a:solidFill>
              <a:srgbClr val="004080"/>
            </a:solidFill>
            <a:prstDash val="solid"/>
          </a:ln>
        </p:spPr>
      </p:sp>
      <p:pic>
        <p:nvPicPr>
          <p:cNvPr id="17" name="Image 2" descr="FaDatabase">    </p:cNvPr>
          <p:cNvPicPr>
            <a:picLocks noChangeAspect="1"/>
          </p:cNvPicPr>
          <p:nvPr/>
        </p:nvPicPr>
        <p:blipFill>
          <a:blip r:embed="rId3"/>
          <a:stretch>
            <a:fillRect/>
          </a:stretch>
        </p:blipFill>
        <p:spPr>
          <a:xfrm>
            <a:off x="930859" y="4176979"/>
            <a:ext cx="332842" cy="332842"/>
          </a:xfrm>
          <a:prstGeom prst="rect">
            <a:avLst/>
          </a:prstGeom>
        </p:spPr>
      </p:pic>
      <p:sp>
        <p:nvSpPr>
          <p:cNvPr id="18" name="Text 13"/>
          <p:cNvSpPr txBox="1"/>
          <p:nvPr/>
        </p:nvSpPr>
        <p:spPr>
          <a:xfrm>
            <a:off x="1645920" y="3950208"/>
            <a:ext cx="5669280" cy="347472"/>
          </a:xfrm>
          <a:prstGeom prst="rect">
            <a:avLst/>
          </a:prstGeom>
          <a:noFill/>
          <a:ln/>
        </p:spPr>
        <p:txBody>
          <a:bodyPr wrap="square" lIns="0" tIns="0" rIns="0" bIns="0" rtlCol="0" anchor="t"/>
          <a:lstStyle/>
          <a:p>
            <a:pPr indent="0" marL="0">
              <a:buNone/>
            </a:pPr>
            <a:r>
              <a:rPr lang="en-US" sz="1700" b="1" dirty="0">
                <a:solidFill>
                  <a:srgbClr val="0B2545"/>
                </a:solidFill>
              </a:rPr>
              <a:t>MySQL 8 (SQL)</a:t>
            </a:r>
            <a:endParaRPr lang="en-US" sz="1700" dirty="0"/>
          </a:p>
        </p:txBody>
      </p:sp>
      <p:sp>
        <p:nvSpPr>
          <p:cNvPr id="19" name="Text 14"/>
          <p:cNvSpPr txBox="1"/>
          <p:nvPr/>
        </p:nvSpPr>
        <p:spPr>
          <a:xfrm>
            <a:off x="1645920" y="4306824"/>
            <a:ext cx="5669280" cy="502920"/>
          </a:xfrm>
          <a:prstGeom prst="rect">
            <a:avLst/>
          </a:prstGeom>
          <a:noFill/>
          <a:ln/>
        </p:spPr>
        <p:txBody>
          <a:bodyPr wrap="square" lIns="0" tIns="0" rIns="0" bIns="0" rtlCol="0" anchor="t"/>
          <a:lstStyle/>
          <a:p>
            <a:pPr indent="0" marL="0">
              <a:buNone/>
            </a:pPr>
            <a:r>
              <a:rPr lang="en-US" sz="1400" dirty="0">
                <a:solidFill>
                  <a:srgbClr val="1A2433"/>
                </a:solidFill>
              </a:rPr>
              <a:t>Relational data with keys and joins fits students, fees and approvals; free and widely hosted.</a:t>
            </a:r>
            <a:endParaRPr lang="en-US" sz="1400" dirty="0"/>
          </a:p>
        </p:txBody>
      </p:sp>
      <p:sp>
        <p:nvSpPr>
          <p:cNvPr id="20" name="card"/>
          <p:cNvSpPr/>
          <p:nvPr/>
        </p:nvSpPr>
        <p:spPr>
          <a:xfrm>
            <a:off x="548640" y="5020056"/>
            <a:ext cx="6949440" cy="1078992"/>
          </a:xfrm>
          <a:prstGeom prst="roundRect">
            <a:avLst>
              <a:gd name="adj" fmla="val 10169"/>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21" name="icon circle"/>
          <p:cNvSpPr/>
          <p:nvPr/>
        </p:nvSpPr>
        <p:spPr>
          <a:xfrm>
            <a:off x="777240" y="5239512"/>
            <a:ext cx="640080" cy="640080"/>
          </a:xfrm>
          <a:prstGeom prst="ellipse">
            <a:avLst/>
          </a:prstGeom>
          <a:solidFill>
            <a:srgbClr val="E3A83B"/>
          </a:solidFill>
          <a:ln w="12700">
            <a:solidFill>
              <a:srgbClr val="E3A83B"/>
            </a:solidFill>
            <a:prstDash val="solid"/>
          </a:ln>
        </p:spPr>
      </p:sp>
      <p:pic>
        <p:nvPicPr>
          <p:cNvPr id="22" name="Image 3" descr="FaHtml5">    </p:cNvPr>
          <p:cNvPicPr>
            <a:picLocks noChangeAspect="1"/>
          </p:cNvPicPr>
          <p:nvPr/>
        </p:nvPicPr>
        <p:blipFill>
          <a:blip r:embed="rId4"/>
          <a:stretch>
            <a:fillRect/>
          </a:stretch>
        </p:blipFill>
        <p:spPr>
          <a:xfrm>
            <a:off x="930859" y="5393131"/>
            <a:ext cx="332842" cy="332842"/>
          </a:xfrm>
          <a:prstGeom prst="rect">
            <a:avLst/>
          </a:prstGeom>
        </p:spPr>
      </p:pic>
      <p:sp>
        <p:nvSpPr>
          <p:cNvPr id="23" name="Text 17"/>
          <p:cNvSpPr txBox="1"/>
          <p:nvPr/>
        </p:nvSpPr>
        <p:spPr>
          <a:xfrm>
            <a:off x="1645920" y="5166360"/>
            <a:ext cx="5669280" cy="347472"/>
          </a:xfrm>
          <a:prstGeom prst="rect">
            <a:avLst/>
          </a:prstGeom>
          <a:noFill/>
          <a:ln/>
        </p:spPr>
        <p:txBody>
          <a:bodyPr wrap="square" lIns="0" tIns="0" rIns="0" bIns="0" rtlCol="0" anchor="t"/>
          <a:lstStyle/>
          <a:p>
            <a:pPr indent="0" marL="0">
              <a:buNone/>
            </a:pPr>
            <a:r>
              <a:rPr lang="en-US" sz="1700" b="1" dirty="0">
                <a:solidFill>
                  <a:srgbClr val="0B2545"/>
                </a:solidFill>
              </a:rPr>
              <a:t>HTML5, CSS3 &amp; plain JavaScript</a:t>
            </a:r>
            <a:endParaRPr lang="en-US" sz="1700" dirty="0"/>
          </a:p>
        </p:txBody>
      </p:sp>
      <p:sp>
        <p:nvSpPr>
          <p:cNvPr id="24" name="Text 18"/>
          <p:cNvSpPr txBox="1"/>
          <p:nvPr/>
        </p:nvSpPr>
        <p:spPr>
          <a:xfrm>
            <a:off x="1645920" y="5522976"/>
            <a:ext cx="5669280" cy="502920"/>
          </a:xfrm>
          <a:prstGeom prst="rect">
            <a:avLst/>
          </a:prstGeom>
          <a:noFill/>
          <a:ln/>
        </p:spPr>
        <p:txBody>
          <a:bodyPr wrap="square" lIns="0" tIns="0" rIns="0" bIns="0" rtlCol="0" anchor="t"/>
          <a:lstStyle/>
          <a:p>
            <a:pPr indent="0" marL="0">
              <a:buNone/>
            </a:pPr>
            <a:r>
              <a:rPr lang="en-US" sz="1400" dirty="0">
                <a:solidFill>
                  <a:srgbClr val="1A2433"/>
                </a:solidFill>
              </a:rPr>
              <a:t>No framework needed: fast pages, low data use, works on phones and old PCs.</a:t>
            </a:r>
            <a:endParaRPr lang="en-US" sz="1400" dirty="0"/>
          </a:p>
        </p:txBody>
      </p:sp>
      <p:sp>
        <p:nvSpPr>
          <p:cNvPr id="25" name="card"/>
          <p:cNvSpPr/>
          <p:nvPr/>
        </p:nvSpPr>
        <p:spPr>
          <a:xfrm>
            <a:off x="7863840" y="1371600"/>
            <a:ext cx="1783080" cy="2240280"/>
          </a:xfrm>
          <a:prstGeom prst="roundRect">
            <a:avLst>
              <a:gd name="adj" fmla="val 6154"/>
            </a:avLst>
          </a:prstGeom>
          <a:solidFill>
            <a:srgbClr val="0B2545"/>
          </a:solidFill>
          <a:ln w="12700">
            <a:solidFill>
              <a:srgbClr val="0B2545"/>
            </a:solidFill>
            <a:prstDash val="solid"/>
          </a:ln>
          <a:effectLst>
            <a:outerShdw sx="100000" sy="100000" kx="0" ky="0" algn="bl" rotWithShape="0" blurRad="76200" dist="25400" dir="5400000">
              <a:srgbClr val="000000">
                <a:alpha val="12000"/>
              </a:srgbClr>
            </a:outerShdw>
          </a:effectLst>
        </p:spPr>
      </p:sp>
      <p:sp>
        <p:nvSpPr>
          <p:cNvPr id="26" name="Text 20"/>
          <p:cNvSpPr txBox="1"/>
          <p:nvPr/>
        </p:nvSpPr>
        <p:spPr>
          <a:xfrm>
            <a:off x="8001000" y="1645920"/>
            <a:ext cx="1508760" cy="731520"/>
          </a:xfrm>
          <a:prstGeom prst="rect">
            <a:avLst/>
          </a:prstGeom>
          <a:noFill/>
          <a:ln/>
        </p:spPr>
        <p:txBody>
          <a:bodyPr wrap="square" lIns="0" tIns="0" rIns="0" bIns="0" rtlCol="0" anchor="ctr"/>
          <a:lstStyle/>
          <a:p>
            <a:pPr indent="0" marL="0">
              <a:buNone/>
            </a:pPr>
            <a:r>
              <a:rPr lang="en-US" sz="2800" b="1" dirty="0">
                <a:solidFill>
                  <a:srgbClr val="E3A83B"/>
                </a:solidFill>
                <a:latin typeface="Cambria" pitchFamily="34" charset="0"/>
                <a:ea typeface="Cambria" pitchFamily="34" charset="-122"/>
                <a:cs typeface="Cambria" pitchFamily="34" charset="-120"/>
              </a:rPr>
              <a:t>≈ 10,500</a:t>
            </a:r>
            <a:endParaRPr lang="en-US" sz="2800" dirty="0"/>
          </a:p>
        </p:txBody>
      </p:sp>
      <p:sp>
        <p:nvSpPr>
          <p:cNvPr id="27" name="Text 21"/>
          <p:cNvSpPr txBox="1"/>
          <p:nvPr/>
        </p:nvSpPr>
        <p:spPr>
          <a:xfrm>
            <a:off x="8001000" y="2468880"/>
            <a:ext cx="1508760" cy="1005840"/>
          </a:xfrm>
          <a:prstGeom prst="rect">
            <a:avLst/>
          </a:prstGeom>
          <a:noFill/>
          <a:ln/>
        </p:spPr>
        <p:txBody>
          <a:bodyPr wrap="square" lIns="0" tIns="0" rIns="0" bIns="0" rtlCol="0" anchor="t"/>
          <a:lstStyle/>
          <a:p>
            <a:pPr indent="0" marL="0">
              <a:buNone/>
            </a:pPr>
            <a:r>
              <a:rPr lang="en-US" sz="1300" dirty="0">
                <a:solidFill>
                  <a:srgbClr val="FFFFFF"/>
                </a:solidFill>
              </a:rPr>
              <a:t>lines of JavaScript (routes + front end)</a:t>
            </a:r>
            <a:endParaRPr lang="en-US" sz="1300" dirty="0"/>
          </a:p>
        </p:txBody>
      </p:sp>
      <p:sp>
        <p:nvSpPr>
          <p:cNvPr id="28" name="card"/>
          <p:cNvSpPr/>
          <p:nvPr/>
        </p:nvSpPr>
        <p:spPr>
          <a:xfrm>
            <a:off x="9784080" y="1371600"/>
            <a:ext cx="1783080" cy="2240280"/>
          </a:xfrm>
          <a:prstGeom prst="roundRect">
            <a:avLst>
              <a:gd name="adj" fmla="val 6154"/>
            </a:avLst>
          </a:prstGeom>
          <a:solidFill>
            <a:srgbClr val="EEF3F9"/>
          </a:solidFill>
          <a:ln w="12700">
            <a:solidFill>
              <a:srgbClr val="EEF3F9"/>
            </a:solidFill>
            <a:prstDash val="solid"/>
          </a:ln>
          <a:effectLst>
            <a:outerShdw sx="100000" sy="100000" kx="0" ky="0" algn="bl" rotWithShape="0" blurRad="76200" dist="25400" dir="5400000">
              <a:srgbClr val="000000">
                <a:alpha val="12000"/>
              </a:srgbClr>
            </a:outerShdw>
          </a:effectLst>
        </p:spPr>
      </p:sp>
      <p:sp>
        <p:nvSpPr>
          <p:cNvPr id="29" name="Text 23"/>
          <p:cNvSpPr txBox="1"/>
          <p:nvPr/>
        </p:nvSpPr>
        <p:spPr>
          <a:xfrm>
            <a:off x="9921240" y="1645920"/>
            <a:ext cx="1508760" cy="731520"/>
          </a:xfrm>
          <a:prstGeom prst="rect">
            <a:avLst/>
          </a:prstGeom>
          <a:noFill/>
          <a:ln/>
        </p:spPr>
        <p:txBody>
          <a:bodyPr wrap="square" lIns="0" tIns="0" rIns="0" bIns="0" rtlCol="0" anchor="ctr"/>
          <a:lstStyle/>
          <a:p>
            <a:pPr indent="0" marL="0">
              <a:buNone/>
            </a:pPr>
            <a:r>
              <a:rPr lang="en-US" sz="4000" b="1" dirty="0">
                <a:solidFill>
                  <a:srgbClr val="004080"/>
                </a:solidFill>
                <a:latin typeface="Cambria" pitchFamily="34" charset="0"/>
                <a:ea typeface="Cambria" pitchFamily="34" charset="-122"/>
                <a:cs typeface="Cambria" pitchFamily="34" charset="-120"/>
              </a:rPr>
              <a:t>19</a:t>
            </a:r>
            <a:endParaRPr lang="en-US" sz="4000" dirty="0"/>
          </a:p>
        </p:txBody>
      </p:sp>
      <p:sp>
        <p:nvSpPr>
          <p:cNvPr id="30" name="Text 24"/>
          <p:cNvSpPr txBox="1"/>
          <p:nvPr/>
        </p:nvSpPr>
        <p:spPr>
          <a:xfrm>
            <a:off x="9921240" y="2468880"/>
            <a:ext cx="1508760" cy="1005840"/>
          </a:xfrm>
          <a:prstGeom prst="rect">
            <a:avLst/>
          </a:prstGeom>
          <a:noFill/>
          <a:ln/>
        </p:spPr>
        <p:txBody>
          <a:bodyPr wrap="square" lIns="0" tIns="0" rIns="0" bIns="0" rtlCol="0" anchor="t"/>
          <a:lstStyle/>
          <a:p>
            <a:pPr indent="0" marL="0">
              <a:buNone/>
            </a:pPr>
            <a:r>
              <a:rPr lang="en-US" sz="1300" dirty="0">
                <a:solidFill>
                  <a:srgbClr val="1A2433"/>
                </a:solidFill>
              </a:rPr>
              <a:t>API route modules</a:t>
            </a:r>
            <a:endParaRPr lang="en-US" sz="1300" dirty="0"/>
          </a:p>
        </p:txBody>
      </p:sp>
      <p:sp>
        <p:nvSpPr>
          <p:cNvPr id="31" name="card"/>
          <p:cNvSpPr/>
          <p:nvPr/>
        </p:nvSpPr>
        <p:spPr>
          <a:xfrm>
            <a:off x="7863840" y="3794760"/>
            <a:ext cx="1783080" cy="2240280"/>
          </a:xfrm>
          <a:prstGeom prst="roundRect">
            <a:avLst>
              <a:gd name="adj" fmla="val 6154"/>
            </a:avLst>
          </a:prstGeom>
          <a:solidFill>
            <a:srgbClr val="EEF3F9"/>
          </a:solidFill>
          <a:ln w="12700">
            <a:solidFill>
              <a:srgbClr val="EEF3F9"/>
            </a:solidFill>
            <a:prstDash val="solid"/>
          </a:ln>
          <a:effectLst>
            <a:outerShdw sx="100000" sy="100000" kx="0" ky="0" algn="bl" rotWithShape="0" blurRad="76200" dist="25400" dir="5400000">
              <a:srgbClr val="000000">
                <a:alpha val="12000"/>
              </a:srgbClr>
            </a:outerShdw>
          </a:effectLst>
        </p:spPr>
      </p:sp>
      <p:sp>
        <p:nvSpPr>
          <p:cNvPr id="32" name="Text 26"/>
          <p:cNvSpPr txBox="1"/>
          <p:nvPr/>
        </p:nvSpPr>
        <p:spPr>
          <a:xfrm>
            <a:off x="8001000" y="4069080"/>
            <a:ext cx="1508760" cy="731520"/>
          </a:xfrm>
          <a:prstGeom prst="rect">
            <a:avLst/>
          </a:prstGeom>
          <a:noFill/>
          <a:ln/>
        </p:spPr>
        <p:txBody>
          <a:bodyPr wrap="square" lIns="0" tIns="0" rIns="0" bIns="0" rtlCol="0" anchor="ctr"/>
          <a:lstStyle/>
          <a:p>
            <a:pPr indent="0" marL="0">
              <a:buNone/>
            </a:pPr>
            <a:r>
              <a:rPr lang="en-US" sz="4000" b="1" dirty="0">
                <a:solidFill>
                  <a:srgbClr val="004080"/>
                </a:solidFill>
                <a:latin typeface="Cambria" pitchFamily="34" charset="0"/>
                <a:ea typeface="Cambria" pitchFamily="34" charset="-122"/>
                <a:cs typeface="Cambria" pitchFamily="34" charset="-120"/>
              </a:rPr>
              <a:t>9</a:t>
            </a:r>
            <a:endParaRPr lang="en-US" sz="4000" dirty="0"/>
          </a:p>
        </p:txBody>
      </p:sp>
      <p:sp>
        <p:nvSpPr>
          <p:cNvPr id="33" name="Text 27"/>
          <p:cNvSpPr txBox="1"/>
          <p:nvPr/>
        </p:nvSpPr>
        <p:spPr>
          <a:xfrm>
            <a:off x="8001000" y="4892040"/>
            <a:ext cx="1508760" cy="1005840"/>
          </a:xfrm>
          <a:prstGeom prst="rect">
            <a:avLst/>
          </a:prstGeom>
          <a:noFill/>
          <a:ln/>
        </p:spPr>
        <p:txBody>
          <a:bodyPr wrap="square" lIns="0" tIns="0" rIns="0" bIns="0" rtlCol="0" anchor="t"/>
          <a:lstStyle/>
          <a:p>
            <a:pPr indent="0" marL="0">
              <a:buNone/>
            </a:pPr>
            <a:r>
              <a:rPr lang="en-US" sz="1300" dirty="0">
                <a:solidFill>
                  <a:srgbClr val="1A2433"/>
                </a:solidFill>
              </a:rPr>
              <a:t>web pages</a:t>
            </a:r>
            <a:endParaRPr lang="en-US" sz="1300" dirty="0"/>
          </a:p>
        </p:txBody>
      </p:sp>
      <p:sp>
        <p:nvSpPr>
          <p:cNvPr id="34" name="card"/>
          <p:cNvSpPr/>
          <p:nvPr/>
        </p:nvSpPr>
        <p:spPr>
          <a:xfrm>
            <a:off x="9784080" y="3794760"/>
            <a:ext cx="1783080" cy="2240280"/>
          </a:xfrm>
          <a:prstGeom prst="roundRect">
            <a:avLst>
              <a:gd name="adj" fmla="val 6154"/>
            </a:avLst>
          </a:prstGeom>
          <a:solidFill>
            <a:srgbClr val="EEF3F9"/>
          </a:solidFill>
          <a:ln w="12700">
            <a:solidFill>
              <a:srgbClr val="EEF3F9"/>
            </a:solidFill>
            <a:prstDash val="solid"/>
          </a:ln>
          <a:effectLst>
            <a:outerShdw sx="100000" sy="100000" kx="0" ky="0" algn="bl" rotWithShape="0" blurRad="76200" dist="25400" dir="5400000">
              <a:srgbClr val="000000">
                <a:alpha val="12000"/>
              </a:srgbClr>
            </a:outerShdw>
          </a:effectLst>
        </p:spPr>
      </p:sp>
      <p:sp>
        <p:nvSpPr>
          <p:cNvPr id="35" name="Text 29"/>
          <p:cNvSpPr txBox="1"/>
          <p:nvPr/>
        </p:nvSpPr>
        <p:spPr>
          <a:xfrm>
            <a:off x="9921240" y="4069080"/>
            <a:ext cx="1508760" cy="731520"/>
          </a:xfrm>
          <a:prstGeom prst="rect">
            <a:avLst/>
          </a:prstGeom>
          <a:noFill/>
          <a:ln/>
        </p:spPr>
        <p:txBody>
          <a:bodyPr wrap="square" lIns="0" tIns="0" rIns="0" bIns="0" rtlCol="0" anchor="ctr"/>
          <a:lstStyle/>
          <a:p>
            <a:pPr indent="0" marL="0">
              <a:buNone/>
            </a:pPr>
            <a:r>
              <a:rPr lang="en-US" sz="4000" b="1" dirty="0">
                <a:solidFill>
                  <a:srgbClr val="004080"/>
                </a:solidFill>
                <a:latin typeface="Cambria" pitchFamily="34" charset="0"/>
                <a:ea typeface="Cambria" pitchFamily="34" charset="-122"/>
                <a:cs typeface="Cambria" pitchFamily="34" charset="-120"/>
              </a:rPr>
              <a:t>30</a:t>
            </a:r>
            <a:endParaRPr lang="en-US" sz="4000" dirty="0"/>
          </a:p>
        </p:txBody>
      </p:sp>
      <p:sp>
        <p:nvSpPr>
          <p:cNvPr id="36" name="Text 30"/>
          <p:cNvSpPr txBox="1"/>
          <p:nvPr/>
        </p:nvSpPr>
        <p:spPr>
          <a:xfrm>
            <a:off x="9921240" y="4892040"/>
            <a:ext cx="1508760" cy="1005840"/>
          </a:xfrm>
          <a:prstGeom prst="rect">
            <a:avLst/>
          </a:prstGeom>
          <a:noFill/>
          <a:ln/>
        </p:spPr>
        <p:txBody>
          <a:bodyPr wrap="square" lIns="0" tIns="0" rIns="0" bIns="0" rtlCol="0" anchor="t"/>
          <a:lstStyle/>
          <a:p>
            <a:pPr indent="0" marL="0">
              <a:buNone/>
            </a:pPr>
            <a:r>
              <a:rPr lang="en-US" sz="1300" dirty="0">
                <a:solidFill>
                  <a:srgbClr val="1A2433"/>
                </a:solidFill>
              </a:rPr>
              <a:t>database tables</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Program design: project structure</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3rd Review</a:t>
            </a:r>
            <a:endParaRPr lang="en-US" sz="1100" dirty="0"/>
          </a:p>
        </p:txBody>
      </p:sp>
      <p:sp>
        <p:nvSpPr>
          <p:cNvPr id="5" name="code panel"/>
          <p:cNvSpPr/>
          <p:nvPr/>
        </p:nvSpPr>
        <p:spPr>
          <a:xfrm>
            <a:off x="548640" y="1371600"/>
            <a:ext cx="6035040" cy="4800600"/>
          </a:xfrm>
          <a:prstGeom prst="roundRect">
            <a:avLst>
              <a:gd name="adj" fmla="val 1905"/>
            </a:avLst>
          </a:prstGeom>
          <a:solidFill>
            <a:srgbClr val="14223A"/>
          </a:solidFill>
          <a:ln w="12700">
            <a:solidFill>
              <a:srgbClr val="14223A"/>
            </a:solidFill>
            <a:prstDash val="solid"/>
          </a:ln>
        </p:spPr>
      </p:sp>
      <p:sp>
        <p:nvSpPr>
          <p:cNvPr id="6" name="Text 4"/>
          <p:cNvSpPr txBox="1"/>
          <p:nvPr/>
        </p:nvSpPr>
        <p:spPr>
          <a:xfrm>
            <a:off x="777240" y="1554480"/>
            <a:ext cx="5577840" cy="4434840"/>
          </a:xfrm>
          <a:prstGeom prst="rect">
            <a:avLst/>
          </a:prstGeom>
          <a:noFill/>
          <a:ln/>
        </p:spPr>
        <p:txBody>
          <a:bodyPr wrap="square" lIns="0" tIns="0" rIns="0" bIns="0" rtlCol="0" anchor="t"/>
          <a:lstStyle/>
          <a:p>
            <a:pPr indent="0" marL="0">
              <a:lnSpc>
                <a:spcPct val="105000"/>
              </a:lnSpc>
              <a:buNone/>
            </a:pPr>
            <a:r>
              <a:rPr lang="en-US" sz="1300" dirty="0">
                <a:solidFill>
                  <a:srgbClr val="E6EDF6"/>
                </a:solidFill>
                <a:latin typeface="Courier New" pitchFamily="34" charset="0"/>
                <a:ea typeface="Courier New" pitchFamily="34" charset="-122"/>
                <a:cs typeface="Courier New" pitchFamily="34" charset="-120"/>
              </a:rPr>
              <a:t>mini_project/</a:t>
            </a:r>
            <a:endParaRPr lang="en-US" sz="1300" dirty="0"/>
          </a:p>
          <a:p>
            <a:pPr indent="0" marL="0">
              <a:lnSpc>
                <a:spcPct val="105000"/>
              </a:lnSpc>
              <a:buNone/>
            </a:pPr>
            <a:r>
              <a:rPr lang="en-US" sz="1300" dirty="0">
                <a:solidFill>
                  <a:srgbClr val="E6EDF6"/>
                </a:solidFill>
                <a:latin typeface="Courier New" pitchFamily="34" charset="0"/>
                <a:ea typeface="Courier New" pitchFamily="34" charset="-122"/>
                <a:cs typeface="Courier New" pitchFamily="34" charset="-120"/>
              </a:rPr>
              <a:t>|-- server.js          start-up, routes, pages</a:t>
            </a:r>
            <a:endParaRPr lang="en-US" sz="1300" dirty="0"/>
          </a:p>
          <a:p>
            <a:pPr indent="0" marL="0">
              <a:lnSpc>
                <a:spcPct val="105000"/>
              </a:lnSpc>
              <a:buNone/>
            </a:pPr>
            <a:r>
              <a:rPr lang="en-US" sz="1300" dirty="0">
                <a:solidFill>
                  <a:srgbClr val="E6EDF6"/>
                </a:solidFill>
                <a:latin typeface="Courier New" pitchFamily="34" charset="0"/>
                <a:ea typeface="Courier New" pitchFamily="34" charset="-122"/>
                <a:cs typeface="Courier New" pitchFamily="34" charset="-120"/>
              </a:rPr>
              <a:t>|-- db.js              MySQL connection pool</a:t>
            </a:r>
            <a:endParaRPr lang="en-US" sz="1300" dirty="0"/>
          </a:p>
          <a:p>
            <a:pPr indent="0" marL="0">
              <a:lnSpc>
                <a:spcPct val="105000"/>
              </a:lnSpc>
              <a:buNone/>
            </a:pPr>
            <a:r>
              <a:rPr lang="en-US" sz="1300" dirty="0">
                <a:solidFill>
                  <a:srgbClr val="E6EDF6"/>
                </a:solidFill>
                <a:latin typeface="Courier New" pitchFamily="34" charset="0"/>
                <a:ea typeface="Courier New" pitchFamily="34" charset="-122"/>
                <a:cs typeface="Courier New" pitchFamily="34" charset="-120"/>
              </a:rPr>
              <a:t>|-- middleware/auth.js verifyToken + checkRole</a:t>
            </a:r>
            <a:endParaRPr lang="en-US" sz="1300" dirty="0"/>
          </a:p>
          <a:p>
            <a:pPr indent="0" marL="0">
              <a:lnSpc>
                <a:spcPct val="105000"/>
              </a:lnSpc>
              <a:buNone/>
            </a:pPr>
            <a:r>
              <a:rPr lang="en-US" sz="1300" dirty="0">
                <a:solidFill>
                  <a:srgbClr val="E6EDF6"/>
                </a:solidFill>
                <a:latin typeface="Courier New" pitchFamily="34" charset="0"/>
                <a:ea typeface="Courier New" pitchFamily="34" charset="-122"/>
                <a:cs typeface="Courier New" pitchFamily="34" charset="-120"/>
              </a:rPr>
              <a:t>|-- routes/            19 REST modules</a:t>
            </a:r>
            <a:endParaRPr lang="en-US" sz="1300" dirty="0"/>
          </a:p>
          <a:p>
            <a:pPr indent="0" marL="0">
              <a:lnSpc>
                <a:spcPct val="105000"/>
              </a:lnSpc>
              <a:buNone/>
            </a:pPr>
            <a:r>
              <a:rPr lang="en-US" sz="1300" dirty="0">
                <a:solidFill>
                  <a:srgbClr val="E6EDF6"/>
                </a:solidFill>
                <a:latin typeface="Courier New" pitchFamily="34" charset="0"/>
                <a:ea typeface="Courier New" pitchFamily="34" charset="-122"/>
                <a:cs typeface="Courier New" pitchFamily="34" charset="-120"/>
              </a:rPr>
              <a:t>|    auth, applications, fees, registration,</a:t>
            </a:r>
            <a:endParaRPr lang="en-US" sz="1300" dirty="0"/>
          </a:p>
          <a:p>
            <a:pPr indent="0" marL="0">
              <a:lnSpc>
                <a:spcPct val="105000"/>
              </a:lnSpc>
              <a:buNone/>
            </a:pPr>
            <a:r>
              <a:rPr lang="en-US" sz="1300" dirty="0">
                <a:solidFill>
                  <a:srgbClr val="E6EDF6"/>
                </a:solidFill>
                <a:latin typeface="Courier New" pitchFamily="34" charset="0"/>
                <a:ea typeface="Courier New" pitchFamily="34" charset="-122"/>
                <a:cs typeface="Courier New" pitchFamily="34" charset="-120"/>
              </a:rPr>
              <a:t>|    exams, results, assignments, notes, ...</a:t>
            </a:r>
            <a:endParaRPr lang="en-US" sz="1300" dirty="0"/>
          </a:p>
          <a:p>
            <a:pPr indent="0" marL="0">
              <a:lnSpc>
                <a:spcPct val="105000"/>
              </a:lnSpc>
              <a:buNone/>
            </a:pPr>
            <a:r>
              <a:rPr lang="en-US" sz="1300" dirty="0">
                <a:solidFill>
                  <a:srgbClr val="E6EDF6"/>
                </a:solidFill>
                <a:latin typeface="Courier New" pitchFamily="34" charset="0"/>
                <a:ea typeface="Courier New" pitchFamily="34" charset="-122"/>
                <a:cs typeface="Courier New" pitchFamily="34" charset="-120"/>
              </a:rPr>
              <a:t>|-- utils/             migrate, roles, notify,</a:t>
            </a:r>
            <a:endParaRPr lang="en-US" sz="1300" dirty="0"/>
          </a:p>
          <a:p>
            <a:pPr indent="0" marL="0">
              <a:lnSpc>
                <a:spcPct val="105000"/>
              </a:lnSpc>
              <a:buNone/>
            </a:pPr>
            <a:r>
              <a:rPr lang="en-US" sz="1300" dirty="0">
                <a:solidFill>
                  <a:srgbClr val="E6EDF6"/>
                </a:solidFill>
                <a:latin typeface="Courier New" pitchFamily="34" charset="0"/>
                <a:ea typeface="Courier New" pitchFamily="34" charset="-122"/>
                <a:cs typeface="Courier New" pitchFamily="34" charset="-120"/>
              </a:rPr>
              <a:t>|                      feeReminders, ensureColumn</a:t>
            </a:r>
            <a:endParaRPr lang="en-US" sz="1300" dirty="0"/>
          </a:p>
          <a:p>
            <a:pPr indent="0" marL="0">
              <a:lnSpc>
                <a:spcPct val="105000"/>
              </a:lnSpc>
              <a:buNone/>
            </a:pPr>
            <a:r>
              <a:rPr lang="en-US" sz="1300" dirty="0">
                <a:solidFill>
                  <a:srgbClr val="E6EDF6"/>
                </a:solidFill>
                <a:latin typeface="Courier New" pitchFamily="34" charset="0"/>
                <a:ea typeface="Courier New" pitchFamily="34" charset="-122"/>
                <a:cs typeface="Courier New" pitchFamily="34" charset="-120"/>
              </a:rPr>
              <a:t>|-- data/              programmes, modules, grades</a:t>
            </a:r>
            <a:endParaRPr lang="en-US" sz="1300" dirty="0"/>
          </a:p>
          <a:p>
            <a:pPr indent="0" marL="0">
              <a:lnSpc>
                <a:spcPct val="105000"/>
              </a:lnSpc>
              <a:buNone/>
            </a:pPr>
            <a:r>
              <a:rPr lang="en-US" sz="1300" dirty="0">
                <a:solidFill>
                  <a:srgbClr val="E6EDF6"/>
                </a:solidFill>
                <a:latin typeface="Courier New" pitchFamily="34" charset="0"/>
                <a:ea typeface="Courier New" pitchFamily="34" charset="-122"/>
                <a:cs typeface="Courier New" pitchFamily="34" charset="-120"/>
              </a:rPr>
              <a:t>|-- public/            9 HTML pages, css/, js/</a:t>
            </a:r>
            <a:endParaRPr lang="en-US" sz="1300" dirty="0"/>
          </a:p>
          <a:p>
            <a:pPr indent="0" marL="0">
              <a:lnSpc>
                <a:spcPct val="105000"/>
              </a:lnSpc>
              <a:buNone/>
            </a:pPr>
            <a:r>
              <a:rPr lang="en-US" sz="1300" dirty="0">
                <a:solidFill>
                  <a:srgbClr val="E6EDF6"/>
                </a:solidFill>
                <a:latin typeface="Courier New" pitchFamily="34" charset="0"/>
                <a:ea typeface="Courier New" pitchFamily="34" charset="-122"/>
                <a:cs typeface="Courier New" pitchFamily="34" charset="-120"/>
              </a:rPr>
              <a:t>`-- uploads/           photos, proofs, notes</a:t>
            </a:r>
            <a:endParaRPr lang="en-US" sz="1300" dirty="0"/>
          </a:p>
        </p:txBody>
      </p:sp>
      <p:sp>
        <p:nvSpPr>
          <p:cNvPr id="7" name="icon circle"/>
          <p:cNvSpPr/>
          <p:nvPr/>
        </p:nvSpPr>
        <p:spPr>
          <a:xfrm>
            <a:off x="6949440" y="1463040"/>
            <a:ext cx="566928" cy="566928"/>
          </a:xfrm>
          <a:prstGeom prst="ellipse">
            <a:avLst/>
          </a:prstGeom>
          <a:solidFill>
            <a:srgbClr val="004080"/>
          </a:solidFill>
          <a:ln w="12700">
            <a:solidFill>
              <a:srgbClr val="004080"/>
            </a:solidFill>
            <a:prstDash val="solid"/>
          </a:ln>
        </p:spPr>
      </p:sp>
      <p:pic>
        <p:nvPicPr>
          <p:cNvPr id="8" name="Image 0" descr="FaLayerGroup">    </p:cNvPr>
          <p:cNvPicPr>
            <a:picLocks noChangeAspect="1"/>
          </p:cNvPicPr>
          <p:nvPr/>
        </p:nvPicPr>
        <p:blipFill>
          <a:blip r:embed="rId1"/>
          <a:stretch>
            <a:fillRect/>
          </a:stretch>
        </p:blipFill>
        <p:spPr>
          <a:xfrm>
            <a:off x="7085503" y="1599103"/>
            <a:ext cx="294803" cy="294803"/>
          </a:xfrm>
          <a:prstGeom prst="rect">
            <a:avLst/>
          </a:prstGeom>
        </p:spPr>
      </p:pic>
      <p:sp>
        <p:nvSpPr>
          <p:cNvPr id="9" name="Text 6"/>
          <p:cNvSpPr txBox="1"/>
          <p:nvPr/>
        </p:nvSpPr>
        <p:spPr>
          <a:xfrm>
            <a:off x="7680960" y="1417320"/>
            <a:ext cx="3931920" cy="347472"/>
          </a:xfrm>
          <a:prstGeom prst="rect">
            <a:avLst/>
          </a:prstGeom>
          <a:noFill/>
          <a:ln/>
        </p:spPr>
        <p:txBody>
          <a:bodyPr wrap="square" lIns="0" tIns="0" rIns="0" bIns="0" rtlCol="0" anchor="t"/>
          <a:lstStyle/>
          <a:p>
            <a:pPr indent="0" marL="0">
              <a:buNone/>
            </a:pPr>
            <a:r>
              <a:rPr lang="en-US" sz="1600" b="1" dirty="0">
                <a:solidFill>
                  <a:srgbClr val="0B2545"/>
                </a:solidFill>
              </a:rPr>
              <a:t>Layered design</a:t>
            </a:r>
            <a:endParaRPr lang="en-US" sz="1600" dirty="0"/>
          </a:p>
        </p:txBody>
      </p:sp>
      <p:sp>
        <p:nvSpPr>
          <p:cNvPr id="10" name="Text 7"/>
          <p:cNvSpPr txBox="1"/>
          <p:nvPr/>
        </p:nvSpPr>
        <p:spPr>
          <a:xfrm>
            <a:off x="7680960" y="1783080"/>
            <a:ext cx="3931920" cy="731520"/>
          </a:xfrm>
          <a:prstGeom prst="rect">
            <a:avLst/>
          </a:prstGeom>
          <a:noFill/>
          <a:ln/>
        </p:spPr>
        <p:txBody>
          <a:bodyPr wrap="square" lIns="0" tIns="0" rIns="0" bIns="0" rtlCol="0" anchor="t"/>
          <a:lstStyle/>
          <a:p>
            <a:pPr indent="0" marL="0">
              <a:buNone/>
            </a:pPr>
            <a:r>
              <a:rPr lang="en-US" sz="1300" dirty="0">
                <a:solidFill>
                  <a:srgbClr val="1A2433"/>
                </a:solidFill>
              </a:rPr>
              <a:t>Pages (public/) only call the API; routes hold the business rules; the database stores the data.</a:t>
            </a:r>
            <a:endParaRPr lang="en-US" sz="1300" dirty="0"/>
          </a:p>
        </p:txBody>
      </p:sp>
      <p:sp>
        <p:nvSpPr>
          <p:cNvPr id="11" name="icon circle"/>
          <p:cNvSpPr/>
          <p:nvPr/>
        </p:nvSpPr>
        <p:spPr>
          <a:xfrm>
            <a:off x="6949440" y="2679192"/>
            <a:ext cx="566928" cy="566928"/>
          </a:xfrm>
          <a:prstGeom prst="ellipse">
            <a:avLst/>
          </a:prstGeom>
          <a:solidFill>
            <a:srgbClr val="E3A83B"/>
          </a:solidFill>
          <a:ln w="12700">
            <a:solidFill>
              <a:srgbClr val="E3A83B"/>
            </a:solidFill>
            <a:prstDash val="solid"/>
          </a:ln>
        </p:spPr>
      </p:sp>
      <p:pic>
        <p:nvPicPr>
          <p:cNvPr id="12" name="Image 1" descr="FaPuzzlePiece">    </p:cNvPr>
          <p:cNvPicPr>
            <a:picLocks noChangeAspect="1"/>
          </p:cNvPicPr>
          <p:nvPr/>
        </p:nvPicPr>
        <p:blipFill>
          <a:blip r:embed="rId2"/>
          <a:stretch>
            <a:fillRect/>
          </a:stretch>
        </p:blipFill>
        <p:spPr>
          <a:xfrm>
            <a:off x="7085503" y="2815255"/>
            <a:ext cx="294803" cy="294803"/>
          </a:xfrm>
          <a:prstGeom prst="rect">
            <a:avLst/>
          </a:prstGeom>
        </p:spPr>
      </p:pic>
      <p:sp>
        <p:nvSpPr>
          <p:cNvPr id="13" name="Text 9"/>
          <p:cNvSpPr txBox="1"/>
          <p:nvPr/>
        </p:nvSpPr>
        <p:spPr>
          <a:xfrm>
            <a:off x="7680960" y="2633472"/>
            <a:ext cx="3931920" cy="347472"/>
          </a:xfrm>
          <a:prstGeom prst="rect">
            <a:avLst/>
          </a:prstGeom>
          <a:noFill/>
          <a:ln/>
        </p:spPr>
        <p:txBody>
          <a:bodyPr wrap="square" lIns="0" tIns="0" rIns="0" bIns="0" rtlCol="0" anchor="t"/>
          <a:lstStyle/>
          <a:p>
            <a:pPr indent="0" marL="0">
              <a:buNone/>
            </a:pPr>
            <a:r>
              <a:rPr lang="en-US" sz="1600" b="1" dirty="0">
                <a:solidFill>
                  <a:srgbClr val="0B2545"/>
                </a:solidFill>
              </a:rPr>
              <a:t>One module per process</a:t>
            </a:r>
            <a:endParaRPr lang="en-US" sz="1600" dirty="0"/>
          </a:p>
        </p:txBody>
      </p:sp>
      <p:sp>
        <p:nvSpPr>
          <p:cNvPr id="14" name="Text 10"/>
          <p:cNvSpPr txBox="1"/>
          <p:nvPr/>
        </p:nvSpPr>
        <p:spPr>
          <a:xfrm>
            <a:off x="7680960" y="2999232"/>
            <a:ext cx="3931920" cy="731520"/>
          </a:xfrm>
          <a:prstGeom prst="rect">
            <a:avLst/>
          </a:prstGeom>
          <a:noFill/>
          <a:ln/>
        </p:spPr>
        <p:txBody>
          <a:bodyPr wrap="square" lIns="0" tIns="0" rIns="0" bIns="0" rtlCol="0" anchor="t"/>
          <a:lstStyle/>
          <a:p>
            <a:pPr indent="0" marL="0">
              <a:buNone/>
            </a:pPr>
            <a:r>
              <a:rPr lang="en-US" sz="1300" dirty="0">
                <a:solidFill>
                  <a:srgbClr val="1A2433"/>
                </a:solidFill>
              </a:rPr>
              <a:t>Fees, registration, exams and results are separate route files that can change independently.</a:t>
            </a:r>
            <a:endParaRPr lang="en-US" sz="1300" dirty="0"/>
          </a:p>
        </p:txBody>
      </p:sp>
      <p:sp>
        <p:nvSpPr>
          <p:cNvPr id="15" name="icon circle"/>
          <p:cNvSpPr/>
          <p:nvPr/>
        </p:nvSpPr>
        <p:spPr>
          <a:xfrm>
            <a:off x="6949440" y="3895344"/>
            <a:ext cx="566928" cy="566928"/>
          </a:xfrm>
          <a:prstGeom prst="ellipse">
            <a:avLst/>
          </a:prstGeom>
          <a:solidFill>
            <a:srgbClr val="004080"/>
          </a:solidFill>
          <a:ln w="12700">
            <a:solidFill>
              <a:srgbClr val="004080"/>
            </a:solidFill>
            <a:prstDash val="solid"/>
          </a:ln>
        </p:spPr>
      </p:sp>
      <p:pic>
        <p:nvPicPr>
          <p:cNvPr id="16" name="Image 2" descr="FaUserShield">    </p:cNvPr>
          <p:cNvPicPr>
            <a:picLocks noChangeAspect="1"/>
          </p:cNvPicPr>
          <p:nvPr/>
        </p:nvPicPr>
        <p:blipFill>
          <a:blip r:embed="rId3"/>
          <a:stretch>
            <a:fillRect/>
          </a:stretch>
        </p:blipFill>
        <p:spPr>
          <a:xfrm>
            <a:off x="7085503" y="4031407"/>
            <a:ext cx="294803" cy="294803"/>
          </a:xfrm>
          <a:prstGeom prst="rect">
            <a:avLst/>
          </a:prstGeom>
        </p:spPr>
      </p:pic>
      <p:sp>
        <p:nvSpPr>
          <p:cNvPr id="17" name="Text 12"/>
          <p:cNvSpPr txBox="1"/>
          <p:nvPr/>
        </p:nvSpPr>
        <p:spPr>
          <a:xfrm>
            <a:off x="7680960" y="3849624"/>
            <a:ext cx="3931920" cy="347472"/>
          </a:xfrm>
          <a:prstGeom prst="rect">
            <a:avLst/>
          </a:prstGeom>
          <a:noFill/>
          <a:ln/>
        </p:spPr>
        <p:txBody>
          <a:bodyPr wrap="square" lIns="0" tIns="0" rIns="0" bIns="0" rtlCol="0" anchor="t"/>
          <a:lstStyle/>
          <a:p>
            <a:pPr indent="0" marL="0">
              <a:buNone/>
            </a:pPr>
            <a:r>
              <a:rPr lang="en-US" sz="1600" b="1" dirty="0">
                <a:solidFill>
                  <a:srgbClr val="0B2545"/>
                </a:solidFill>
              </a:rPr>
              <a:t>Roles in one place</a:t>
            </a:r>
            <a:endParaRPr lang="en-US" sz="1600" dirty="0"/>
          </a:p>
        </p:txBody>
      </p:sp>
      <p:sp>
        <p:nvSpPr>
          <p:cNvPr id="18" name="Text 13"/>
          <p:cNvSpPr txBox="1"/>
          <p:nvPr/>
        </p:nvSpPr>
        <p:spPr>
          <a:xfrm>
            <a:off x="7680960" y="4215384"/>
            <a:ext cx="3931920" cy="731520"/>
          </a:xfrm>
          <a:prstGeom prst="rect">
            <a:avLst/>
          </a:prstGeom>
          <a:noFill/>
          <a:ln/>
        </p:spPr>
        <p:txBody>
          <a:bodyPr wrap="square" lIns="0" tIns="0" rIns="0" bIns="0" rtlCol="0" anchor="t"/>
          <a:lstStyle/>
          <a:p>
            <a:pPr indent="0" marL="0">
              <a:buNone/>
            </a:pPr>
            <a:r>
              <a:rPr lang="en-US" sz="1300" dirty="0">
                <a:solidFill>
                  <a:srgbClr val="1A2433"/>
                </a:solidFill>
              </a:rPr>
              <a:t>utils/roles.js lists what each role may do; every route checks it on the server.</a:t>
            </a:r>
            <a:endParaRPr lang="en-US" sz="1300" dirty="0"/>
          </a:p>
        </p:txBody>
      </p:sp>
      <p:sp>
        <p:nvSpPr>
          <p:cNvPr id="19" name="icon circle"/>
          <p:cNvSpPr/>
          <p:nvPr/>
        </p:nvSpPr>
        <p:spPr>
          <a:xfrm>
            <a:off x="6949440" y="5111496"/>
            <a:ext cx="566928" cy="566928"/>
          </a:xfrm>
          <a:prstGeom prst="ellipse">
            <a:avLst/>
          </a:prstGeom>
          <a:solidFill>
            <a:srgbClr val="E3A83B"/>
          </a:solidFill>
          <a:ln w="12700">
            <a:solidFill>
              <a:srgbClr val="E3A83B"/>
            </a:solidFill>
            <a:prstDash val="solid"/>
          </a:ln>
        </p:spPr>
      </p:sp>
      <p:pic>
        <p:nvPicPr>
          <p:cNvPr id="20" name="Image 3" descr="FaSyncAlt">    </p:cNvPr>
          <p:cNvPicPr>
            <a:picLocks noChangeAspect="1"/>
          </p:cNvPicPr>
          <p:nvPr/>
        </p:nvPicPr>
        <p:blipFill>
          <a:blip r:embed="rId4"/>
          <a:stretch>
            <a:fillRect/>
          </a:stretch>
        </p:blipFill>
        <p:spPr>
          <a:xfrm>
            <a:off x="7085503" y="5247559"/>
            <a:ext cx="294803" cy="294803"/>
          </a:xfrm>
          <a:prstGeom prst="rect">
            <a:avLst/>
          </a:prstGeom>
        </p:spPr>
      </p:pic>
      <p:sp>
        <p:nvSpPr>
          <p:cNvPr id="21" name="Text 15"/>
          <p:cNvSpPr txBox="1"/>
          <p:nvPr/>
        </p:nvSpPr>
        <p:spPr>
          <a:xfrm>
            <a:off x="7680960" y="5065776"/>
            <a:ext cx="3931920" cy="347472"/>
          </a:xfrm>
          <a:prstGeom prst="rect">
            <a:avLst/>
          </a:prstGeom>
          <a:noFill/>
          <a:ln/>
        </p:spPr>
        <p:txBody>
          <a:bodyPr wrap="square" lIns="0" tIns="0" rIns="0" bIns="0" rtlCol="0" anchor="t"/>
          <a:lstStyle/>
          <a:p>
            <a:pPr indent="0" marL="0">
              <a:buNone/>
            </a:pPr>
            <a:r>
              <a:rPr lang="en-US" sz="1600" b="1" dirty="0">
                <a:solidFill>
                  <a:srgbClr val="0B2545"/>
                </a:solidFill>
              </a:rPr>
              <a:t>Self-updating database</a:t>
            </a:r>
            <a:endParaRPr lang="en-US" sz="1600" dirty="0"/>
          </a:p>
        </p:txBody>
      </p:sp>
      <p:sp>
        <p:nvSpPr>
          <p:cNvPr id="22" name="Text 16"/>
          <p:cNvSpPr txBox="1"/>
          <p:nvPr/>
        </p:nvSpPr>
        <p:spPr>
          <a:xfrm>
            <a:off x="7680960" y="5431536"/>
            <a:ext cx="3931920" cy="731520"/>
          </a:xfrm>
          <a:prstGeom prst="rect">
            <a:avLst/>
          </a:prstGeom>
          <a:noFill/>
          <a:ln/>
        </p:spPr>
        <p:txBody>
          <a:bodyPr wrap="square" lIns="0" tIns="0" rIns="0" bIns="0" rtlCol="0" anchor="t"/>
          <a:lstStyle/>
          <a:p>
            <a:pPr indent="0" marL="0">
              <a:buNone/>
            </a:pPr>
            <a:r>
              <a:rPr lang="en-US" sz="1300" dirty="0">
                <a:solidFill>
                  <a:srgbClr val="1A2433"/>
                </a:solidFill>
              </a:rPr>
              <a:t>utils/migrate.js creates and updates tables safely each time the server starts.</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Program design: how a request is processed</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3rd Review</a:t>
            </a:r>
            <a:endParaRPr lang="en-US" sz="1100" dirty="0"/>
          </a:p>
        </p:txBody>
      </p:sp>
      <p:sp>
        <p:nvSpPr>
          <p:cNvPr id="5" name="icon circle"/>
          <p:cNvSpPr/>
          <p:nvPr/>
        </p:nvSpPr>
        <p:spPr>
          <a:xfrm>
            <a:off x="1033272" y="1463040"/>
            <a:ext cx="777240" cy="777240"/>
          </a:xfrm>
          <a:prstGeom prst="ellipse">
            <a:avLst/>
          </a:prstGeom>
          <a:solidFill>
            <a:srgbClr val="004080"/>
          </a:solidFill>
          <a:ln w="12700">
            <a:solidFill>
              <a:srgbClr val="004080"/>
            </a:solidFill>
            <a:prstDash val="solid"/>
          </a:ln>
        </p:spPr>
      </p:sp>
      <p:pic>
        <p:nvPicPr>
          <p:cNvPr id="6" name="Image 0" descr="FaDesktop">    </p:cNvPr>
          <p:cNvPicPr>
            <a:picLocks noChangeAspect="1"/>
          </p:cNvPicPr>
          <p:nvPr/>
        </p:nvPicPr>
        <p:blipFill>
          <a:blip r:embed="rId1"/>
          <a:stretch>
            <a:fillRect/>
          </a:stretch>
        </p:blipFill>
        <p:spPr>
          <a:xfrm>
            <a:off x="1219810" y="1649578"/>
            <a:ext cx="404165" cy="404165"/>
          </a:xfrm>
          <a:prstGeom prst="rect">
            <a:avLst/>
          </a:prstGeom>
        </p:spPr>
      </p:pic>
      <p:sp>
        <p:nvSpPr>
          <p:cNvPr id="7" name="Text 4"/>
          <p:cNvSpPr txBox="1"/>
          <p:nvPr/>
        </p:nvSpPr>
        <p:spPr>
          <a:xfrm>
            <a:off x="548640" y="2377440"/>
            <a:ext cx="1737360" cy="320040"/>
          </a:xfrm>
          <a:prstGeom prst="rect">
            <a:avLst/>
          </a:prstGeom>
          <a:noFill/>
          <a:ln/>
        </p:spPr>
        <p:txBody>
          <a:bodyPr wrap="square" lIns="0" tIns="0" rIns="0" bIns="0" rtlCol="0" anchor="t"/>
          <a:lstStyle/>
          <a:p>
            <a:pPr algn="ctr" indent="0" marL="0">
              <a:buNone/>
            </a:pPr>
            <a:r>
              <a:rPr lang="en-US" sz="1500" b="1" dirty="0">
                <a:solidFill>
                  <a:srgbClr val="0B2545"/>
                </a:solidFill>
              </a:rPr>
              <a:t>Browser</a:t>
            </a:r>
            <a:endParaRPr lang="en-US" sz="1500" dirty="0"/>
          </a:p>
        </p:txBody>
      </p:sp>
      <p:sp>
        <p:nvSpPr>
          <p:cNvPr id="8" name="Text 5"/>
          <p:cNvSpPr txBox="1"/>
          <p:nvPr/>
        </p:nvSpPr>
        <p:spPr>
          <a:xfrm>
            <a:off x="548640" y="2715768"/>
            <a:ext cx="1737360" cy="640080"/>
          </a:xfrm>
          <a:prstGeom prst="rect">
            <a:avLst/>
          </a:prstGeom>
          <a:noFill/>
          <a:ln/>
        </p:spPr>
        <p:txBody>
          <a:bodyPr wrap="square" lIns="0" tIns="0" rIns="0" bIns="0" rtlCol="0" anchor="t"/>
          <a:lstStyle/>
          <a:p>
            <a:pPr algn="ctr" indent="0" marL="0">
              <a:buNone/>
            </a:pPr>
            <a:r>
              <a:rPr lang="en-US" sz="1200" dirty="0">
                <a:solidFill>
                  <a:srgbClr val="1A2433"/>
                </a:solidFill>
              </a:rPr>
              <a:t>Page sends request with JWT</a:t>
            </a:r>
            <a:endParaRPr lang="en-US" sz="1200" dirty="0"/>
          </a:p>
        </p:txBody>
      </p:sp>
      <p:sp>
        <p:nvSpPr>
          <p:cNvPr id="9" name="connector"/>
          <p:cNvSpPr/>
          <p:nvPr/>
        </p:nvSpPr>
        <p:spPr>
          <a:xfrm>
            <a:off x="1920240" y="1856232"/>
            <a:ext cx="914400" cy="914"/>
          </a:xfrm>
          <a:prstGeom prst="line">
            <a:avLst/>
          </a:prstGeom>
          <a:noFill/>
          <a:ln w="15875">
            <a:solidFill>
              <a:srgbClr val="5B7A99"/>
            </a:solidFill>
            <a:prstDash val="solid"/>
            <a:tailEnd type="triangle"/>
          </a:ln>
        </p:spPr>
      </p:sp>
      <p:sp>
        <p:nvSpPr>
          <p:cNvPr id="10" name="icon circle"/>
          <p:cNvSpPr/>
          <p:nvPr/>
        </p:nvSpPr>
        <p:spPr>
          <a:xfrm>
            <a:off x="2926080" y="1463040"/>
            <a:ext cx="777240" cy="777240"/>
          </a:xfrm>
          <a:prstGeom prst="ellipse">
            <a:avLst/>
          </a:prstGeom>
          <a:solidFill>
            <a:srgbClr val="004080"/>
          </a:solidFill>
          <a:ln w="12700">
            <a:solidFill>
              <a:srgbClr val="004080"/>
            </a:solidFill>
            <a:prstDash val="solid"/>
          </a:ln>
        </p:spPr>
      </p:sp>
      <p:pic>
        <p:nvPicPr>
          <p:cNvPr id="11" name="Image 1" descr="FaKey">    </p:cNvPr>
          <p:cNvPicPr>
            <a:picLocks noChangeAspect="1"/>
          </p:cNvPicPr>
          <p:nvPr/>
        </p:nvPicPr>
        <p:blipFill>
          <a:blip r:embed="rId2"/>
          <a:stretch>
            <a:fillRect/>
          </a:stretch>
        </p:blipFill>
        <p:spPr>
          <a:xfrm>
            <a:off x="3112618" y="1649578"/>
            <a:ext cx="404165" cy="404165"/>
          </a:xfrm>
          <a:prstGeom prst="rect">
            <a:avLst/>
          </a:prstGeom>
        </p:spPr>
      </p:pic>
      <p:sp>
        <p:nvSpPr>
          <p:cNvPr id="12" name="Text 8"/>
          <p:cNvSpPr txBox="1"/>
          <p:nvPr/>
        </p:nvSpPr>
        <p:spPr>
          <a:xfrm>
            <a:off x="2441448" y="2377440"/>
            <a:ext cx="1737360" cy="320040"/>
          </a:xfrm>
          <a:prstGeom prst="rect">
            <a:avLst/>
          </a:prstGeom>
          <a:noFill/>
          <a:ln/>
        </p:spPr>
        <p:txBody>
          <a:bodyPr wrap="square" lIns="0" tIns="0" rIns="0" bIns="0" rtlCol="0" anchor="t"/>
          <a:lstStyle/>
          <a:p>
            <a:pPr algn="ctr" indent="0" marL="0">
              <a:buNone/>
            </a:pPr>
            <a:r>
              <a:rPr lang="en-US" sz="1500" b="1" dirty="0">
                <a:solidFill>
                  <a:srgbClr val="0B2545"/>
                </a:solidFill>
              </a:rPr>
              <a:t>verifyToken</a:t>
            </a:r>
            <a:endParaRPr lang="en-US" sz="1500" dirty="0"/>
          </a:p>
        </p:txBody>
      </p:sp>
      <p:sp>
        <p:nvSpPr>
          <p:cNvPr id="13" name="Text 9"/>
          <p:cNvSpPr txBox="1"/>
          <p:nvPr/>
        </p:nvSpPr>
        <p:spPr>
          <a:xfrm>
            <a:off x="2441448" y="2715768"/>
            <a:ext cx="1737360" cy="640080"/>
          </a:xfrm>
          <a:prstGeom prst="rect">
            <a:avLst/>
          </a:prstGeom>
          <a:noFill/>
          <a:ln/>
        </p:spPr>
        <p:txBody>
          <a:bodyPr wrap="square" lIns="0" tIns="0" rIns="0" bIns="0" rtlCol="0" anchor="t"/>
          <a:lstStyle/>
          <a:p>
            <a:pPr algn="ctr" indent="0" marL="0">
              <a:buNone/>
            </a:pPr>
            <a:r>
              <a:rPr lang="en-US" sz="1200" dirty="0">
                <a:solidFill>
                  <a:srgbClr val="1A2433"/>
                </a:solidFill>
              </a:rPr>
              <a:t>Is the token valid and not expired?</a:t>
            </a:r>
            <a:endParaRPr lang="en-US" sz="1200" dirty="0"/>
          </a:p>
        </p:txBody>
      </p:sp>
      <p:sp>
        <p:nvSpPr>
          <p:cNvPr id="14" name="connector"/>
          <p:cNvSpPr/>
          <p:nvPr/>
        </p:nvSpPr>
        <p:spPr>
          <a:xfrm>
            <a:off x="3813048" y="1856232"/>
            <a:ext cx="914400" cy="914"/>
          </a:xfrm>
          <a:prstGeom prst="line">
            <a:avLst/>
          </a:prstGeom>
          <a:noFill/>
          <a:ln w="15875">
            <a:solidFill>
              <a:srgbClr val="5B7A99"/>
            </a:solidFill>
            <a:prstDash val="solid"/>
            <a:tailEnd type="triangle"/>
          </a:ln>
        </p:spPr>
      </p:sp>
      <p:sp>
        <p:nvSpPr>
          <p:cNvPr id="15" name="icon circle"/>
          <p:cNvSpPr/>
          <p:nvPr/>
        </p:nvSpPr>
        <p:spPr>
          <a:xfrm>
            <a:off x="4818888" y="1463040"/>
            <a:ext cx="777240" cy="777240"/>
          </a:xfrm>
          <a:prstGeom prst="ellipse">
            <a:avLst/>
          </a:prstGeom>
          <a:solidFill>
            <a:srgbClr val="004080"/>
          </a:solidFill>
          <a:ln w="12700">
            <a:solidFill>
              <a:srgbClr val="004080"/>
            </a:solidFill>
            <a:prstDash val="solid"/>
          </a:ln>
        </p:spPr>
      </p:sp>
      <p:pic>
        <p:nvPicPr>
          <p:cNvPr id="16" name="Image 2" descr="FaUserShield">    </p:cNvPr>
          <p:cNvPicPr>
            <a:picLocks noChangeAspect="1"/>
          </p:cNvPicPr>
          <p:nvPr/>
        </p:nvPicPr>
        <p:blipFill>
          <a:blip r:embed="rId3"/>
          <a:stretch>
            <a:fillRect/>
          </a:stretch>
        </p:blipFill>
        <p:spPr>
          <a:xfrm>
            <a:off x="5005426" y="1649578"/>
            <a:ext cx="404165" cy="404165"/>
          </a:xfrm>
          <a:prstGeom prst="rect">
            <a:avLst/>
          </a:prstGeom>
        </p:spPr>
      </p:pic>
      <p:sp>
        <p:nvSpPr>
          <p:cNvPr id="17" name="Text 12"/>
          <p:cNvSpPr txBox="1"/>
          <p:nvPr/>
        </p:nvSpPr>
        <p:spPr>
          <a:xfrm>
            <a:off x="4334256" y="2377440"/>
            <a:ext cx="1737360" cy="320040"/>
          </a:xfrm>
          <a:prstGeom prst="rect">
            <a:avLst/>
          </a:prstGeom>
          <a:noFill/>
          <a:ln/>
        </p:spPr>
        <p:txBody>
          <a:bodyPr wrap="square" lIns="0" tIns="0" rIns="0" bIns="0" rtlCol="0" anchor="t"/>
          <a:lstStyle/>
          <a:p>
            <a:pPr algn="ctr" indent="0" marL="0">
              <a:buNone/>
            </a:pPr>
            <a:r>
              <a:rPr lang="en-US" sz="1500" b="1" dirty="0">
                <a:solidFill>
                  <a:srgbClr val="0B2545"/>
                </a:solidFill>
              </a:rPr>
              <a:t>checkRole</a:t>
            </a:r>
            <a:endParaRPr lang="en-US" sz="1500" dirty="0"/>
          </a:p>
        </p:txBody>
      </p:sp>
      <p:sp>
        <p:nvSpPr>
          <p:cNvPr id="18" name="Text 13"/>
          <p:cNvSpPr txBox="1"/>
          <p:nvPr/>
        </p:nvSpPr>
        <p:spPr>
          <a:xfrm>
            <a:off x="4334256" y="2715768"/>
            <a:ext cx="1737360" cy="640080"/>
          </a:xfrm>
          <a:prstGeom prst="rect">
            <a:avLst/>
          </a:prstGeom>
          <a:noFill/>
          <a:ln/>
        </p:spPr>
        <p:txBody>
          <a:bodyPr wrap="square" lIns="0" tIns="0" rIns="0" bIns="0" rtlCol="0" anchor="t"/>
          <a:lstStyle/>
          <a:p>
            <a:pPr algn="ctr" indent="0" marL="0">
              <a:buNone/>
            </a:pPr>
            <a:r>
              <a:rPr lang="en-US" sz="1200" dirty="0">
                <a:solidFill>
                  <a:srgbClr val="1A2433"/>
                </a:solidFill>
              </a:rPr>
              <a:t>May this role use this route?</a:t>
            </a:r>
            <a:endParaRPr lang="en-US" sz="1200" dirty="0"/>
          </a:p>
        </p:txBody>
      </p:sp>
      <p:sp>
        <p:nvSpPr>
          <p:cNvPr id="19" name="connector"/>
          <p:cNvSpPr/>
          <p:nvPr/>
        </p:nvSpPr>
        <p:spPr>
          <a:xfrm>
            <a:off x="5705856" y="1856232"/>
            <a:ext cx="914400" cy="914"/>
          </a:xfrm>
          <a:prstGeom prst="line">
            <a:avLst/>
          </a:prstGeom>
          <a:noFill/>
          <a:ln w="15875">
            <a:solidFill>
              <a:srgbClr val="5B7A99"/>
            </a:solidFill>
            <a:prstDash val="solid"/>
            <a:tailEnd type="triangle"/>
          </a:ln>
        </p:spPr>
      </p:sp>
      <p:sp>
        <p:nvSpPr>
          <p:cNvPr id="20" name="icon circle"/>
          <p:cNvSpPr/>
          <p:nvPr/>
        </p:nvSpPr>
        <p:spPr>
          <a:xfrm>
            <a:off x="6711696" y="1463040"/>
            <a:ext cx="777240" cy="777240"/>
          </a:xfrm>
          <a:prstGeom prst="ellipse">
            <a:avLst/>
          </a:prstGeom>
          <a:solidFill>
            <a:srgbClr val="E3A83B"/>
          </a:solidFill>
          <a:ln w="12700">
            <a:solidFill>
              <a:srgbClr val="E3A83B"/>
            </a:solidFill>
            <a:prstDash val="solid"/>
          </a:ln>
        </p:spPr>
      </p:sp>
      <p:pic>
        <p:nvPicPr>
          <p:cNvPr id="21" name="Image 3" descr="FaCogs">    </p:cNvPr>
          <p:cNvPicPr>
            <a:picLocks noChangeAspect="1"/>
          </p:cNvPicPr>
          <p:nvPr/>
        </p:nvPicPr>
        <p:blipFill>
          <a:blip r:embed="rId4"/>
          <a:stretch>
            <a:fillRect/>
          </a:stretch>
        </p:blipFill>
        <p:spPr>
          <a:xfrm>
            <a:off x="6898234" y="1649578"/>
            <a:ext cx="404165" cy="404165"/>
          </a:xfrm>
          <a:prstGeom prst="rect">
            <a:avLst/>
          </a:prstGeom>
        </p:spPr>
      </p:pic>
      <p:sp>
        <p:nvSpPr>
          <p:cNvPr id="22" name="Text 16"/>
          <p:cNvSpPr txBox="1"/>
          <p:nvPr/>
        </p:nvSpPr>
        <p:spPr>
          <a:xfrm>
            <a:off x="6227064" y="2377440"/>
            <a:ext cx="1737360" cy="320040"/>
          </a:xfrm>
          <a:prstGeom prst="rect">
            <a:avLst/>
          </a:prstGeom>
          <a:noFill/>
          <a:ln/>
        </p:spPr>
        <p:txBody>
          <a:bodyPr wrap="square" lIns="0" tIns="0" rIns="0" bIns="0" rtlCol="0" anchor="t"/>
          <a:lstStyle/>
          <a:p>
            <a:pPr algn="ctr" indent="0" marL="0">
              <a:buNone/>
            </a:pPr>
            <a:r>
              <a:rPr lang="en-US" sz="1500" b="1" dirty="0">
                <a:solidFill>
                  <a:srgbClr val="0B2545"/>
                </a:solidFill>
              </a:rPr>
              <a:t>Route handler</a:t>
            </a:r>
            <a:endParaRPr lang="en-US" sz="1500" dirty="0"/>
          </a:p>
        </p:txBody>
      </p:sp>
      <p:sp>
        <p:nvSpPr>
          <p:cNvPr id="23" name="Text 17"/>
          <p:cNvSpPr txBox="1"/>
          <p:nvPr/>
        </p:nvSpPr>
        <p:spPr>
          <a:xfrm>
            <a:off x="6227064" y="2715768"/>
            <a:ext cx="1737360" cy="640080"/>
          </a:xfrm>
          <a:prstGeom prst="rect">
            <a:avLst/>
          </a:prstGeom>
          <a:noFill/>
          <a:ln/>
        </p:spPr>
        <p:txBody>
          <a:bodyPr wrap="square" lIns="0" tIns="0" rIns="0" bIns="0" rtlCol="0" anchor="t"/>
          <a:lstStyle/>
          <a:p>
            <a:pPr algn="ctr" indent="0" marL="0">
              <a:buNone/>
            </a:pPr>
            <a:r>
              <a:rPr lang="en-US" sz="1200" dirty="0">
                <a:solidFill>
                  <a:srgbClr val="1A2433"/>
                </a:solidFill>
              </a:rPr>
              <a:t>Business rules: fees %, approval order</a:t>
            </a:r>
            <a:endParaRPr lang="en-US" sz="1200" dirty="0"/>
          </a:p>
        </p:txBody>
      </p:sp>
      <p:sp>
        <p:nvSpPr>
          <p:cNvPr id="24" name="connector"/>
          <p:cNvSpPr/>
          <p:nvPr/>
        </p:nvSpPr>
        <p:spPr>
          <a:xfrm>
            <a:off x="7598664" y="1856232"/>
            <a:ext cx="914400" cy="914"/>
          </a:xfrm>
          <a:prstGeom prst="line">
            <a:avLst/>
          </a:prstGeom>
          <a:noFill/>
          <a:ln w="15875">
            <a:solidFill>
              <a:srgbClr val="5B7A99"/>
            </a:solidFill>
            <a:prstDash val="solid"/>
            <a:tailEnd type="triangle"/>
          </a:ln>
        </p:spPr>
      </p:sp>
      <p:sp>
        <p:nvSpPr>
          <p:cNvPr id="25" name="icon circle"/>
          <p:cNvSpPr/>
          <p:nvPr/>
        </p:nvSpPr>
        <p:spPr>
          <a:xfrm>
            <a:off x="8604504" y="1463040"/>
            <a:ext cx="777240" cy="777240"/>
          </a:xfrm>
          <a:prstGeom prst="ellipse">
            <a:avLst/>
          </a:prstGeom>
          <a:solidFill>
            <a:srgbClr val="004080"/>
          </a:solidFill>
          <a:ln w="12700">
            <a:solidFill>
              <a:srgbClr val="004080"/>
            </a:solidFill>
            <a:prstDash val="solid"/>
          </a:ln>
        </p:spPr>
      </p:sp>
      <p:pic>
        <p:nvPicPr>
          <p:cNvPr id="26" name="Image 4" descr="FaDatabase">    </p:cNvPr>
          <p:cNvPicPr>
            <a:picLocks noChangeAspect="1"/>
          </p:cNvPicPr>
          <p:nvPr/>
        </p:nvPicPr>
        <p:blipFill>
          <a:blip r:embed="rId5"/>
          <a:stretch>
            <a:fillRect/>
          </a:stretch>
        </p:blipFill>
        <p:spPr>
          <a:xfrm>
            <a:off x="8791042" y="1649578"/>
            <a:ext cx="404165" cy="404165"/>
          </a:xfrm>
          <a:prstGeom prst="rect">
            <a:avLst/>
          </a:prstGeom>
        </p:spPr>
      </p:pic>
      <p:sp>
        <p:nvSpPr>
          <p:cNvPr id="27" name="Text 20"/>
          <p:cNvSpPr txBox="1"/>
          <p:nvPr/>
        </p:nvSpPr>
        <p:spPr>
          <a:xfrm>
            <a:off x="8119872" y="2377440"/>
            <a:ext cx="1737360" cy="320040"/>
          </a:xfrm>
          <a:prstGeom prst="rect">
            <a:avLst/>
          </a:prstGeom>
          <a:noFill/>
          <a:ln/>
        </p:spPr>
        <p:txBody>
          <a:bodyPr wrap="square" lIns="0" tIns="0" rIns="0" bIns="0" rtlCol="0" anchor="t"/>
          <a:lstStyle/>
          <a:p>
            <a:pPr algn="ctr" indent="0" marL="0">
              <a:buNone/>
            </a:pPr>
            <a:r>
              <a:rPr lang="en-US" sz="1500" b="1" dirty="0">
                <a:solidFill>
                  <a:srgbClr val="0B2545"/>
                </a:solidFill>
              </a:rPr>
              <a:t>MySQL</a:t>
            </a:r>
            <a:endParaRPr lang="en-US" sz="1500" dirty="0"/>
          </a:p>
        </p:txBody>
      </p:sp>
      <p:sp>
        <p:nvSpPr>
          <p:cNvPr id="28" name="Text 21"/>
          <p:cNvSpPr txBox="1"/>
          <p:nvPr/>
        </p:nvSpPr>
        <p:spPr>
          <a:xfrm>
            <a:off x="8119872" y="2715768"/>
            <a:ext cx="1737360" cy="640080"/>
          </a:xfrm>
          <a:prstGeom prst="rect">
            <a:avLst/>
          </a:prstGeom>
          <a:noFill/>
          <a:ln/>
        </p:spPr>
        <p:txBody>
          <a:bodyPr wrap="square" lIns="0" tIns="0" rIns="0" bIns="0" rtlCol="0" anchor="t"/>
          <a:lstStyle/>
          <a:p>
            <a:pPr algn="ctr" indent="0" marL="0">
              <a:buNone/>
            </a:pPr>
            <a:r>
              <a:rPr lang="en-US" sz="1200" dirty="0">
                <a:solidFill>
                  <a:srgbClr val="1A2433"/>
                </a:solidFill>
              </a:rPr>
              <a:t>Parameterised SQL query</a:t>
            </a:r>
            <a:endParaRPr lang="en-US" sz="1200" dirty="0"/>
          </a:p>
        </p:txBody>
      </p:sp>
      <p:sp>
        <p:nvSpPr>
          <p:cNvPr id="29" name="connector"/>
          <p:cNvSpPr/>
          <p:nvPr/>
        </p:nvSpPr>
        <p:spPr>
          <a:xfrm>
            <a:off x="9491472" y="1856232"/>
            <a:ext cx="914400" cy="914"/>
          </a:xfrm>
          <a:prstGeom prst="line">
            <a:avLst/>
          </a:prstGeom>
          <a:noFill/>
          <a:ln w="15875">
            <a:solidFill>
              <a:srgbClr val="5B7A99"/>
            </a:solidFill>
            <a:prstDash val="solid"/>
            <a:tailEnd type="triangle"/>
          </a:ln>
        </p:spPr>
      </p:sp>
      <p:sp>
        <p:nvSpPr>
          <p:cNvPr id="30" name="icon circle"/>
          <p:cNvSpPr/>
          <p:nvPr/>
        </p:nvSpPr>
        <p:spPr>
          <a:xfrm>
            <a:off x="10497312" y="1463040"/>
            <a:ext cx="777240" cy="777240"/>
          </a:xfrm>
          <a:prstGeom prst="ellipse">
            <a:avLst/>
          </a:prstGeom>
          <a:solidFill>
            <a:srgbClr val="004080"/>
          </a:solidFill>
          <a:ln w="12700">
            <a:solidFill>
              <a:srgbClr val="004080"/>
            </a:solidFill>
            <a:prstDash val="solid"/>
          </a:ln>
        </p:spPr>
      </p:sp>
      <p:pic>
        <p:nvPicPr>
          <p:cNvPr id="31" name="Image 5" descr="FaReply">    </p:cNvPr>
          <p:cNvPicPr>
            <a:picLocks noChangeAspect="1"/>
          </p:cNvPicPr>
          <p:nvPr/>
        </p:nvPicPr>
        <p:blipFill>
          <a:blip r:embed="rId6"/>
          <a:stretch>
            <a:fillRect/>
          </a:stretch>
        </p:blipFill>
        <p:spPr>
          <a:xfrm>
            <a:off x="10683850" y="1649578"/>
            <a:ext cx="404165" cy="404165"/>
          </a:xfrm>
          <a:prstGeom prst="rect">
            <a:avLst/>
          </a:prstGeom>
        </p:spPr>
      </p:pic>
      <p:sp>
        <p:nvSpPr>
          <p:cNvPr id="32" name="Text 24"/>
          <p:cNvSpPr txBox="1"/>
          <p:nvPr/>
        </p:nvSpPr>
        <p:spPr>
          <a:xfrm>
            <a:off x="10012680" y="2377440"/>
            <a:ext cx="1737360" cy="320040"/>
          </a:xfrm>
          <a:prstGeom prst="rect">
            <a:avLst/>
          </a:prstGeom>
          <a:noFill/>
          <a:ln/>
        </p:spPr>
        <p:txBody>
          <a:bodyPr wrap="square" lIns="0" tIns="0" rIns="0" bIns="0" rtlCol="0" anchor="t"/>
          <a:lstStyle/>
          <a:p>
            <a:pPr algn="ctr" indent="0" marL="0">
              <a:buNone/>
            </a:pPr>
            <a:r>
              <a:rPr lang="en-US" sz="1500" b="1" dirty="0">
                <a:solidFill>
                  <a:srgbClr val="0B2545"/>
                </a:solidFill>
              </a:rPr>
              <a:t>JSON response</a:t>
            </a:r>
            <a:endParaRPr lang="en-US" sz="1500" dirty="0"/>
          </a:p>
        </p:txBody>
      </p:sp>
      <p:sp>
        <p:nvSpPr>
          <p:cNvPr id="33" name="Text 25"/>
          <p:cNvSpPr txBox="1"/>
          <p:nvPr/>
        </p:nvSpPr>
        <p:spPr>
          <a:xfrm>
            <a:off x="10012680" y="2715768"/>
            <a:ext cx="1737360" cy="640080"/>
          </a:xfrm>
          <a:prstGeom prst="rect">
            <a:avLst/>
          </a:prstGeom>
          <a:noFill/>
          <a:ln/>
        </p:spPr>
        <p:txBody>
          <a:bodyPr wrap="square" lIns="0" tIns="0" rIns="0" bIns="0" rtlCol="0" anchor="t"/>
          <a:lstStyle/>
          <a:p>
            <a:pPr algn="ctr" indent="0" marL="0">
              <a:buNone/>
            </a:pPr>
            <a:r>
              <a:rPr lang="en-US" sz="1200" dirty="0">
                <a:solidFill>
                  <a:srgbClr val="1A2433"/>
                </a:solidFill>
              </a:rPr>
              <a:t>Page updates; notification sent</a:t>
            </a:r>
            <a:endParaRPr lang="en-US" sz="1200" dirty="0"/>
          </a:p>
        </p:txBody>
      </p:sp>
      <p:sp>
        <p:nvSpPr>
          <p:cNvPr id="34" name="card"/>
          <p:cNvSpPr/>
          <p:nvPr/>
        </p:nvSpPr>
        <p:spPr>
          <a:xfrm>
            <a:off x="548640" y="3657600"/>
            <a:ext cx="11091672" cy="2514600"/>
          </a:xfrm>
          <a:prstGeom prst="roundRect">
            <a:avLst>
              <a:gd name="adj" fmla="val 4364"/>
            </a:avLst>
          </a:prstGeom>
          <a:solidFill>
            <a:srgbClr val="EEF3F9"/>
          </a:solidFill>
          <a:ln w="12700">
            <a:solidFill>
              <a:srgbClr val="EEF3F9"/>
            </a:solidFill>
            <a:prstDash val="solid"/>
          </a:ln>
        </p:spPr>
      </p:sp>
      <p:sp>
        <p:nvSpPr>
          <p:cNvPr id="35" name="Text 27"/>
          <p:cNvSpPr txBox="1"/>
          <p:nvPr/>
        </p:nvSpPr>
        <p:spPr>
          <a:xfrm>
            <a:off x="822960" y="3840480"/>
            <a:ext cx="5486400" cy="365760"/>
          </a:xfrm>
          <a:prstGeom prst="rect">
            <a:avLst/>
          </a:prstGeom>
          <a:noFill/>
          <a:ln/>
        </p:spPr>
        <p:txBody>
          <a:bodyPr wrap="square" lIns="0" tIns="0" rIns="0" bIns="0" rtlCol="0" anchor="t"/>
          <a:lstStyle/>
          <a:p>
            <a:pPr indent="0" marL="0">
              <a:buNone/>
            </a:pPr>
            <a:r>
              <a:rPr lang="en-US" sz="1800" b="1" dirty="0">
                <a:solidFill>
                  <a:srgbClr val="0B2545"/>
                </a:solidFill>
              </a:rPr>
              <a:t>One approval engine, reused</a:t>
            </a:r>
            <a:endParaRPr lang="en-US" sz="1800" dirty="0"/>
          </a:p>
        </p:txBody>
      </p:sp>
      <p:sp>
        <p:nvSpPr>
          <p:cNvPr id="36" name="Text 28"/>
          <p:cNvSpPr txBox="1"/>
          <p:nvPr/>
        </p:nvSpPr>
        <p:spPr>
          <a:xfrm>
            <a:off x="822960" y="4251960"/>
            <a:ext cx="6035040" cy="1783080"/>
          </a:xfrm>
          <a:prstGeom prst="rect">
            <a:avLst/>
          </a:prstGeom>
          <a:noFill/>
          <a:ln/>
        </p:spPr>
        <p:txBody>
          <a:bodyPr wrap="square" lIns="0" tIns="0" rIns="0" bIns="0" rtlCol="0" anchor="t"/>
          <a:lstStyle/>
          <a:p>
            <a:pPr indent="0" marL="0">
              <a:buNone/>
            </a:pPr>
            <a:r>
              <a:rPr lang="en-US" sz="1400" dirty="0">
                <a:solidFill>
                  <a:srgbClr val="1A2433"/>
                </a:solidFill>
              </a:rPr>
              <a:t>Exam clearance and semester registration share the same design: an ordered list of steps, each with allowed roles; a step can only be signed once the steps before it are cleared; and holding a step resets the later ones. The same clearance-board component serves both on the staff and lecturer dashboards.</a:t>
            </a:r>
            <a:endParaRPr lang="en-US" sz="1400" dirty="0"/>
          </a:p>
        </p:txBody>
      </p:sp>
      <p:sp>
        <p:nvSpPr>
          <p:cNvPr id="37" name="Accounts"/>
          <p:cNvSpPr/>
          <p:nvPr/>
        </p:nvSpPr>
        <p:spPr>
          <a:xfrm>
            <a:off x="7498080" y="3886200"/>
            <a:ext cx="2743200" cy="347472"/>
          </a:xfrm>
          <a:prstGeom prst="roundRect">
            <a:avLst>
              <a:gd name="adj" fmla="val 21053"/>
            </a:avLst>
          </a:prstGeom>
          <a:solidFill>
            <a:srgbClr val="FFFFFF"/>
          </a:solidFill>
          <a:ln w="15875">
            <a:solidFill>
              <a:srgbClr val="1E7E34"/>
            </a:solidFill>
            <a:prstDash val="solid"/>
          </a:ln>
        </p:spPr>
      </p:sp>
      <p:sp>
        <p:nvSpPr>
          <p:cNvPr id="38" name="Text 30"/>
          <p:cNvSpPr txBox="1"/>
          <p:nvPr/>
        </p:nvSpPr>
        <p:spPr>
          <a:xfrm>
            <a:off x="7552944" y="3886200"/>
            <a:ext cx="2633472" cy="347472"/>
          </a:xfrm>
          <a:prstGeom prst="rect">
            <a:avLst/>
          </a:prstGeom>
          <a:noFill/>
          <a:ln/>
        </p:spPr>
        <p:txBody>
          <a:bodyPr wrap="square" lIns="0" tIns="0" rIns="0" bIns="0" rtlCol="0" anchor="ctr"/>
          <a:lstStyle/>
          <a:p>
            <a:pPr algn="ctr" indent="0" marL="0">
              <a:buNone/>
            </a:pPr>
            <a:r>
              <a:rPr lang="en-US" sz="1200" b="1" dirty="0">
                <a:solidFill>
                  <a:srgbClr val="0B2545"/>
                </a:solidFill>
              </a:rPr>
              <a:t>Accounts</a:t>
            </a:r>
            <a:endParaRPr lang="en-US" sz="1200" dirty="0"/>
          </a:p>
        </p:txBody>
      </p:sp>
      <p:sp>
        <p:nvSpPr>
          <p:cNvPr id="39" name="connector"/>
          <p:cNvSpPr/>
          <p:nvPr/>
        </p:nvSpPr>
        <p:spPr>
          <a:xfrm>
            <a:off x="8869680" y="4233672"/>
            <a:ext cx="914" cy="91440"/>
          </a:xfrm>
          <a:prstGeom prst="line">
            <a:avLst/>
          </a:prstGeom>
          <a:noFill/>
          <a:ln w="15875">
            <a:solidFill>
              <a:srgbClr val="5B7A99"/>
            </a:solidFill>
            <a:prstDash val="solid"/>
            <a:tailEnd type="triangle"/>
          </a:ln>
        </p:spPr>
      </p:sp>
      <p:sp>
        <p:nvSpPr>
          <p:cNvPr id="40" name="Class Advisor"/>
          <p:cNvSpPr/>
          <p:nvPr/>
        </p:nvSpPr>
        <p:spPr>
          <a:xfrm>
            <a:off x="7498080" y="4325112"/>
            <a:ext cx="2743200" cy="347472"/>
          </a:xfrm>
          <a:prstGeom prst="roundRect">
            <a:avLst>
              <a:gd name="adj" fmla="val 21053"/>
            </a:avLst>
          </a:prstGeom>
          <a:solidFill>
            <a:srgbClr val="FFFFFF"/>
          </a:solidFill>
          <a:ln w="15875">
            <a:solidFill>
              <a:srgbClr val="004080"/>
            </a:solidFill>
            <a:prstDash val="solid"/>
          </a:ln>
        </p:spPr>
      </p:sp>
      <p:sp>
        <p:nvSpPr>
          <p:cNvPr id="41" name="Text 33"/>
          <p:cNvSpPr txBox="1"/>
          <p:nvPr/>
        </p:nvSpPr>
        <p:spPr>
          <a:xfrm>
            <a:off x="7552944" y="4325112"/>
            <a:ext cx="2633472" cy="347472"/>
          </a:xfrm>
          <a:prstGeom prst="rect">
            <a:avLst/>
          </a:prstGeom>
          <a:noFill/>
          <a:ln/>
        </p:spPr>
        <p:txBody>
          <a:bodyPr wrap="square" lIns="0" tIns="0" rIns="0" bIns="0" rtlCol="0" anchor="ctr"/>
          <a:lstStyle/>
          <a:p>
            <a:pPr algn="ctr" indent="0" marL="0">
              <a:buNone/>
            </a:pPr>
            <a:r>
              <a:rPr lang="en-US" sz="1200" b="1" dirty="0">
                <a:solidFill>
                  <a:srgbClr val="0B2545"/>
                </a:solidFill>
              </a:rPr>
              <a:t>Class Advisor</a:t>
            </a:r>
            <a:endParaRPr lang="en-US" sz="1200" dirty="0"/>
          </a:p>
        </p:txBody>
      </p:sp>
      <p:sp>
        <p:nvSpPr>
          <p:cNvPr id="42" name="connector"/>
          <p:cNvSpPr/>
          <p:nvPr/>
        </p:nvSpPr>
        <p:spPr>
          <a:xfrm>
            <a:off x="8869680" y="4672584"/>
            <a:ext cx="914" cy="91440"/>
          </a:xfrm>
          <a:prstGeom prst="line">
            <a:avLst/>
          </a:prstGeom>
          <a:noFill/>
          <a:ln w="15875">
            <a:solidFill>
              <a:srgbClr val="5B7A99"/>
            </a:solidFill>
            <a:prstDash val="solid"/>
            <a:tailEnd type="triangle"/>
          </a:ln>
        </p:spPr>
      </p:sp>
      <p:sp>
        <p:nvSpPr>
          <p:cNvPr id="43" name="HOD"/>
          <p:cNvSpPr/>
          <p:nvPr/>
        </p:nvSpPr>
        <p:spPr>
          <a:xfrm>
            <a:off x="7498080" y="4764024"/>
            <a:ext cx="2743200" cy="347472"/>
          </a:xfrm>
          <a:prstGeom prst="roundRect">
            <a:avLst>
              <a:gd name="adj" fmla="val 21053"/>
            </a:avLst>
          </a:prstGeom>
          <a:solidFill>
            <a:srgbClr val="FFFFFF"/>
          </a:solidFill>
          <a:ln w="15875">
            <a:solidFill>
              <a:srgbClr val="004080"/>
            </a:solidFill>
            <a:prstDash val="solid"/>
          </a:ln>
        </p:spPr>
      </p:sp>
      <p:sp>
        <p:nvSpPr>
          <p:cNvPr id="44" name="Text 36"/>
          <p:cNvSpPr txBox="1"/>
          <p:nvPr/>
        </p:nvSpPr>
        <p:spPr>
          <a:xfrm>
            <a:off x="7552944" y="4764024"/>
            <a:ext cx="2633472" cy="347472"/>
          </a:xfrm>
          <a:prstGeom prst="rect">
            <a:avLst/>
          </a:prstGeom>
          <a:noFill/>
          <a:ln/>
        </p:spPr>
        <p:txBody>
          <a:bodyPr wrap="square" lIns="0" tIns="0" rIns="0" bIns="0" rtlCol="0" anchor="ctr"/>
          <a:lstStyle/>
          <a:p>
            <a:pPr algn="ctr" indent="0" marL="0">
              <a:buNone/>
            </a:pPr>
            <a:r>
              <a:rPr lang="en-US" sz="1200" b="1" dirty="0">
                <a:solidFill>
                  <a:srgbClr val="0B2545"/>
                </a:solidFill>
              </a:rPr>
              <a:t>HOD</a:t>
            </a:r>
            <a:endParaRPr lang="en-US" sz="1200" dirty="0"/>
          </a:p>
        </p:txBody>
      </p:sp>
      <p:sp>
        <p:nvSpPr>
          <p:cNvPr id="45" name="connector"/>
          <p:cNvSpPr/>
          <p:nvPr/>
        </p:nvSpPr>
        <p:spPr>
          <a:xfrm>
            <a:off x="8869680" y="5111496"/>
            <a:ext cx="914" cy="91440"/>
          </a:xfrm>
          <a:prstGeom prst="line">
            <a:avLst/>
          </a:prstGeom>
          <a:noFill/>
          <a:ln w="15875">
            <a:solidFill>
              <a:srgbClr val="5B7A99"/>
            </a:solidFill>
            <a:prstDash val="solid"/>
            <a:tailEnd type="triangle"/>
          </a:ln>
        </p:spPr>
      </p:sp>
      <p:sp>
        <p:nvSpPr>
          <p:cNvPr id="46" name="Dean of Students"/>
          <p:cNvSpPr/>
          <p:nvPr/>
        </p:nvSpPr>
        <p:spPr>
          <a:xfrm>
            <a:off x="7498080" y="5202936"/>
            <a:ext cx="2743200" cy="347472"/>
          </a:xfrm>
          <a:prstGeom prst="roundRect">
            <a:avLst>
              <a:gd name="adj" fmla="val 21053"/>
            </a:avLst>
          </a:prstGeom>
          <a:solidFill>
            <a:srgbClr val="FFFFFF"/>
          </a:solidFill>
          <a:ln w="15875">
            <a:solidFill>
              <a:srgbClr val="004080"/>
            </a:solidFill>
            <a:prstDash val="solid"/>
          </a:ln>
        </p:spPr>
      </p:sp>
      <p:sp>
        <p:nvSpPr>
          <p:cNvPr id="47" name="Text 39"/>
          <p:cNvSpPr txBox="1"/>
          <p:nvPr/>
        </p:nvSpPr>
        <p:spPr>
          <a:xfrm>
            <a:off x="7552944" y="5202936"/>
            <a:ext cx="2633472" cy="347472"/>
          </a:xfrm>
          <a:prstGeom prst="rect">
            <a:avLst/>
          </a:prstGeom>
          <a:noFill/>
          <a:ln/>
        </p:spPr>
        <p:txBody>
          <a:bodyPr wrap="square" lIns="0" tIns="0" rIns="0" bIns="0" rtlCol="0" anchor="ctr"/>
          <a:lstStyle/>
          <a:p>
            <a:pPr algn="ctr" indent="0" marL="0">
              <a:buNone/>
            </a:pPr>
            <a:r>
              <a:rPr lang="en-US" sz="1200" b="1" dirty="0">
                <a:solidFill>
                  <a:srgbClr val="0B2545"/>
                </a:solidFill>
              </a:rPr>
              <a:t>Dean of Students</a:t>
            </a:r>
            <a:endParaRPr lang="en-US" sz="1200" dirty="0"/>
          </a:p>
        </p:txBody>
      </p:sp>
      <p:sp>
        <p:nvSpPr>
          <p:cNvPr id="48" name="connector"/>
          <p:cNvSpPr/>
          <p:nvPr/>
        </p:nvSpPr>
        <p:spPr>
          <a:xfrm>
            <a:off x="8869680" y="5550408"/>
            <a:ext cx="914" cy="91440"/>
          </a:xfrm>
          <a:prstGeom prst="line">
            <a:avLst/>
          </a:prstGeom>
          <a:noFill/>
          <a:ln w="15875">
            <a:solidFill>
              <a:srgbClr val="5B7A99"/>
            </a:solidFill>
            <a:prstDash val="solid"/>
            <a:tailEnd type="triangle"/>
          </a:ln>
        </p:spPr>
      </p:sp>
      <p:sp>
        <p:nvSpPr>
          <p:cNvPr id="49" name="Dean (Academic)"/>
          <p:cNvSpPr/>
          <p:nvPr/>
        </p:nvSpPr>
        <p:spPr>
          <a:xfrm>
            <a:off x="7498080" y="5641848"/>
            <a:ext cx="2743200" cy="347472"/>
          </a:xfrm>
          <a:prstGeom prst="roundRect">
            <a:avLst>
              <a:gd name="adj" fmla="val 21053"/>
            </a:avLst>
          </a:prstGeom>
          <a:solidFill>
            <a:srgbClr val="FFFFFF"/>
          </a:solidFill>
          <a:ln w="15875">
            <a:solidFill>
              <a:srgbClr val="004080"/>
            </a:solidFill>
            <a:prstDash val="solid"/>
          </a:ln>
        </p:spPr>
      </p:sp>
      <p:sp>
        <p:nvSpPr>
          <p:cNvPr id="50" name="Text 42"/>
          <p:cNvSpPr txBox="1"/>
          <p:nvPr/>
        </p:nvSpPr>
        <p:spPr>
          <a:xfrm>
            <a:off x="7552944" y="5641848"/>
            <a:ext cx="2633472" cy="347472"/>
          </a:xfrm>
          <a:prstGeom prst="rect">
            <a:avLst/>
          </a:prstGeom>
          <a:noFill/>
          <a:ln/>
        </p:spPr>
        <p:txBody>
          <a:bodyPr wrap="square" lIns="0" tIns="0" rIns="0" bIns="0" rtlCol="0" anchor="ctr"/>
          <a:lstStyle/>
          <a:p>
            <a:pPr algn="ctr" indent="0" marL="0">
              <a:buNone/>
            </a:pPr>
            <a:r>
              <a:rPr lang="en-US" sz="1200" b="1" dirty="0">
                <a:solidFill>
                  <a:srgbClr val="0B2545"/>
                </a:solidFill>
              </a:rPr>
              <a:t>Dean (Academic)</a:t>
            </a:r>
            <a:endParaRPr lang="en-US" sz="1200" dirty="0"/>
          </a:p>
        </p:txBody>
      </p:sp>
      <p:sp>
        <p:nvSpPr>
          <p:cNvPr id="51" name="Text 43"/>
          <p:cNvSpPr txBox="1"/>
          <p:nvPr/>
        </p:nvSpPr>
        <p:spPr>
          <a:xfrm>
            <a:off x="10332720" y="4663440"/>
            <a:ext cx="1234440" cy="822960"/>
          </a:xfrm>
          <a:prstGeom prst="rect">
            <a:avLst/>
          </a:prstGeom>
          <a:noFill/>
          <a:ln/>
        </p:spPr>
        <p:txBody>
          <a:bodyPr wrap="square" lIns="0" tIns="0" rIns="0" bIns="0" rtlCol="0" anchor="t"/>
          <a:lstStyle/>
          <a:p>
            <a:pPr indent="0" marL="0">
              <a:buNone/>
            </a:pPr>
            <a:r>
              <a:rPr lang="en-US" sz="1000" i="1" dirty="0">
                <a:solidFill>
                  <a:srgbClr val="5B7A99"/>
                </a:solidFill>
              </a:rPr>
              <a:t>Registration steps</a:t>
            </a:r>
            <a:endParaRPr lang="en-US" sz="1000" dirty="0"/>
          </a:p>
          <a:p>
            <a:pPr indent="0" marL="0">
              <a:buNone/>
            </a:pPr>
            <a:r>
              <a:rPr lang="en-US" sz="1000" i="1" dirty="0">
                <a:solidFill>
                  <a:srgbClr val="5B7A99"/>
                </a:solidFill>
              </a:rPr>
              <a:t>(exam clearance adds Hostel)</a:t>
            </a:r>
            <a:endParaRPr lang="en-US" sz="10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System evaluation</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3rd Review</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743200"/>
                <a:gridCol w="6035040"/>
                <a:gridCol w="2313432"/>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Test</a:t>
                      </a:r>
                      <a:endParaRPr lang="en-US" sz="1300" dirty="0">
                        <a:latin typeface="Calibri" charset="0"/>
                        <a:ea typeface="Calibri" charset="0"/>
                        <a:cs typeface="Calibri" charset="0"/>
                      </a:endParaRPr>
                    </a:p>
                  </a:txBody>
                  <a:tcPr marL="109728" marR="109728"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was checked</a:t>
                      </a:r>
                      <a:endParaRPr lang="en-US" sz="1300" dirty="0">
                        <a:latin typeface="Calibri" charset="0"/>
                        <a:ea typeface="Calibri" charset="0"/>
                        <a:cs typeface="Calibri" charset="0"/>
                      </a:endParaRPr>
                    </a:p>
                  </a:txBody>
                  <a:tcPr marL="109728" marR="109728"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marL="109728" marR="109728"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r>
              <a:tr h="566928">
                <a:tc>
                  <a:txBody>
                    <a:bodyPr/>
                    <a:lstStyle/>
                    <a:p>
                      <a:pPr indent="0" marL="0">
                        <a:buNone/>
                      </a:pPr>
                      <a:r>
                        <a:rPr lang="en-US" sz="1300" dirty="0">
                          <a:solidFill>
                            <a:srgbClr val="1A2433"/>
                          </a:solidFill>
                          <a:latin typeface="Calibri" pitchFamily="34" charset="0"/>
                          <a:ea typeface="Calibri" pitchFamily="34" charset="-122"/>
                          <a:cs typeface="Calibri" pitchFamily="34" charset="-120"/>
                        </a:rPr>
                        <a:t>Clearance logic unit tests</a:t>
                      </a:r>
                      <a:endParaRPr lang="en-US" sz="1300" dirty="0">
                        <a:latin typeface="Calibri" charset="0"/>
                        <a:ea typeface="Calibri" charset="0"/>
                        <a:cs typeface="Calibri" charset="0"/>
                      </a:endParaRPr>
                    </a:p>
                  </a:txBody>
                  <a:tcPr marL="109728" marR="109728"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300" dirty="0">
                          <a:solidFill>
                            <a:srgbClr val="1A2433"/>
                          </a:solidFill>
                          <a:latin typeface="Calibri" pitchFamily="34" charset="0"/>
                          <a:ea typeface="Calibri" pitchFamily="34" charset="-122"/>
                          <a:cs typeface="Calibri" pitchFamily="34" charset="-120"/>
                        </a:rPr>
                        <a:t>Fee % thresholds, approval order, school scoping, hostel rules, locking after issue</a:t>
                      </a:r>
                      <a:endParaRPr lang="en-US" sz="1300" dirty="0">
                        <a:latin typeface="Calibri" charset="0"/>
                        <a:ea typeface="Calibri" charset="0"/>
                        <a:cs typeface="Calibri" charset="0"/>
                      </a:endParaRPr>
                    </a:p>
                  </a:txBody>
                  <a:tcPr marL="109728" marR="109728"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300" b="1" dirty="0">
                          <a:solidFill>
                            <a:srgbClr val="1E7E34"/>
                          </a:solidFill>
                          <a:latin typeface="Calibri" pitchFamily="34" charset="0"/>
                          <a:ea typeface="Calibri" pitchFamily="34" charset="-122"/>
                          <a:cs typeface="Calibri" pitchFamily="34" charset="-120"/>
                        </a:rPr>
                        <a:t>All pass</a:t>
                      </a:r>
                      <a:endParaRPr lang="en-US" sz="1300" dirty="0">
                        <a:latin typeface="Calibri" charset="0"/>
                        <a:ea typeface="Calibri" charset="0"/>
                        <a:cs typeface="Calibri" charset="0"/>
                      </a:endParaRPr>
                    </a:p>
                  </a:txBody>
                  <a:tcPr marL="109728" marR="109728"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A2433"/>
                          </a:solidFill>
                          <a:latin typeface="Calibri" pitchFamily="34" charset="0"/>
                          <a:ea typeface="Calibri" pitchFamily="34" charset="-122"/>
                          <a:cs typeface="Calibri" pitchFamily="34" charset="-120"/>
                        </a:rPr>
                        <a:t>API flow tests: exams</a:t>
                      </a:r>
                      <a:endParaRPr lang="en-US" sz="1300" dirty="0">
                        <a:latin typeface="Calibri" charset="0"/>
                        <a:ea typeface="Calibri" charset="0"/>
                        <a:cs typeface="Calibri" charset="0"/>
                      </a:endParaRPr>
                    </a:p>
                  </a:txBody>
                  <a:tcPr marL="109728" marR="109728"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6F9FC"/>
                    </a:solidFill>
                  </a:tcPr>
                </a:tc>
                <a:tc>
                  <a:txBody>
                    <a:bodyPr/>
                    <a:lstStyle/>
                    <a:p>
                      <a:pPr indent="0" marL="0">
                        <a:buNone/>
                      </a:pPr>
                      <a:r>
                        <a:rPr lang="en-US" sz="1300" dirty="0">
                          <a:solidFill>
                            <a:srgbClr val="1A2433"/>
                          </a:solidFill>
                          <a:latin typeface="Calibri" pitchFamily="34" charset="0"/>
                          <a:ea typeface="Calibri" pitchFamily="34" charset="-122"/>
                          <a:cs typeface="Calibri" pitchFamily="34" charset="-120"/>
                        </a:rPr>
                        <a:t>Session → modules → timetable → holds → approvals → ticket issued → student prints</a:t>
                      </a:r>
                      <a:endParaRPr lang="en-US" sz="1300" dirty="0">
                        <a:latin typeface="Calibri" charset="0"/>
                        <a:ea typeface="Calibri" charset="0"/>
                        <a:cs typeface="Calibri" charset="0"/>
                      </a:endParaRPr>
                    </a:p>
                  </a:txBody>
                  <a:tcPr marL="109728" marR="109728"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6F9FC"/>
                    </a:solidFill>
                  </a:tcPr>
                </a:tc>
                <a:tc>
                  <a:txBody>
                    <a:bodyPr/>
                    <a:lstStyle/>
                    <a:p>
                      <a:pPr indent="0" marL="0">
                        <a:buNone/>
                      </a:pPr>
                      <a:r>
                        <a:rPr lang="en-US" sz="1300" b="1" dirty="0">
                          <a:solidFill>
                            <a:srgbClr val="1E7E34"/>
                          </a:solidFill>
                          <a:latin typeface="Calibri" pitchFamily="34" charset="0"/>
                          <a:ea typeface="Calibri" pitchFamily="34" charset="-122"/>
                          <a:cs typeface="Calibri" pitchFamily="34" charset="-120"/>
                        </a:rPr>
                        <a:t>All pass</a:t>
                      </a:r>
                      <a:endParaRPr lang="en-US" sz="1300" dirty="0">
                        <a:latin typeface="Calibri" charset="0"/>
                        <a:ea typeface="Calibri" charset="0"/>
                        <a:cs typeface="Calibri" charset="0"/>
                      </a:endParaRPr>
                    </a:p>
                  </a:txBody>
                  <a:tcPr marL="109728" marR="109728"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6F9FC"/>
                    </a:solidFill>
                  </a:tcPr>
                </a:tc>
              </a:tr>
              <a:tr h="566928">
                <a:tc>
                  <a:txBody>
                    <a:bodyPr/>
                    <a:lstStyle/>
                    <a:p>
                      <a:pPr indent="0" marL="0">
                        <a:buNone/>
                      </a:pPr>
                      <a:r>
                        <a:rPr lang="en-US" sz="1300" dirty="0">
                          <a:solidFill>
                            <a:srgbClr val="1A2433"/>
                          </a:solidFill>
                          <a:latin typeface="Calibri" pitchFamily="34" charset="0"/>
                          <a:ea typeface="Calibri" pitchFamily="34" charset="-122"/>
                          <a:cs typeface="Calibri" pitchFamily="34" charset="-120"/>
                        </a:rPr>
                        <a:t>API flow tests: registration</a:t>
                      </a:r>
                      <a:endParaRPr lang="en-US" sz="1300" dirty="0">
                        <a:latin typeface="Calibri" charset="0"/>
                        <a:ea typeface="Calibri" charset="0"/>
                        <a:cs typeface="Calibri" charset="0"/>
                      </a:endParaRPr>
                    </a:p>
                  </a:txBody>
                  <a:tcPr marL="109728" marR="109728"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300" dirty="0">
                          <a:solidFill>
                            <a:srgbClr val="1A2433"/>
                          </a:solidFill>
                          <a:latin typeface="Calibri" pitchFamily="34" charset="0"/>
                          <a:ea typeface="Calibri" pitchFamily="34" charset="-122"/>
                          <a:cs typeface="Calibri" pitchFamily="34" charset="-120"/>
                        </a:rPr>
                        <a:t>Windows, 40% rule, 5 ordered approvals, revoke, final-semester cap, exemptions</a:t>
                      </a:r>
                      <a:endParaRPr lang="en-US" sz="1300" dirty="0">
                        <a:latin typeface="Calibri" charset="0"/>
                        <a:ea typeface="Calibri" charset="0"/>
                        <a:cs typeface="Calibri" charset="0"/>
                      </a:endParaRPr>
                    </a:p>
                  </a:txBody>
                  <a:tcPr marL="109728" marR="109728"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300" b="1" dirty="0">
                          <a:solidFill>
                            <a:srgbClr val="1E7E34"/>
                          </a:solidFill>
                          <a:latin typeface="Calibri" pitchFamily="34" charset="0"/>
                          <a:ea typeface="Calibri" pitchFamily="34" charset="-122"/>
                          <a:cs typeface="Calibri" pitchFamily="34" charset="-120"/>
                        </a:rPr>
                        <a:t>All pass</a:t>
                      </a:r>
                      <a:endParaRPr lang="en-US" sz="1300" dirty="0">
                        <a:latin typeface="Calibri" charset="0"/>
                        <a:ea typeface="Calibri" charset="0"/>
                        <a:cs typeface="Calibri" charset="0"/>
                      </a:endParaRPr>
                    </a:p>
                  </a:txBody>
                  <a:tcPr marL="109728" marR="109728"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A2433"/>
                          </a:solidFill>
                          <a:latin typeface="Calibri" pitchFamily="34" charset="0"/>
                          <a:ea typeface="Calibri" pitchFamily="34" charset="-122"/>
                          <a:cs typeface="Calibri" pitchFamily="34" charset="-120"/>
                        </a:rPr>
                        <a:t>Browser render tests</a:t>
                      </a:r>
                      <a:endParaRPr lang="en-US" sz="1300" dirty="0">
                        <a:latin typeface="Calibri" charset="0"/>
                        <a:ea typeface="Calibri" charset="0"/>
                        <a:cs typeface="Calibri" charset="0"/>
                      </a:endParaRPr>
                    </a:p>
                  </a:txBody>
                  <a:tcPr marL="109728" marR="109728"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6F9FC"/>
                    </a:solidFill>
                  </a:tcPr>
                </a:tc>
                <a:tc>
                  <a:txBody>
                    <a:bodyPr/>
                    <a:lstStyle/>
                    <a:p>
                      <a:pPr indent="0" marL="0">
                        <a:buNone/>
                      </a:pPr>
                      <a:r>
                        <a:rPr lang="en-US" sz="1300" dirty="0">
                          <a:solidFill>
                            <a:srgbClr val="1A2433"/>
                          </a:solidFill>
                          <a:latin typeface="Calibri" pitchFamily="34" charset="0"/>
                          <a:ea typeface="Calibri" pitchFamily="34" charset="-122"/>
                          <a:cs typeface="Calibri" pitchFamily="34" charset="-120"/>
                        </a:rPr>
                        <a:t>Student, lecturer, staff pages and hall ticket on desktop and phone widths</a:t>
                      </a:r>
                      <a:endParaRPr lang="en-US" sz="1300" dirty="0">
                        <a:latin typeface="Calibri" charset="0"/>
                        <a:ea typeface="Calibri" charset="0"/>
                        <a:cs typeface="Calibri" charset="0"/>
                      </a:endParaRPr>
                    </a:p>
                  </a:txBody>
                  <a:tcPr marL="109728" marR="109728"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6F9FC"/>
                    </a:solidFill>
                  </a:tcPr>
                </a:tc>
                <a:tc>
                  <a:txBody>
                    <a:bodyPr/>
                    <a:lstStyle/>
                    <a:p>
                      <a:pPr indent="0" marL="0">
                        <a:buNone/>
                      </a:pPr>
                      <a:r>
                        <a:rPr lang="en-US" sz="1300" b="1" dirty="0">
                          <a:solidFill>
                            <a:srgbClr val="1E7E34"/>
                          </a:solidFill>
                          <a:latin typeface="Calibri" pitchFamily="34" charset="0"/>
                          <a:ea typeface="Calibri" pitchFamily="34" charset="-122"/>
                          <a:cs typeface="Calibri" pitchFamily="34" charset="-120"/>
                        </a:rPr>
                        <a:t>Pass, layout fixes made</a:t>
                      </a:r>
                      <a:endParaRPr lang="en-US" sz="1300" dirty="0">
                        <a:latin typeface="Calibri" charset="0"/>
                        <a:ea typeface="Calibri" charset="0"/>
                        <a:cs typeface="Calibri" charset="0"/>
                      </a:endParaRPr>
                    </a:p>
                  </a:txBody>
                  <a:tcPr marL="109728" marR="109728"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6F9FC"/>
                    </a:solidFill>
                  </a:tcPr>
                </a:tc>
              </a:tr>
              <a:tr h="566928">
                <a:tc>
                  <a:txBody>
                    <a:bodyPr/>
                    <a:lstStyle/>
                    <a:p>
                      <a:pPr indent="0" marL="0">
                        <a:buNone/>
                      </a:pPr>
                      <a:r>
                        <a:rPr lang="en-US" sz="1300" dirty="0">
                          <a:solidFill>
                            <a:srgbClr val="1A2433"/>
                          </a:solidFill>
                          <a:latin typeface="Calibri" pitchFamily="34" charset="0"/>
                          <a:ea typeface="Calibri" pitchFamily="34" charset="-122"/>
                          <a:cs typeface="Calibri" pitchFamily="34" charset="-120"/>
                        </a:rPr>
                        <a:t>Integration on real MySQL</a:t>
                      </a:r>
                      <a:endParaRPr lang="en-US" sz="1300" dirty="0">
                        <a:latin typeface="Calibri" charset="0"/>
                        <a:ea typeface="Calibri" charset="0"/>
                        <a:cs typeface="Calibri" charset="0"/>
                      </a:endParaRPr>
                    </a:p>
                  </a:txBody>
                  <a:tcPr marL="109728" marR="109728"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300" dirty="0">
                          <a:solidFill>
                            <a:srgbClr val="1A2433"/>
                          </a:solidFill>
                          <a:latin typeface="Calibri" pitchFamily="34" charset="0"/>
                          <a:ea typeface="Calibri" pitchFamily="34" charset="-122"/>
                          <a:cs typeface="Calibri" pitchFamily="34" charset="-120"/>
                        </a:rPr>
                        <a:t>Approving a Dean (Academic) failed: role ENUM lacked the new value</a:t>
                      </a:r>
                      <a:endParaRPr lang="en-US" sz="1300" dirty="0">
                        <a:latin typeface="Calibri" charset="0"/>
                        <a:ea typeface="Calibri" charset="0"/>
                        <a:cs typeface="Calibri" charset="0"/>
                      </a:endParaRPr>
                    </a:p>
                  </a:txBody>
                  <a:tcPr marL="109728" marR="109728"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300" b="1" dirty="0">
                          <a:solidFill>
                            <a:srgbClr val="E3A83B"/>
                          </a:solidFill>
                          <a:latin typeface="Calibri" pitchFamily="34" charset="0"/>
                          <a:ea typeface="Calibri" pitchFamily="34" charset="-122"/>
                          <a:cs typeface="Calibri" pitchFamily="34" charset="-120"/>
                        </a:rPr>
                        <a:t>Defect found &amp; fixed</a:t>
                      </a:r>
                      <a:endParaRPr lang="en-US" sz="1300" dirty="0">
                        <a:latin typeface="Calibri" charset="0"/>
                        <a:ea typeface="Calibri" charset="0"/>
                        <a:cs typeface="Calibri" charset="0"/>
                      </a:endParaRPr>
                    </a:p>
                  </a:txBody>
                  <a:tcPr marL="109728" marR="109728"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A2433"/>
                          </a:solidFill>
                          <a:latin typeface="Calibri" pitchFamily="34" charset="0"/>
                          <a:ea typeface="Calibri" pitchFamily="34" charset="-122"/>
                          <a:cs typeface="Calibri" pitchFamily="34" charset="-120"/>
                        </a:rPr>
                        <a:t>User acceptance test</a:t>
                      </a:r>
                      <a:endParaRPr lang="en-US" sz="1300" dirty="0">
                        <a:latin typeface="Calibri" charset="0"/>
                        <a:ea typeface="Calibri" charset="0"/>
                        <a:cs typeface="Calibri" charset="0"/>
                      </a:endParaRPr>
                    </a:p>
                  </a:txBody>
                  <a:tcPr marL="109728" marR="109728"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6F9FC"/>
                    </a:solidFill>
                  </a:tcPr>
                </a:tc>
                <a:tc>
                  <a:txBody>
                    <a:bodyPr/>
                    <a:lstStyle/>
                    <a:p>
                      <a:pPr indent="0" marL="0">
                        <a:buNone/>
                      </a:pPr>
                      <a:r>
                        <a:rPr lang="en-US" sz="1300" dirty="0">
                          <a:solidFill>
                            <a:srgbClr val="1A2433"/>
                          </a:solidFill>
                          <a:latin typeface="Calibri" pitchFamily="34" charset="0"/>
                          <a:ea typeface="Calibri" pitchFamily="34" charset="-122"/>
                          <a:cs typeface="Calibri" pitchFamily="34" charset="-120"/>
                        </a:rPr>
                        <a:t>Staff and students try real tasks; measured against usefulness and ease of use (TAM)</a:t>
                      </a:r>
                      <a:endParaRPr lang="en-US" sz="1300" dirty="0">
                        <a:latin typeface="Calibri" charset="0"/>
                        <a:ea typeface="Calibri" charset="0"/>
                        <a:cs typeface="Calibri" charset="0"/>
                      </a:endParaRPr>
                    </a:p>
                  </a:txBody>
                  <a:tcPr marL="109728" marR="109728"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6F9FC"/>
                    </a:solidFill>
                  </a:tcPr>
                </a:tc>
                <a:tc>
                  <a:txBody>
                    <a:bodyPr/>
                    <a:lstStyle/>
                    <a:p>
                      <a:pPr indent="0" marL="0">
                        <a:buNone/>
                      </a:pPr>
                      <a:r>
                        <a:rPr lang="en-US" sz="1300" b="1" dirty="0">
                          <a:solidFill>
                            <a:srgbClr val="5B7A99"/>
                          </a:solidFill>
                          <a:latin typeface="Calibri" pitchFamily="34" charset="0"/>
                          <a:ea typeface="Calibri" pitchFamily="34" charset="-122"/>
                          <a:cs typeface="Calibri" pitchFamily="34" charset="-120"/>
                        </a:rPr>
                        <a:t>Planned</a:t>
                      </a:r>
                      <a:endParaRPr lang="en-US" sz="1300" dirty="0">
                        <a:latin typeface="Calibri" charset="0"/>
                        <a:ea typeface="Calibri" charset="0"/>
                        <a:cs typeface="Calibri" charset="0"/>
                      </a:endParaRPr>
                    </a:p>
                  </a:txBody>
                  <a:tcPr marL="109728" marR="109728"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6F9FC"/>
                    </a:solidFill>
                  </a:tcPr>
                </a:tc>
              </a:tr>
            </a:tbl>
          </a:graphicData>
        </a:graphic>
      </p:graphicFrame>
      <p:sp>
        <p:nvSpPr>
          <p:cNvPr id="6" name="Text 3"/>
          <p:cNvSpPr txBox="1"/>
          <p:nvPr/>
        </p:nvSpPr>
        <p:spPr>
          <a:xfrm>
            <a:off x="548640" y="5623560"/>
            <a:ext cx="11064240" cy="548640"/>
          </a:xfrm>
          <a:prstGeom prst="rect">
            <a:avLst/>
          </a:prstGeom>
          <a:noFill/>
          <a:ln/>
        </p:spPr>
        <p:txBody>
          <a:bodyPr wrap="square" lIns="0" tIns="0" rIns="0" bIns="0" rtlCol="0" anchor="t"/>
          <a:lstStyle/>
          <a:p>
            <a:pPr indent="0" marL="0">
              <a:buNone/>
            </a:pPr>
            <a:r>
              <a:rPr lang="en-US" sz="1300" i="1" dirty="0">
                <a:solidFill>
                  <a:srgbClr val="5B7A99"/>
                </a:solidFill>
              </a:rPr>
              <a:t>Evaluation criteria (DeLone &amp; McLean): system quality (correct rules, no crashes), information quality (accurate balances, modules and approvals), user satisfaction and time saved per clearance.</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System maintenance</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3rd Review</a:t>
            </a:r>
            <a:endParaRPr lang="en-US" sz="1100" dirty="0"/>
          </a:p>
        </p:txBody>
      </p:sp>
      <p:sp>
        <p:nvSpPr>
          <p:cNvPr id="5" name="card"/>
          <p:cNvSpPr/>
          <p:nvPr/>
        </p:nvSpPr>
        <p:spPr>
          <a:xfrm>
            <a:off x="548640" y="1371600"/>
            <a:ext cx="5440680" cy="2194560"/>
          </a:xfrm>
          <a:prstGeom prst="roundRect">
            <a:avLst>
              <a:gd name="adj" fmla="val 5000"/>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6" name="icon circle"/>
          <p:cNvSpPr/>
          <p:nvPr/>
        </p:nvSpPr>
        <p:spPr>
          <a:xfrm>
            <a:off x="822960" y="1645920"/>
            <a:ext cx="685800" cy="685800"/>
          </a:xfrm>
          <a:prstGeom prst="ellipse">
            <a:avLst/>
          </a:prstGeom>
          <a:solidFill>
            <a:srgbClr val="004080"/>
          </a:solidFill>
          <a:ln w="12700">
            <a:solidFill>
              <a:srgbClr val="004080"/>
            </a:solidFill>
            <a:prstDash val="solid"/>
          </a:ln>
        </p:spPr>
      </p:sp>
      <p:pic>
        <p:nvPicPr>
          <p:cNvPr id="7" name="Image 0" descr="FaWrench">    </p:cNvPr>
          <p:cNvPicPr>
            <a:picLocks noChangeAspect="1"/>
          </p:cNvPicPr>
          <p:nvPr/>
        </p:nvPicPr>
        <p:blipFill>
          <a:blip r:embed="rId1"/>
          <a:stretch>
            <a:fillRect/>
          </a:stretch>
        </p:blipFill>
        <p:spPr>
          <a:xfrm>
            <a:off x="987552" y="1810512"/>
            <a:ext cx="356616" cy="356616"/>
          </a:xfrm>
          <a:prstGeom prst="rect">
            <a:avLst/>
          </a:prstGeom>
        </p:spPr>
      </p:pic>
      <p:sp>
        <p:nvSpPr>
          <p:cNvPr id="8" name="Text 5"/>
          <p:cNvSpPr txBox="1"/>
          <p:nvPr/>
        </p:nvSpPr>
        <p:spPr>
          <a:xfrm>
            <a:off x="1737360" y="1719072"/>
            <a:ext cx="4023360" cy="411480"/>
          </a:xfrm>
          <a:prstGeom prst="rect">
            <a:avLst/>
          </a:prstGeom>
          <a:noFill/>
          <a:ln/>
        </p:spPr>
        <p:txBody>
          <a:bodyPr wrap="square" lIns="0" tIns="0" rIns="0" bIns="0" rtlCol="0" anchor="t"/>
          <a:lstStyle/>
          <a:p>
            <a:pPr indent="0" marL="0">
              <a:buNone/>
            </a:pPr>
            <a:r>
              <a:rPr lang="en-US" sz="1800" b="1" dirty="0">
                <a:solidFill>
                  <a:srgbClr val="0B2545"/>
                </a:solidFill>
              </a:rPr>
              <a:t>Corrective maintenance</a:t>
            </a:r>
            <a:endParaRPr lang="en-US" sz="1800" dirty="0"/>
          </a:p>
        </p:txBody>
      </p:sp>
      <p:sp>
        <p:nvSpPr>
          <p:cNvPr id="9" name="Text 6"/>
          <p:cNvSpPr txBox="1"/>
          <p:nvPr/>
        </p:nvSpPr>
        <p:spPr>
          <a:xfrm>
            <a:off x="1737360" y="2194560"/>
            <a:ext cx="4023360" cy="1234440"/>
          </a:xfrm>
          <a:prstGeom prst="rect">
            <a:avLst/>
          </a:prstGeom>
          <a:noFill/>
          <a:ln/>
        </p:spPr>
        <p:txBody>
          <a:bodyPr wrap="square" lIns="0" tIns="0" rIns="0" bIns="0" rtlCol="0" anchor="t"/>
          <a:lstStyle/>
          <a:p>
            <a:pPr indent="0" marL="0">
              <a:buNone/>
            </a:pPr>
            <a:r>
              <a:rPr lang="en-US" sz="1400" dirty="0">
                <a:solidFill>
                  <a:srgbClr val="1A2433"/>
                </a:solidFill>
              </a:rPr>
              <a:t>Fix defects reported by users or found in testing, e.g. the role ENUM fix applied by an automatic migration.</a:t>
            </a:r>
            <a:endParaRPr lang="en-US" sz="1400" dirty="0"/>
          </a:p>
        </p:txBody>
      </p:sp>
      <p:sp>
        <p:nvSpPr>
          <p:cNvPr id="10" name="card"/>
          <p:cNvSpPr/>
          <p:nvPr/>
        </p:nvSpPr>
        <p:spPr>
          <a:xfrm>
            <a:off x="6172200" y="1371600"/>
            <a:ext cx="5440680" cy="2194560"/>
          </a:xfrm>
          <a:prstGeom prst="roundRect">
            <a:avLst>
              <a:gd name="adj" fmla="val 5000"/>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11" name="icon circle"/>
          <p:cNvSpPr/>
          <p:nvPr/>
        </p:nvSpPr>
        <p:spPr>
          <a:xfrm>
            <a:off x="6446520" y="1645920"/>
            <a:ext cx="685800" cy="685800"/>
          </a:xfrm>
          <a:prstGeom prst="ellipse">
            <a:avLst/>
          </a:prstGeom>
          <a:solidFill>
            <a:srgbClr val="E3A83B"/>
          </a:solidFill>
          <a:ln w="12700">
            <a:solidFill>
              <a:srgbClr val="E3A83B"/>
            </a:solidFill>
            <a:prstDash val="solid"/>
          </a:ln>
        </p:spPr>
      </p:sp>
      <p:pic>
        <p:nvPicPr>
          <p:cNvPr id="12" name="Image 1" descr="FaExchangeAlt">    </p:cNvPr>
          <p:cNvPicPr>
            <a:picLocks noChangeAspect="1"/>
          </p:cNvPicPr>
          <p:nvPr/>
        </p:nvPicPr>
        <p:blipFill>
          <a:blip r:embed="rId2"/>
          <a:stretch>
            <a:fillRect/>
          </a:stretch>
        </p:blipFill>
        <p:spPr>
          <a:xfrm>
            <a:off x="6611112" y="1810512"/>
            <a:ext cx="356616" cy="356616"/>
          </a:xfrm>
          <a:prstGeom prst="rect">
            <a:avLst/>
          </a:prstGeom>
        </p:spPr>
      </p:pic>
      <p:sp>
        <p:nvSpPr>
          <p:cNvPr id="13" name="Text 9"/>
          <p:cNvSpPr txBox="1"/>
          <p:nvPr/>
        </p:nvSpPr>
        <p:spPr>
          <a:xfrm>
            <a:off x="7360920" y="1719072"/>
            <a:ext cx="4023360" cy="411480"/>
          </a:xfrm>
          <a:prstGeom prst="rect">
            <a:avLst/>
          </a:prstGeom>
          <a:noFill/>
          <a:ln/>
        </p:spPr>
        <p:txBody>
          <a:bodyPr wrap="square" lIns="0" tIns="0" rIns="0" bIns="0" rtlCol="0" anchor="t"/>
          <a:lstStyle/>
          <a:p>
            <a:pPr indent="0" marL="0">
              <a:buNone/>
            </a:pPr>
            <a:r>
              <a:rPr lang="en-US" sz="1800" b="1" dirty="0">
                <a:solidFill>
                  <a:srgbClr val="0B2545"/>
                </a:solidFill>
              </a:rPr>
              <a:t>Adaptive maintenance</a:t>
            </a:r>
            <a:endParaRPr lang="en-US" sz="1800" dirty="0"/>
          </a:p>
        </p:txBody>
      </p:sp>
      <p:sp>
        <p:nvSpPr>
          <p:cNvPr id="14" name="Text 10"/>
          <p:cNvSpPr txBox="1"/>
          <p:nvPr/>
        </p:nvSpPr>
        <p:spPr>
          <a:xfrm>
            <a:off x="7360920" y="2194560"/>
            <a:ext cx="4023360" cy="1234440"/>
          </a:xfrm>
          <a:prstGeom prst="rect">
            <a:avLst/>
          </a:prstGeom>
          <a:noFill/>
          <a:ln/>
        </p:spPr>
        <p:txBody>
          <a:bodyPr wrap="square" lIns="0" tIns="0" rIns="0" bIns="0" rtlCol="0" anchor="t"/>
          <a:lstStyle/>
          <a:p>
            <a:pPr indent="0" marL="0">
              <a:buNone/>
            </a:pPr>
            <a:r>
              <a:rPr lang="en-US" sz="1400" dirty="0">
                <a:solidFill>
                  <a:srgbClr val="1A2433"/>
                </a:solidFill>
              </a:rPr>
              <a:t>Adapt to change without code: new programmes and modules from the dashboard; fee rules and grade scale in JSON config.</a:t>
            </a:r>
            <a:endParaRPr lang="en-US" sz="1400" dirty="0"/>
          </a:p>
        </p:txBody>
      </p:sp>
      <p:sp>
        <p:nvSpPr>
          <p:cNvPr id="15" name="card"/>
          <p:cNvSpPr/>
          <p:nvPr/>
        </p:nvSpPr>
        <p:spPr>
          <a:xfrm>
            <a:off x="548640" y="3794760"/>
            <a:ext cx="5440680" cy="2194560"/>
          </a:xfrm>
          <a:prstGeom prst="roundRect">
            <a:avLst>
              <a:gd name="adj" fmla="val 5000"/>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16" name="icon circle"/>
          <p:cNvSpPr/>
          <p:nvPr/>
        </p:nvSpPr>
        <p:spPr>
          <a:xfrm>
            <a:off x="822960" y="4069080"/>
            <a:ext cx="685800" cy="685800"/>
          </a:xfrm>
          <a:prstGeom prst="ellipse">
            <a:avLst/>
          </a:prstGeom>
          <a:solidFill>
            <a:srgbClr val="E3A83B"/>
          </a:solidFill>
          <a:ln w="12700">
            <a:solidFill>
              <a:srgbClr val="E3A83B"/>
            </a:solidFill>
            <a:prstDash val="solid"/>
          </a:ln>
        </p:spPr>
      </p:sp>
      <p:pic>
        <p:nvPicPr>
          <p:cNvPr id="17" name="Image 2" descr="FaMagic">    </p:cNvPr>
          <p:cNvPicPr>
            <a:picLocks noChangeAspect="1"/>
          </p:cNvPicPr>
          <p:nvPr/>
        </p:nvPicPr>
        <p:blipFill>
          <a:blip r:embed="rId3"/>
          <a:stretch>
            <a:fillRect/>
          </a:stretch>
        </p:blipFill>
        <p:spPr>
          <a:xfrm>
            <a:off x="987552" y="4233672"/>
            <a:ext cx="356616" cy="356616"/>
          </a:xfrm>
          <a:prstGeom prst="rect">
            <a:avLst/>
          </a:prstGeom>
        </p:spPr>
      </p:pic>
      <p:sp>
        <p:nvSpPr>
          <p:cNvPr id="18" name="Text 13"/>
          <p:cNvSpPr txBox="1"/>
          <p:nvPr/>
        </p:nvSpPr>
        <p:spPr>
          <a:xfrm>
            <a:off x="1737360" y="4142232"/>
            <a:ext cx="4023360" cy="411480"/>
          </a:xfrm>
          <a:prstGeom prst="rect">
            <a:avLst/>
          </a:prstGeom>
          <a:noFill/>
          <a:ln/>
        </p:spPr>
        <p:txBody>
          <a:bodyPr wrap="square" lIns="0" tIns="0" rIns="0" bIns="0" rtlCol="0" anchor="t"/>
          <a:lstStyle/>
          <a:p>
            <a:pPr indent="0" marL="0">
              <a:buNone/>
            </a:pPr>
            <a:r>
              <a:rPr lang="en-US" sz="1800" b="1" dirty="0">
                <a:solidFill>
                  <a:srgbClr val="0B2545"/>
                </a:solidFill>
              </a:rPr>
              <a:t>Perfective maintenance</a:t>
            </a:r>
            <a:endParaRPr lang="en-US" sz="1800" dirty="0"/>
          </a:p>
        </p:txBody>
      </p:sp>
      <p:sp>
        <p:nvSpPr>
          <p:cNvPr id="19" name="Text 14"/>
          <p:cNvSpPr txBox="1"/>
          <p:nvPr/>
        </p:nvSpPr>
        <p:spPr>
          <a:xfrm>
            <a:off x="1737360" y="4617720"/>
            <a:ext cx="4023360" cy="1234440"/>
          </a:xfrm>
          <a:prstGeom prst="rect">
            <a:avLst/>
          </a:prstGeom>
          <a:noFill/>
          <a:ln/>
        </p:spPr>
        <p:txBody>
          <a:bodyPr wrap="square" lIns="0" tIns="0" rIns="0" bIns="0" rtlCol="0" anchor="t"/>
          <a:lstStyle/>
          <a:p>
            <a:pPr indent="0" marL="0">
              <a:buNone/>
            </a:pPr>
            <a:r>
              <a:rPr lang="en-US" sz="1400" dirty="0">
                <a:solidFill>
                  <a:srgbClr val="1A2433"/>
                </a:solidFill>
              </a:rPr>
              <a:t>Add features users ask for: payment gateway, SMS alerts, reports, a mobile app.</a:t>
            </a:r>
            <a:endParaRPr lang="en-US" sz="1400" dirty="0"/>
          </a:p>
        </p:txBody>
      </p:sp>
      <p:sp>
        <p:nvSpPr>
          <p:cNvPr id="20" name="card"/>
          <p:cNvSpPr/>
          <p:nvPr/>
        </p:nvSpPr>
        <p:spPr>
          <a:xfrm>
            <a:off x="6172200" y="3794760"/>
            <a:ext cx="5440680" cy="2194560"/>
          </a:xfrm>
          <a:prstGeom prst="roundRect">
            <a:avLst>
              <a:gd name="adj" fmla="val 5000"/>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21" name="icon circle"/>
          <p:cNvSpPr/>
          <p:nvPr/>
        </p:nvSpPr>
        <p:spPr>
          <a:xfrm>
            <a:off x="6446520" y="4069080"/>
            <a:ext cx="685800" cy="685800"/>
          </a:xfrm>
          <a:prstGeom prst="ellipse">
            <a:avLst/>
          </a:prstGeom>
          <a:solidFill>
            <a:srgbClr val="004080"/>
          </a:solidFill>
          <a:ln w="12700">
            <a:solidFill>
              <a:srgbClr val="004080"/>
            </a:solidFill>
            <a:prstDash val="solid"/>
          </a:ln>
        </p:spPr>
      </p:sp>
      <p:pic>
        <p:nvPicPr>
          <p:cNvPr id="22" name="Image 3" descr="FaShieldAlt">    </p:cNvPr>
          <p:cNvPicPr>
            <a:picLocks noChangeAspect="1"/>
          </p:cNvPicPr>
          <p:nvPr/>
        </p:nvPicPr>
        <p:blipFill>
          <a:blip r:embed="rId4"/>
          <a:stretch>
            <a:fillRect/>
          </a:stretch>
        </p:blipFill>
        <p:spPr>
          <a:xfrm>
            <a:off x="6611112" y="4233672"/>
            <a:ext cx="356616" cy="356616"/>
          </a:xfrm>
          <a:prstGeom prst="rect">
            <a:avLst/>
          </a:prstGeom>
        </p:spPr>
      </p:pic>
      <p:sp>
        <p:nvSpPr>
          <p:cNvPr id="23" name="Text 17"/>
          <p:cNvSpPr txBox="1"/>
          <p:nvPr/>
        </p:nvSpPr>
        <p:spPr>
          <a:xfrm>
            <a:off x="7360920" y="4142232"/>
            <a:ext cx="4023360" cy="411480"/>
          </a:xfrm>
          <a:prstGeom prst="rect">
            <a:avLst/>
          </a:prstGeom>
          <a:noFill/>
          <a:ln/>
        </p:spPr>
        <p:txBody>
          <a:bodyPr wrap="square" lIns="0" tIns="0" rIns="0" bIns="0" rtlCol="0" anchor="t"/>
          <a:lstStyle/>
          <a:p>
            <a:pPr indent="0" marL="0">
              <a:buNone/>
            </a:pPr>
            <a:r>
              <a:rPr lang="en-US" sz="1800" b="1" dirty="0">
                <a:solidFill>
                  <a:srgbClr val="0B2545"/>
                </a:solidFill>
              </a:rPr>
              <a:t>Preventive maintenance</a:t>
            </a:r>
            <a:endParaRPr lang="en-US" sz="1800" dirty="0"/>
          </a:p>
        </p:txBody>
      </p:sp>
      <p:sp>
        <p:nvSpPr>
          <p:cNvPr id="24" name="Text 18"/>
          <p:cNvSpPr txBox="1"/>
          <p:nvPr/>
        </p:nvSpPr>
        <p:spPr>
          <a:xfrm>
            <a:off x="7360920" y="4617720"/>
            <a:ext cx="4023360" cy="1234440"/>
          </a:xfrm>
          <a:prstGeom prst="rect">
            <a:avLst/>
          </a:prstGeom>
          <a:noFill/>
          <a:ln/>
        </p:spPr>
        <p:txBody>
          <a:bodyPr wrap="square" lIns="0" tIns="0" rIns="0" bIns="0" rtlCol="0" anchor="t"/>
          <a:lstStyle/>
          <a:p>
            <a:pPr indent="0" marL="0">
              <a:buNone/>
            </a:pPr>
            <a:r>
              <a:rPr lang="en-US" sz="1400" dirty="0">
                <a:solidFill>
                  <a:srgbClr val="1A2433"/>
                </a:solidFill>
              </a:rPr>
              <a:t>Daily database backups, dependency updates (npm audit), log review, keep secrets out of Git.</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Installation considerations</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3rd Review</a:t>
            </a:r>
            <a:endParaRPr lang="en-US" sz="1100" dirty="0"/>
          </a:p>
        </p:txBody>
      </p:sp>
      <p:sp>
        <p:nvSpPr>
          <p:cNvPr id="5" name="step"/>
          <p:cNvSpPr/>
          <p:nvPr/>
        </p:nvSpPr>
        <p:spPr>
          <a:xfrm>
            <a:off x="548640" y="1417320"/>
            <a:ext cx="457200" cy="457200"/>
          </a:xfrm>
          <a:prstGeom prst="ellipse">
            <a:avLst/>
          </a:prstGeom>
          <a:solidFill>
            <a:srgbClr val="004080"/>
          </a:solidFill>
          <a:ln w="12700">
            <a:solidFill>
              <a:srgbClr val="004080"/>
            </a:solidFill>
            <a:prstDash val="solid"/>
          </a:ln>
        </p:spPr>
      </p:sp>
      <p:sp>
        <p:nvSpPr>
          <p:cNvPr id="6" name="Text 4"/>
          <p:cNvSpPr txBox="1"/>
          <p:nvPr/>
        </p:nvSpPr>
        <p:spPr>
          <a:xfrm>
            <a:off x="548640" y="1417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7" name="Text 5"/>
          <p:cNvSpPr txBox="1"/>
          <p:nvPr/>
        </p:nvSpPr>
        <p:spPr>
          <a:xfrm>
            <a:off x="1188720" y="1371600"/>
            <a:ext cx="5029200" cy="566928"/>
          </a:xfrm>
          <a:prstGeom prst="rect">
            <a:avLst/>
          </a:prstGeom>
          <a:noFill/>
          <a:ln/>
        </p:spPr>
        <p:txBody>
          <a:bodyPr wrap="square" lIns="0" tIns="0" rIns="0" bIns="0" rtlCol="0" anchor="ctr"/>
          <a:lstStyle/>
          <a:p>
            <a:pPr indent="0" marL="0">
              <a:buNone/>
            </a:pPr>
            <a:r>
              <a:rPr lang="en-US" sz="1500" dirty="0">
                <a:solidFill>
                  <a:srgbClr val="1A2433"/>
                </a:solidFill>
              </a:rPr>
              <a:t>Install Node.js (v18 or later) and MySQL 8</a:t>
            </a:r>
            <a:endParaRPr lang="en-US" sz="1500" dirty="0"/>
          </a:p>
        </p:txBody>
      </p:sp>
      <p:sp>
        <p:nvSpPr>
          <p:cNvPr id="8" name="step"/>
          <p:cNvSpPr/>
          <p:nvPr/>
        </p:nvSpPr>
        <p:spPr>
          <a:xfrm>
            <a:off x="548640" y="2212848"/>
            <a:ext cx="457200" cy="457200"/>
          </a:xfrm>
          <a:prstGeom prst="ellipse">
            <a:avLst/>
          </a:prstGeom>
          <a:solidFill>
            <a:srgbClr val="E3A83B"/>
          </a:solidFill>
          <a:ln w="12700">
            <a:solidFill>
              <a:srgbClr val="E3A83B"/>
            </a:solidFill>
            <a:prstDash val="solid"/>
          </a:ln>
        </p:spPr>
      </p:sp>
      <p:sp>
        <p:nvSpPr>
          <p:cNvPr id="9" name="Text 7"/>
          <p:cNvSpPr txBox="1"/>
          <p:nvPr/>
        </p:nvSpPr>
        <p:spPr>
          <a:xfrm>
            <a:off x="548640" y="22128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8"/>
          <p:cNvSpPr txBox="1"/>
          <p:nvPr/>
        </p:nvSpPr>
        <p:spPr>
          <a:xfrm>
            <a:off x="1188720" y="2167128"/>
            <a:ext cx="5029200" cy="566928"/>
          </a:xfrm>
          <a:prstGeom prst="rect">
            <a:avLst/>
          </a:prstGeom>
          <a:noFill/>
          <a:ln/>
        </p:spPr>
        <p:txBody>
          <a:bodyPr wrap="square" lIns="0" tIns="0" rIns="0" bIns="0" rtlCol="0" anchor="ctr"/>
          <a:lstStyle/>
          <a:p>
            <a:pPr indent="0" marL="0">
              <a:buNone/>
            </a:pPr>
            <a:r>
              <a:rPr lang="en-US" sz="1500" dirty="0">
                <a:solidFill>
                  <a:srgbClr val="1A2433"/>
                </a:solidFill>
              </a:rPr>
              <a:t>Create the database, e.g. dmiseu_chipata_campus</a:t>
            </a:r>
            <a:endParaRPr lang="en-US" sz="1500" dirty="0"/>
          </a:p>
        </p:txBody>
      </p:sp>
      <p:sp>
        <p:nvSpPr>
          <p:cNvPr id="11" name="step"/>
          <p:cNvSpPr/>
          <p:nvPr/>
        </p:nvSpPr>
        <p:spPr>
          <a:xfrm>
            <a:off x="548640" y="3008376"/>
            <a:ext cx="457200" cy="457200"/>
          </a:xfrm>
          <a:prstGeom prst="ellipse">
            <a:avLst/>
          </a:prstGeom>
          <a:solidFill>
            <a:srgbClr val="004080"/>
          </a:solidFill>
          <a:ln w="12700">
            <a:solidFill>
              <a:srgbClr val="004080"/>
            </a:solidFill>
            <a:prstDash val="solid"/>
          </a:ln>
        </p:spPr>
      </p:sp>
      <p:sp>
        <p:nvSpPr>
          <p:cNvPr id="12" name="Text 10"/>
          <p:cNvSpPr txBox="1"/>
          <p:nvPr/>
        </p:nvSpPr>
        <p:spPr>
          <a:xfrm>
            <a:off x="548640" y="300837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3" name="Text 11"/>
          <p:cNvSpPr txBox="1"/>
          <p:nvPr/>
        </p:nvSpPr>
        <p:spPr>
          <a:xfrm>
            <a:off x="1188720" y="2962656"/>
            <a:ext cx="5029200" cy="566928"/>
          </a:xfrm>
          <a:prstGeom prst="rect">
            <a:avLst/>
          </a:prstGeom>
          <a:noFill/>
          <a:ln/>
        </p:spPr>
        <p:txBody>
          <a:bodyPr wrap="square" lIns="0" tIns="0" rIns="0" bIns="0" rtlCol="0" anchor="ctr"/>
          <a:lstStyle/>
          <a:p>
            <a:pPr indent="0" marL="0">
              <a:buNone/>
            </a:pPr>
            <a:r>
              <a:rPr lang="en-US" sz="1500" dirty="0">
                <a:solidFill>
                  <a:srgbClr val="1A2433"/>
                </a:solidFill>
              </a:rPr>
              <a:t>Copy the project and run npm install</a:t>
            </a:r>
            <a:endParaRPr lang="en-US" sz="1500" dirty="0"/>
          </a:p>
        </p:txBody>
      </p:sp>
      <p:sp>
        <p:nvSpPr>
          <p:cNvPr id="14" name="step"/>
          <p:cNvSpPr/>
          <p:nvPr/>
        </p:nvSpPr>
        <p:spPr>
          <a:xfrm>
            <a:off x="548640" y="3803904"/>
            <a:ext cx="457200" cy="457200"/>
          </a:xfrm>
          <a:prstGeom prst="ellipse">
            <a:avLst/>
          </a:prstGeom>
          <a:solidFill>
            <a:srgbClr val="E3A83B"/>
          </a:solidFill>
          <a:ln w="12700">
            <a:solidFill>
              <a:srgbClr val="E3A83B"/>
            </a:solidFill>
            <a:prstDash val="solid"/>
          </a:ln>
        </p:spPr>
      </p:sp>
      <p:sp>
        <p:nvSpPr>
          <p:cNvPr id="15" name="Text 13"/>
          <p:cNvSpPr txBox="1"/>
          <p:nvPr/>
        </p:nvSpPr>
        <p:spPr>
          <a:xfrm>
            <a:off x="548640" y="380390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6" name="Text 14"/>
          <p:cNvSpPr txBox="1"/>
          <p:nvPr/>
        </p:nvSpPr>
        <p:spPr>
          <a:xfrm>
            <a:off x="1188720" y="3758184"/>
            <a:ext cx="5029200" cy="566928"/>
          </a:xfrm>
          <a:prstGeom prst="rect">
            <a:avLst/>
          </a:prstGeom>
          <a:noFill/>
          <a:ln/>
        </p:spPr>
        <p:txBody>
          <a:bodyPr wrap="square" lIns="0" tIns="0" rIns="0" bIns="0" rtlCol="0" anchor="ctr"/>
          <a:lstStyle/>
          <a:p>
            <a:pPr indent="0" marL="0">
              <a:buNone/>
            </a:pPr>
            <a:r>
              <a:rPr lang="en-US" sz="1500" dirty="0">
                <a:solidFill>
                  <a:srgbClr val="1A2433"/>
                </a:solidFill>
              </a:rPr>
              <a:t>Create .env with database details and a long random SECRET</a:t>
            </a:r>
            <a:endParaRPr lang="en-US" sz="1500" dirty="0"/>
          </a:p>
        </p:txBody>
      </p:sp>
      <p:sp>
        <p:nvSpPr>
          <p:cNvPr id="17" name="step"/>
          <p:cNvSpPr/>
          <p:nvPr/>
        </p:nvSpPr>
        <p:spPr>
          <a:xfrm>
            <a:off x="548640" y="4599432"/>
            <a:ext cx="457200" cy="457200"/>
          </a:xfrm>
          <a:prstGeom prst="ellipse">
            <a:avLst/>
          </a:prstGeom>
          <a:solidFill>
            <a:srgbClr val="004080"/>
          </a:solidFill>
          <a:ln w="12700">
            <a:solidFill>
              <a:srgbClr val="004080"/>
            </a:solidFill>
            <a:prstDash val="solid"/>
          </a:ln>
        </p:spPr>
      </p:sp>
      <p:sp>
        <p:nvSpPr>
          <p:cNvPr id="18" name="Text 16"/>
          <p:cNvSpPr txBox="1"/>
          <p:nvPr/>
        </p:nvSpPr>
        <p:spPr>
          <a:xfrm>
            <a:off x="548640" y="459943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9" name="Text 17"/>
          <p:cNvSpPr txBox="1"/>
          <p:nvPr/>
        </p:nvSpPr>
        <p:spPr>
          <a:xfrm>
            <a:off x="1188720" y="4553712"/>
            <a:ext cx="5029200" cy="566928"/>
          </a:xfrm>
          <a:prstGeom prst="rect">
            <a:avLst/>
          </a:prstGeom>
          <a:noFill/>
          <a:ln/>
        </p:spPr>
        <p:txBody>
          <a:bodyPr wrap="square" lIns="0" tIns="0" rIns="0" bIns="0" rtlCol="0" anchor="ctr"/>
          <a:lstStyle/>
          <a:p>
            <a:pPr indent="0" marL="0">
              <a:buNone/>
            </a:pPr>
            <a:r>
              <a:rPr lang="en-US" sz="1500" dirty="0">
                <a:solidFill>
                  <a:srgbClr val="1A2433"/>
                </a:solidFill>
              </a:rPr>
              <a:t>Run node seeAdmin.js once to create the first admin, then change its password</a:t>
            </a:r>
            <a:endParaRPr lang="en-US" sz="1500" dirty="0"/>
          </a:p>
        </p:txBody>
      </p:sp>
      <p:sp>
        <p:nvSpPr>
          <p:cNvPr id="20" name="step"/>
          <p:cNvSpPr/>
          <p:nvPr/>
        </p:nvSpPr>
        <p:spPr>
          <a:xfrm>
            <a:off x="548640" y="5394960"/>
            <a:ext cx="457200" cy="457200"/>
          </a:xfrm>
          <a:prstGeom prst="ellipse">
            <a:avLst/>
          </a:prstGeom>
          <a:solidFill>
            <a:srgbClr val="E3A83B"/>
          </a:solidFill>
          <a:ln w="12700">
            <a:solidFill>
              <a:srgbClr val="E3A83B"/>
            </a:solidFill>
            <a:prstDash val="solid"/>
          </a:ln>
        </p:spPr>
      </p:sp>
      <p:sp>
        <p:nvSpPr>
          <p:cNvPr id="21" name="Text 19"/>
          <p:cNvSpPr txBox="1"/>
          <p:nvPr/>
        </p:nvSpPr>
        <p:spPr>
          <a:xfrm>
            <a:off x="548640" y="5394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2" name="Text 20"/>
          <p:cNvSpPr txBox="1"/>
          <p:nvPr/>
        </p:nvSpPr>
        <p:spPr>
          <a:xfrm>
            <a:off x="1188720" y="5349240"/>
            <a:ext cx="5029200" cy="566928"/>
          </a:xfrm>
          <a:prstGeom prst="rect">
            <a:avLst/>
          </a:prstGeom>
          <a:noFill/>
          <a:ln/>
        </p:spPr>
        <p:txBody>
          <a:bodyPr wrap="square" lIns="0" tIns="0" rIns="0" bIns="0" rtlCol="0" anchor="ctr"/>
          <a:lstStyle/>
          <a:p>
            <a:pPr indent="0" marL="0">
              <a:buNone/>
            </a:pPr>
            <a:r>
              <a:rPr lang="en-US" sz="1500" dirty="0">
                <a:solidFill>
                  <a:srgbClr val="1A2433"/>
                </a:solidFill>
              </a:rPr>
              <a:t>Start with npm start / npm run dev; tables are created automatically</a:t>
            </a:r>
            <a:endParaRPr lang="en-US" sz="1500" dirty="0"/>
          </a:p>
        </p:txBody>
      </p:sp>
      <p:sp>
        <p:nvSpPr>
          <p:cNvPr id="23" name="code panel"/>
          <p:cNvSpPr/>
          <p:nvPr/>
        </p:nvSpPr>
        <p:spPr>
          <a:xfrm>
            <a:off x="6583680" y="1371600"/>
            <a:ext cx="5056632" cy="3657600"/>
          </a:xfrm>
          <a:prstGeom prst="roundRect">
            <a:avLst>
              <a:gd name="adj" fmla="val 2500"/>
            </a:avLst>
          </a:prstGeom>
          <a:solidFill>
            <a:srgbClr val="14223A"/>
          </a:solidFill>
          <a:ln w="12700">
            <a:solidFill>
              <a:srgbClr val="14223A"/>
            </a:solidFill>
            <a:prstDash val="solid"/>
          </a:ln>
        </p:spPr>
      </p:sp>
      <p:sp>
        <p:nvSpPr>
          <p:cNvPr id="24" name="Text 22"/>
          <p:cNvSpPr txBox="1"/>
          <p:nvPr/>
        </p:nvSpPr>
        <p:spPr>
          <a:xfrm>
            <a:off x="6812280" y="1554480"/>
            <a:ext cx="4599432" cy="3291840"/>
          </a:xfrm>
          <a:prstGeom prst="rect">
            <a:avLst/>
          </a:prstGeom>
          <a:noFill/>
          <a:ln/>
        </p:spPr>
        <p:txBody>
          <a:bodyPr wrap="square" lIns="0" tIns="0" rIns="0" bIns="0" rtlCol="0" anchor="t"/>
          <a:lstStyle/>
          <a:p>
            <a:pPr indent="0" marL="0">
              <a:lnSpc>
                <a:spcPct val="105000"/>
              </a:lnSpc>
              <a:buNone/>
            </a:pPr>
            <a:r>
              <a:rPr lang="en-US" sz="1300" dirty="0">
                <a:solidFill>
                  <a:srgbClr val="E6EDF6"/>
                </a:solidFill>
                <a:latin typeface="Courier New" pitchFamily="34" charset="0"/>
                <a:ea typeface="Courier New" pitchFamily="34" charset="-122"/>
                <a:cs typeface="Courier New" pitchFamily="34" charset="-120"/>
              </a:rPr>
              <a:t># .env</a:t>
            </a:r>
            <a:endParaRPr lang="en-US" sz="1300" dirty="0"/>
          </a:p>
          <a:p>
            <a:pPr indent="0" marL="0">
              <a:lnSpc>
                <a:spcPct val="105000"/>
              </a:lnSpc>
              <a:buNone/>
            </a:pPr>
            <a:r>
              <a:rPr lang="en-US" sz="1300" dirty="0">
                <a:solidFill>
                  <a:srgbClr val="E6EDF6"/>
                </a:solidFill>
                <a:latin typeface="Courier New" pitchFamily="34" charset="0"/>
                <a:ea typeface="Courier New" pitchFamily="34" charset="-122"/>
                <a:cs typeface="Courier New" pitchFamily="34" charset="-120"/>
              </a:rPr>
              <a:t>DB_HOST=localhost</a:t>
            </a:r>
            <a:endParaRPr lang="en-US" sz="1300" dirty="0"/>
          </a:p>
          <a:p>
            <a:pPr indent="0" marL="0">
              <a:lnSpc>
                <a:spcPct val="105000"/>
              </a:lnSpc>
              <a:buNone/>
            </a:pPr>
            <a:r>
              <a:rPr lang="en-US" sz="1300" dirty="0">
                <a:solidFill>
                  <a:srgbClr val="E6EDF6"/>
                </a:solidFill>
                <a:latin typeface="Courier New" pitchFamily="34" charset="0"/>
                <a:ea typeface="Courier New" pitchFamily="34" charset="-122"/>
                <a:cs typeface="Courier New" pitchFamily="34" charset="-120"/>
              </a:rPr>
              <a:t>DB_PORT=3306</a:t>
            </a:r>
            <a:endParaRPr lang="en-US" sz="1300" dirty="0"/>
          </a:p>
          <a:p>
            <a:pPr indent="0" marL="0">
              <a:lnSpc>
                <a:spcPct val="105000"/>
              </a:lnSpc>
              <a:buNone/>
            </a:pPr>
            <a:r>
              <a:rPr lang="en-US" sz="1300" dirty="0">
                <a:solidFill>
                  <a:srgbClr val="E6EDF6"/>
                </a:solidFill>
                <a:latin typeface="Courier New" pitchFamily="34" charset="0"/>
                <a:ea typeface="Courier New" pitchFamily="34" charset="-122"/>
                <a:cs typeface="Courier New" pitchFamily="34" charset="-120"/>
              </a:rPr>
              <a:t>DB_USER=portal</a:t>
            </a:r>
            <a:endParaRPr lang="en-US" sz="1300" dirty="0"/>
          </a:p>
          <a:p>
            <a:pPr indent="0" marL="0">
              <a:lnSpc>
                <a:spcPct val="105000"/>
              </a:lnSpc>
              <a:buNone/>
            </a:pPr>
            <a:r>
              <a:rPr lang="en-US" sz="1300" dirty="0">
                <a:solidFill>
                  <a:srgbClr val="E6EDF6"/>
                </a:solidFill>
                <a:latin typeface="Courier New" pitchFamily="34" charset="0"/>
                <a:ea typeface="Courier New" pitchFamily="34" charset="-122"/>
                <a:cs typeface="Courier New" pitchFamily="34" charset="-120"/>
              </a:rPr>
              <a:t>DB_PASSWORD=********</a:t>
            </a:r>
            <a:endParaRPr lang="en-US" sz="1300" dirty="0"/>
          </a:p>
          <a:p>
            <a:pPr indent="0" marL="0">
              <a:lnSpc>
                <a:spcPct val="105000"/>
              </a:lnSpc>
              <a:buNone/>
            </a:pPr>
            <a:r>
              <a:rPr lang="en-US" sz="1300" dirty="0">
                <a:solidFill>
                  <a:srgbClr val="E6EDF6"/>
                </a:solidFill>
                <a:latin typeface="Courier New" pitchFamily="34" charset="0"/>
                <a:ea typeface="Courier New" pitchFamily="34" charset="-122"/>
                <a:cs typeface="Courier New" pitchFamily="34" charset="-120"/>
              </a:rPr>
              <a:t>DB_NAME=dmiseu_chipata_campus</a:t>
            </a:r>
            <a:endParaRPr lang="en-US" sz="1300" dirty="0"/>
          </a:p>
          <a:p>
            <a:pPr indent="0" marL="0">
              <a:lnSpc>
                <a:spcPct val="105000"/>
              </a:lnSpc>
              <a:buNone/>
            </a:pPr>
            <a:r>
              <a:rPr lang="en-US" sz="1300" dirty="0">
                <a:solidFill>
                  <a:srgbClr val="E6EDF6"/>
                </a:solidFill>
                <a:latin typeface="Courier New" pitchFamily="34" charset="0"/>
                <a:ea typeface="Courier New" pitchFamily="34" charset="-122"/>
                <a:cs typeface="Courier New" pitchFamily="34" charset="-120"/>
              </a:rPr>
              <a:t>SECRET=&lt;long random string&gt;</a:t>
            </a:r>
            <a:endParaRPr lang="en-US" sz="1300" dirty="0"/>
          </a:p>
          <a:p>
            <a:pPr indent="0" marL="0">
              <a:lnSpc>
                <a:spcPct val="105000"/>
              </a:lnSpc>
              <a:buNone/>
            </a:pPr>
            <a:r>
              <a:rPr lang="en-US" sz="1300" dirty="0">
                <a:solidFill>
                  <a:srgbClr val="E6EDF6"/>
                </a:solidFill>
                <a:latin typeface="Courier New" pitchFamily="34" charset="0"/>
                <a:ea typeface="Courier New" pitchFamily="34" charset="-122"/>
                <a:cs typeface="Courier New" pitchFamily="34" charset="-120"/>
              </a:rPr>
              <a:t>PORT=3000</a:t>
            </a:r>
            <a:endParaRPr lang="en-US" sz="1300" dirty="0"/>
          </a:p>
          <a:p>
            <a:pPr indent="0" marL="0">
              <a:lnSpc>
                <a:spcPct val="105000"/>
              </a:lnSpc>
              <a:buNone/>
            </a:pPr>
            <a:endParaRPr lang="en-US" sz="1300" dirty="0"/>
          </a:p>
          <a:p>
            <a:pPr indent="0" marL="0">
              <a:lnSpc>
                <a:spcPct val="105000"/>
              </a:lnSpc>
              <a:buNone/>
            </a:pPr>
            <a:r>
              <a:rPr lang="en-US" sz="1300" dirty="0">
                <a:solidFill>
                  <a:srgbClr val="E6EDF6"/>
                </a:solidFill>
                <a:latin typeface="Courier New" pitchFamily="34" charset="0"/>
                <a:ea typeface="Courier New" pitchFamily="34" charset="-122"/>
                <a:cs typeface="Courier New" pitchFamily="34" charset="-120"/>
              </a:rPr>
              <a:t>$ npm install</a:t>
            </a:r>
            <a:endParaRPr lang="en-US" sz="1300" dirty="0"/>
          </a:p>
          <a:p>
            <a:pPr indent="0" marL="0">
              <a:lnSpc>
                <a:spcPct val="105000"/>
              </a:lnSpc>
              <a:buNone/>
            </a:pPr>
            <a:r>
              <a:rPr lang="en-US" sz="1300" dirty="0">
                <a:solidFill>
                  <a:srgbClr val="E6EDF6"/>
                </a:solidFill>
                <a:latin typeface="Courier New" pitchFamily="34" charset="0"/>
                <a:ea typeface="Courier New" pitchFamily="34" charset="-122"/>
                <a:cs typeface="Courier New" pitchFamily="34" charset="-120"/>
              </a:rPr>
              <a:t>$ node seeAdmin.js</a:t>
            </a:r>
            <a:endParaRPr lang="en-US" sz="1300" dirty="0"/>
          </a:p>
          <a:p>
            <a:pPr indent="0" marL="0">
              <a:lnSpc>
                <a:spcPct val="105000"/>
              </a:lnSpc>
              <a:buNone/>
            </a:pPr>
            <a:r>
              <a:rPr lang="en-US" sz="1300" dirty="0">
                <a:solidFill>
                  <a:srgbClr val="E6EDF6"/>
                </a:solidFill>
                <a:latin typeface="Courier New" pitchFamily="34" charset="0"/>
                <a:ea typeface="Courier New" pitchFamily="34" charset="-122"/>
                <a:cs typeface="Courier New" pitchFamily="34" charset="-120"/>
              </a:rPr>
              <a:t>$ npm start</a:t>
            </a:r>
            <a:endParaRPr lang="en-US" sz="1300" dirty="0"/>
          </a:p>
          <a:p>
            <a:pPr indent="0" marL="0">
              <a:lnSpc>
                <a:spcPct val="105000"/>
              </a:lnSpc>
              <a:buNone/>
            </a:pPr>
            <a:r>
              <a:rPr lang="en-US" sz="1300" dirty="0">
                <a:solidFill>
                  <a:srgbClr val="E6EDF6"/>
                </a:solidFill>
                <a:latin typeface="Courier New" pitchFamily="34" charset="0"/>
                <a:ea typeface="Courier New" pitchFamily="34" charset="-122"/>
                <a:cs typeface="Courier New" pitchFamily="34" charset="-120"/>
              </a:rPr>
              <a:t>Database ready.</a:t>
            </a:r>
            <a:endParaRPr lang="en-US" sz="1300" dirty="0"/>
          </a:p>
          <a:p>
            <a:pPr indent="0" marL="0">
              <a:lnSpc>
                <a:spcPct val="105000"/>
              </a:lnSpc>
              <a:buNone/>
            </a:pPr>
            <a:r>
              <a:rPr lang="en-US" sz="1300" dirty="0">
                <a:solidFill>
                  <a:srgbClr val="E6EDF6"/>
                </a:solidFill>
                <a:latin typeface="Courier New" pitchFamily="34" charset="0"/>
                <a:ea typeface="Courier New" pitchFamily="34" charset="-122"/>
                <a:cs typeface="Courier New" pitchFamily="34" charset="-120"/>
              </a:rPr>
              <a:t>Server running on port 3000</a:t>
            </a:r>
            <a:endParaRPr lang="en-US" sz="1300" dirty="0"/>
          </a:p>
        </p:txBody>
      </p:sp>
      <p:sp>
        <p:nvSpPr>
          <p:cNvPr id="25" name="card"/>
          <p:cNvSpPr/>
          <p:nvPr/>
        </p:nvSpPr>
        <p:spPr>
          <a:xfrm>
            <a:off x="6583680" y="5212080"/>
            <a:ext cx="5056632" cy="960120"/>
          </a:xfrm>
          <a:prstGeom prst="roundRect">
            <a:avLst>
              <a:gd name="adj" fmla="val 11429"/>
            </a:avLst>
          </a:prstGeom>
          <a:solidFill>
            <a:srgbClr val="EEF3F9"/>
          </a:solidFill>
          <a:ln w="12700">
            <a:solidFill>
              <a:srgbClr val="EEF3F9"/>
            </a:solidFill>
            <a:prstDash val="solid"/>
          </a:ln>
        </p:spPr>
      </p:sp>
      <p:sp>
        <p:nvSpPr>
          <p:cNvPr id="26" name="Text 24"/>
          <p:cNvSpPr txBox="1"/>
          <p:nvPr/>
        </p:nvSpPr>
        <p:spPr>
          <a:xfrm>
            <a:off x="6812280" y="5257800"/>
            <a:ext cx="4663440" cy="868680"/>
          </a:xfrm>
          <a:prstGeom prst="rect">
            <a:avLst/>
          </a:prstGeom>
          <a:noFill/>
          <a:ln/>
        </p:spPr>
        <p:txBody>
          <a:bodyPr wrap="square" lIns="0" tIns="0" rIns="0" bIns="0" rtlCol="0" anchor="ctr"/>
          <a:lstStyle/>
          <a:p>
            <a:pPr indent="0" marL="0">
              <a:buNone/>
            </a:pPr>
            <a:r>
              <a:rPr lang="en-US" sz="1300" b="1" dirty="0">
                <a:solidFill>
                  <a:srgbClr val="004080"/>
                </a:solidFill>
              </a:rPr>
              <a:t>Production: </a:t>
            </a:r>
            <a:pPr indent="0" marL="0">
              <a:buNone/>
            </a:pPr>
            <a:r>
              <a:rPr lang="en-US" sz="1300" dirty="0">
                <a:solidFill>
                  <a:srgbClr val="1A2433"/>
                </a:solidFill>
              </a:rPr>
              <a:t>run under a process manager (e.g. pm2) behind a reverse proxy with HTTPS; schedule mysqldump backups.</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Operation considerations</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3rd Review</a:t>
            </a:r>
            <a:endParaRPr lang="en-US" sz="1100" dirty="0"/>
          </a:p>
        </p:txBody>
      </p:sp>
      <p:sp>
        <p:nvSpPr>
          <p:cNvPr id="5" name="Text 3"/>
          <p:cNvSpPr txBox="1"/>
          <p:nvPr/>
        </p:nvSpPr>
        <p:spPr>
          <a:xfrm>
            <a:off x="548640" y="1371600"/>
            <a:ext cx="5486400" cy="365760"/>
          </a:xfrm>
          <a:prstGeom prst="rect">
            <a:avLst/>
          </a:prstGeom>
          <a:noFill/>
          <a:ln/>
        </p:spPr>
        <p:txBody>
          <a:bodyPr wrap="square" lIns="0" tIns="0" rIns="0" bIns="0" rtlCol="0" anchor="t"/>
          <a:lstStyle/>
          <a:p>
            <a:pPr indent="0" marL="0">
              <a:buNone/>
            </a:pPr>
            <a:r>
              <a:rPr lang="en-US" sz="1700" b="1" dirty="0">
                <a:solidFill>
                  <a:srgbClr val="0B2545"/>
                </a:solidFill>
              </a:rPr>
              <a:t>A semester on the portal</a:t>
            </a:r>
            <a:endParaRPr lang="en-US" sz="1700" dirty="0"/>
          </a:p>
        </p:txBody>
      </p:sp>
      <p:sp>
        <p:nvSpPr>
          <p:cNvPr id="6" name="icon circle"/>
          <p:cNvSpPr/>
          <p:nvPr/>
        </p:nvSpPr>
        <p:spPr>
          <a:xfrm>
            <a:off x="1234440" y="1874520"/>
            <a:ext cx="731520" cy="731520"/>
          </a:xfrm>
          <a:prstGeom prst="ellipse">
            <a:avLst/>
          </a:prstGeom>
          <a:solidFill>
            <a:srgbClr val="004080"/>
          </a:solidFill>
          <a:ln w="12700">
            <a:solidFill>
              <a:srgbClr val="004080"/>
            </a:solidFill>
            <a:prstDash val="solid"/>
          </a:ln>
        </p:spPr>
      </p:sp>
      <p:pic>
        <p:nvPicPr>
          <p:cNvPr id="7" name="Image 0" descr="FaDoorOpen">    </p:cNvPr>
          <p:cNvPicPr>
            <a:picLocks noChangeAspect="1"/>
          </p:cNvPicPr>
          <p:nvPr/>
        </p:nvPicPr>
        <p:blipFill>
          <a:blip r:embed="rId1"/>
          <a:stretch>
            <a:fillRect/>
          </a:stretch>
        </p:blipFill>
        <p:spPr>
          <a:xfrm>
            <a:off x="1410005" y="2050085"/>
            <a:ext cx="380390" cy="380390"/>
          </a:xfrm>
          <a:prstGeom prst="rect">
            <a:avLst/>
          </a:prstGeom>
        </p:spPr>
      </p:pic>
      <p:sp>
        <p:nvSpPr>
          <p:cNvPr id="8" name="Text 5"/>
          <p:cNvSpPr txBox="1"/>
          <p:nvPr/>
        </p:nvSpPr>
        <p:spPr>
          <a:xfrm>
            <a:off x="548640" y="2697480"/>
            <a:ext cx="2103120" cy="320040"/>
          </a:xfrm>
          <a:prstGeom prst="rect">
            <a:avLst/>
          </a:prstGeom>
          <a:noFill/>
          <a:ln/>
        </p:spPr>
        <p:txBody>
          <a:bodyPr wrap="square" lIns="0" tIns="0" rIns="0" bIns="0" rtlCol="0" anchor="t"/>
          <a:lstStyle/>
          <a:p>
            <a:pPr algn="ctr" indent="0" marL="0">
              <a:buNone/>
            </a:pPr>
            <a:r>
              <a:rPr lang="en-US" sz="1500" b="1" dirty="0">
                <a:solidFill>
                  <a:srgbClr val="0B2545"/>
                </a:solidFill>
              </a:rPr>
              <a:t>Open registration</a:t>
            </a:r>
            <a:endParaRPr lang="en-US" sz="1500" dirty="0"/>
          </a:p>
        </p:txBody>
      </p:sp>
      <p:sp>
        <p:nvSpPr>
          <p:cNvPr id="9" name="Text 6"/>
          <p:cNvSpPr txBox="1"/>
          <p:nvPr/>
        </p:nvSpPr>
        <p:spPr>
          <a:xfrm>
            <a:off x="640080" y="3017520"/>
            <a:ext cx="1920240" cy="640080"/>
          </a:xfrm>
          <a:prstGeom prst="rect">
            <a:avLst/>
          </a:prstGeom>
          <a:noFill/>
          <a:ln/>
        </p:spPr>
        <p:txBody>
          <a:bodyPr wrap="square" lIns="0" tIns="0" rIns="0" bIns="0" rtlCol="0" anchor="t"/>
          <a:lstStyle/>
          <a:p>
            <a:pPr algn="ctr" indent="0" marL="0">
              <a:buNone/>
            </a:pPr>
            <a:r>
              <a:rPr lang="en-US" sz="1200" dirty="0">
                <a:solidFill>
                  <a:srgbClr val="1A2433"/>
                </a:solidFill>
              </a:rPr>
              <a:t>Registrar opens a window (40% fees)</a:t>
            </a:r>
            <a:endParaRPr lang="en-US" sz="1200" dirty="0"/>
          </a:p>
        </p:txBody>
      </p:sp>
      <p:sp>
        <p:nvSpPr>
          <p:cNvPr id="10" name="connector"/>
          <p:cNvSpPr/>
          <p:nvPr/>
        </p:nvSpPr>
        <p:spPr>
          <a:xfrm>
            <a:off x="2057400" y="2240280"/>
            <a:ext cx="1325880" cy="914"/>
          </a:xfrm>
          <a:prstGeom prst="line">
            <a:avLst/>
          </a:prstGeom>
          <a:noFill/>
          <a:ln w="15875">
            <a:solidFill>
              <a:srgbClr val="5B7A99"/>
            </a:solidFill>
            <a:prstDash val="solid"/>
            <a:tailEnd type="triangle"/>
          </a:ln>
        </p:spPr>
      </p:sp>
      <p:sp>
        <p:nvSpPr>
          <p:cNvPr id="11" name="icon circle"/>
          <p:cNvSpPr/>
          <p:nvPr/>
        </p:nvSpPr>
        <p:spPr>
          <a:xfrm>
            <a:off x="3474720" y="1874520"/>
            <a:ext cx="731520" cy="731520"/>
          </a:xfrm>
          <a:prstGeom prst="ellipse">
            <a:avLst/>
          </a:prstGeom>
          <a:solidFill>
            <a:srgbClr val="E3A83B"/>
          </a:solidFill>
          <a:ln w="12700">
            <a:solidFill>
              <a:srgbClr val="E3A83B"/>
            </a:solidFill>
            <a:prstDash val="solid"/>
          </a:ln>
        </p:spPr>
      </p:sp>
      <p:pic>
        <p:nvPicPr>
          <p:cNvPr id="12" name="Image 1" descr="FaClipboardCheck">    </p:cNvPr>
          <p:cNvPicPr>
            <a:picLocks noChangeAspect="1"/>
          </p:cNvPicPr>
          <p:nvPr/>
        </p:nvPicPr>
        <p:blipFill>
          <a:blip r:embed="rId2"/>
          <a:stretch>
            <a:fillRect/>
          </a:stretch>
        </p:blipFill>
        <p:spPr>
          <a:xfrm>
            <a:off x="3650285" y="2050085"/>
            <a:ext cx="380390" cy="380390"/>
          </a:xfrm>
          <a:prstGeom prst="rect">
            <a:avLst/>
          </a:prstGeom>
        </p:spPr>
      </p:pic>
      <p:sp>
        <p:nvSpPr>
          <p:cNvPr id="13" name="Text 9"/>
          <p:cNvSpPr txBox="1"/>
          <p:nvPr/>
        </p:nvSpPr>
        <p:spPr>
          <a:xfrm>
            <a:off x="2788920" y="2697480"/>
            <a:ext cx="2103120" cy="320040"/>
          </a:xfrm>
          <a:prstGeom prst="rect">
            <a:avLst/>
          </a:prstGeom>
          <a:noFill/>
          <a:ln/>
        </p:spPr>
        <p:txBody>
          <a:bodyPr wrap="square" lIns="0" tIns="0" rIns="0" bIns="0" rtlCol="0" anchor="t"/>
          <a:lstStyle/>
          <a:p>
            <a:pPr algn="ctr" indent="0" marL="0">
              <a:buNone/>
            </a:pPr>
            <a:r>
              <a:rPr lang="en-US" sz="1500" b="1" dirty="0">
                <a:solidFill>
                  <a:srgbClr val="0B2545"/>
                </a:solidFill>
              </a:rPr>
              <a:t>Approve</a:t>
            </a:r>
            <a:endParaRPr lang="en-US" sz="1500" dirty="0"/>
          </a:p>
        </p:txBody>
      </p:sp>
      <p:sp>
        <p:nvSpPr>
          <p:cNvPr id="14" name="Text 10"/>
          <p:cNvSpPr txBox="1"/>
          <p:nvPr/>
        </p:nvSpPr>
        <p:spPr>
          <a:xfrm>
            <a:off x="2880360" y="3017520"/>
            <a:ext cx="1920240" cy="640080"/>
          </a:xfrm>
          <a:prstGeom prst="rect">
            <a:avLst/>
          </a:prstGeom>
          <a:noFill/>
          <a:ln/>
        </p:spPr>
        <p:txBody>
          <a:bodyPr wrap="square" lIns="0" tIns="0" rIns="0" bIns="0" rtlCol="0" anchor="t"/>
          <a:lstStyle/>
          <a:p>
            <a:pPr algn="ctr" indent="0" marL="0">
              <a:buNone/>
            </a:pPr>
            <a:r>
              <a:rPr lang="en-US" sz="1200" dirty="0">
                <a:solidFill>
                  <a:srgbClr val="1A2433"/>
                </a:solidFill>
              </a:rPr>
              <a:t>Accounts → Advisor → HOD → DoS → Dean</a:t>
            </a:r>
            <a:endParaRPr lang="en-US" sz="1200" dirty="0"/>
          </a:p>
        </p:txBody>
      </p:sp>
      <p:sp>
        <p:nvSpPr>
          <p:cNvPr id="15" name="connector"/>
          <p:cNvSpPr/>
          <p:nvPr/>
        </p:nvSpPr>
        <p:spPr>
          <a:xfrm>
            <a:off x="4297680" y="2240280"/>
            <a:ext cx="1325880" cy="914"/>
          </a:xfrm>
          <a:prstGeom prst="line">
            <a:avLst/>
          </a:prstGeom>
          <a:noFill/>
          <a:ln w="15875">
            <a:solidFill>
              <a:srgbClr val="5B7A99"/>
            </a:solidFill>
            <a:prstDash val="solid"/>
            <a:tailEnd type="triangle"/>
          </a:ln>
        </p:spPr>
      </p:sp>
      <p:sp>
        <p:nvSpPr>
          <p:cNvPr id="16" name="icon circle"/>
          <p:cNvSpPr/>
          <p:nvPr/>
        </p:nvSpPr>
        <p:spPr>
          <a:xfrm>
            <a:off x="5715000" y="1874520"/>
            <a:ext cx="731520" cy="731520"/>
          </a:xfrm>
          <a:prstGeom prst="ellipse">
            <a:avLst/>
          </a:prstGeom>
          <a:solidFill>
            <a:srgbClr val="004080"/>
          </a:solidFill>
          <a:ln w="12700">
            <a:solidFill>
              <a:srgbClr val="004080"/>
            </a:solidFill>
            <a:prstDash val="solid"/>
          </a:ln>
        </p:spPr>
      </p:sp>
      <p:pic>
        <p:nvPicPr>
          <p:cNvPr id="17" name="Image 2" descr="FaCalendarAlt">    </p:cNvPr>
          <p:cNvPicPr>
            <a:picLocks noChangeAspect="1"/>
          </p:cNvPicPr>
          <p:nvPr/>
        </p:nvPicPr>
        <p:blipFill>
          <a:blip r:embed="rId3"/>
          <a:stretch>
            <a:fillRect/>
          </a:stretch>
        </p:blipFill>
        <p:spPr>
          <a:xfrm>
            <a:off x="5890565" y="2050085"/>
            <a:ext cx="380390" cy="380390"/>
          </a:xfrm>
          <a:prstGeom prst="rect">
            <a:avLst/>
          </a:prstGeom>
        </p:spPr>
      </p:pic>
      <p:sp>
        <p:nvSpPr>
          <p:cNvPr id="18" name="Text 13"/>
          <p:cNvSpPr txBox="1"/>
          <p:nvPr/>
        </p:nvSpPr>
        <p:spPr>
          <a:xfrm>
            <a:off x="5029200" y="2697480"/>
            <a:ext cx="2103120" cy="320040"/>
          </a:xfrm>
          <a:prstGeom prst="rect">
            <a:avLst/>
          </a:prstGeom>
          <a:noFill/>
          <a:ln/>
        </p:spPr>
        <p:txBody>
          <a:bodyPr wrap="square" lIns="0" tIns="0" rIns="0" bIns="0" rtlCol="0" anchor="t"/>
          <a:lstStyle/>
          <a:p>
            <a:pPr algn="ctr" indent="0" marL="0">
              <a:buNone/>
            </a:pPr>
            <a:r>
              <a:rPr lang="en-US" sz="1500" b="1" dirty="0">
                <a:solidFill>
                  <a:srgbClr val="0B2545"/>
                </a:solidFill>
              </a:rPr>
              <a:t>Set exams</a:t>
            </a:r>
            <a:endParaRPr lang="en-US" sz="1500" dirty="0"/>
          </a:p>
        </p:txBody>
      </p:sp>
      <p:sp>
        <p:nvSpPr>
          <p:cNvPr id="19" name="Text 14"/>
          <p:cNvSpPr txBox="1"/>
          <p:nvPr/>
        </p:nvSpPr>
        <p:spPr>
          <a:xfrm>
            <a:off x="5120640" y="3017520"/>
            <a:ext cx="1920240" cy="640080"/>
          </a:xfrm>
          <a:prstGeom prst="rect">
            <a:avLst/>
          </a:prstGeom>
          <a:noFill/>
          <a:ln/>
        </p:spPr>
        <p:txBody>
          <a:bodyPr wrap="square" lIns="0" tIns="0" rIns="0" bIns="0" rtlCol="0" anchor="t"/>
          <a:lstStyle/>
          <a:p>
            <a:pPr algn="ctr" indent="0" marL="0">
              <a:buNone/>
            </a:pPr>
            <a:r>
              <a:rPr lang="en-US" sz="1200" dirty="0">
                <a:solidFill>
                  <a:srgbClr val="1A2433"/>
                </a:solidFill>
              </a:rPr>
              <a:t>Session + timetable per programme &amp; semester</a:t>
            </a:r>
            <a:endParaRPr lang="en-US" sz="1200" dirty="0"/>
          </a:p>
        </p:txBody>
      </p:sp>
      <p:sp>
        <p:nvSpPr>
          <p:cNvPr id="20" name="connector"/>
          <p:cNvSpPr/>
          <p:nvPr/>
        </p:nvSpPr>
        <p:spPr>
          <a:xfrm>
            <a:off x="6537960" y="2240280"/>
            <a:ext cx="1325880" cy="914"/>
          </a:xfrm>
          <a:prstGeom prst="line">
            <a:avLst/>
          </a:prstGeom>
          <a:noFill/>
          <a:ln w="15875">
            <a:solidFill>
              <a:srgbClr val="5B7A99"/>
            </a:solidFill>
            <a:prstDash val="solid"/>
            <a:tailEnd type="triangle"/>
          </a:ln>
        </p:spPr>
      </p:sp>
      <p:sp>
        <p:nvSpPr>
          <p:cNvPr id="21" name="icon circle"/>
          <p:cNvSpPr/>
          <p:nvPr/>
        </p:nvSpPr>
        <p:spPr>
          <a:xfrm>
            <a:off x="7955280" y="1874520"/>
            <a:ext cx="731520" cy="731520"/>
          </a:xfrm>
          <a:prstGeom prst="ellipse">
            <a:avLst/>
          </a:prstGeom>
          <a:solidFill>
            <a:srgbClr val="E3A83B"/>
          </a:solidFill>
          <a:ln w="12700">
            <a:solidFill>
              <a:srgbClr val="E3A83B"/>
            </a:solidFill>
            <a:prstDash val="solid"/>
          </a:ln>
        </p:spPr>
      </p:sp>
      <p:pic>
        <p:nvPicPr>
          <p:cNvPr id="22" name="Image 3" descr="FaIdCard">    </p:cNvPr>
          <p:cNvPicPr>
            <a:picLocks noChangeAspect="1"/>
          </p:cNvPicPr>
          <p:nvPr/>
        </p:nvPicPr>
        <p:blipFill>
          <a:blip r:embed="rId4"/>
          <a:stretch>
            <a:fillRect/>
          </a:stretch>
        </p:blipFill>
        <p:spPr>
          <a:xfrm>
            <a:off x="8130845" y="2050085"/>
            <a:ext cx="380390" cy="380390"/>
          </a:xfrm>
          <a:prstGeom prst="rect">
            <a:avLst/>
          </a:prstGeom>
        </p:spPr>
      </p:pic>
      <p:sp>
        <p:nvSpPr>
          <p:cNvPr id="23" name="Text 17"/>
          <p:cNvSpPr txBox="1"/>
          <p:nvPr/>
        </p:nvSpPr>
        <p:spPr>
          <a:xfrm>
            <a:off x="7269480" y="2697480"/>
            <a:ext cx="2103120" cy="320040"/>
          </a:xfrm>
          <a:prstGeom prst="rect">
            <a:avLst/>
          </a:prstGeom>
          <a:noFill/>
          <a:ln/>
        </p:spPr>
        <p:txBody>
          <a:bodyPr wrap="square" lIns="0" tIns="0" rIns="0" bIns="0" rtlCol="0" anchor="t"/>
          <a:lstStyle/>
          <a:p>
            <a:pPr algn="ctr" indent="0" marL="0">
              <a:buNone/>
            </a:pPr>
            <a:r>
              <a:rPr lang="en-US" sz="1500" b="1" dirty="0">
                <a:solidFill>
                  <a:srgbClr val="0B2545"/>
                </a:solidFill>
              </a:rPr>
              <a:t>Clear &amp; print</a:t>
            </a:r>
            <a:endParaRPr lang="en-US" sz="1500" dirty="0"/>
          </a:p>
        </p:txBody>
      </p:sp>
      <p:sp>
        <p:nvSpPr>
          <p:cNvPr id="24" name="Text 18"/>
          <p:cNvSpPr txBox="1"/>
          <p:nvPr/>
        </p:nvSpPr>
        <p:spPr>
          <a:xfrm>
            <a:off x="7360920" y="3017520"/>
            <a:ext cx="1920240" cy="640080"/>
          </a:xfrm>
          <a:prstGeom prst="rect">
            <a:avLst/>
          </a:prstGeom>
          <a:noFill/>
          <a:ln/>
        </p:spPr>
        <p:txBody>
          <a:bodyPr wrap="square" lIns="0" tIns="0" rIns="0" bIns="0" rtlCol="0" anchor="t"/>
          <a:lstStyle/>
          <a:p>
            <a:pPr algn="ctr" indent="0" marL="0">
              <a:buNone/>
            </a:pPr>
            <a:r>
              <a:rPr lang="en-US" sz="1200" dirty="0">
                <a:solidFill>
                  <a:srgbClr val="1A2433"/>
                </a:solidFill>
              </a:rPr>
              <a:t>75% fees + 6 approvals → hall ticket</a:t>
            </a:r>
            <a:endParaRPr lang="en-US" sz="1200" dirty="0"/>
          </a:p>
        </p:txBody>
      </p:sp>
      <p:sp>
        <p:nvSpPr>
          <p:cNvPr id="25" name="connector"/>
          <p:cNvSpPr/>
          <p:nvPr/>
        </p:nvSpPr>
        <p:spPr>
          <a:xfrm>
            <a:off x="8778240" y="2240280"/>
            <a:ext cx="1325880" cy="914"/>
          </a:xfrm>
          <a:prstGeom prst="line">
            <a:avLst/>
          </a:prstGeom>
          <a:noFill/>
          <a:ln w="15875">
            <a:solidFill>
              <a:srgbClr val="5B7A99"/>
            </a:solidFill>
            <a:prstDash val="solid"/>
            <a:tailEnd type="triangle"/>
          </a:ln>
        </p:spPr>
      </p:sp>
      <p:sp>
        <p:nvSpPr>
          <p:cNvPr id="26" name="icon circle"/>
          <p:cNvSpPr/>
          <p:nvPr/>
        </p:nvSpPr>
        <p:spPr>
          <a:xfrm>
            <a:off x="10195560" y="1874520"/>
            <a:ext cx="731520" cy="731520"/>
          </a:xfrm>
          <a:prstGeom prst="ellipse">
            <a:avLst/>
          </a:prstGeom>
          <a:solidFill>
            <a:srgbClr val="004080"/>
          </a:solidFill>
          <a:ln w="12700">
            <a:solidFill>
              <a:srgbClr val="004080"/>
            </a:solidFill>
            <a:prstDash val="solid"/>
          </a:ln>
        </p:spPr>
      </p:sp>
      <p:pic>
        <p:nvPicPr>
          <p:cNvPr id="27" name="Image 4" descr="FaChartLine">    </p:cNvPr>
          <p:cNvPicPr>
            <a:picLocks noChangeAspect="1"/>
          </p:cNvPicPr>
          <p:nvPr/>
        </p:nvPicPr>
        <p:blipFill>
          <a:blip r:embed="rId5"/>
          <a:stretch>
            <a:fillRect/>
          </a:stretch>
        </p:blipFill>
        <p:spPr>
          <a:xfrm>
            <a:off x="10371125" y="2050085"/>
            <a:ext cx="380390" cy="380390"/>
          </a:xfrm>
          <a:prstGeom prst="rect">
            <a:avLst/>
          </a:prstGeom>
        </p:spPr>
      </p:pic>
      <p:sp>
        <p:nvSpPr>
          <p:cNvPr id="28" name="Text 21"/>
          <p:cNvSpPr txBox="1"/>
          <p:nvPr/>
        </p:nvSpPr>
        <p:spPr>
          <a:xfrm>
            <a:off x="9509760" y="2697480"/>
            <a:ext cx="2103120" cy="320040"/>
          </a:xfrm>
          <a:prstGeom prst="rect">
            <a:avLst/>
          </a:prstGeom>
          <a:noFill/>
          <a:ln/>
        </p:spPr>
        <p:txBody>
          <a:bodyPr wrap="square" lIns="0" tIns="0" rIns="0" bIns="0" rtlCol="0" anchor="t"/>
          <a:lstStyle/>
          <a:p>
            <a:pPr algn="ctr" indent="0" marL="0">
              <a:buNone/>
            </a:pPr>
            <a:r>
              <a:rPr lang="en-US" sz="1500" b="1" dirty="0">
                <a:solidFill>
                  <a:srgbClr val="0B2545"/>
                </a:solidFill>
              </a:rPr>
              <a:t>Results</a:t>
            </a:r>
            <a:endParaRPr lang="en-US" sz="1500" dirty="0"/>
          </a:p>
        </p:txBody>
      </p:sp>
      <p:sp>
        <p:nvSpPr>
          <p:cNvPr id="29" name="Text 22"/>
          <p:cNvSpPr txBox="1"/>
          <p:nvPr/>
        </p:nvSpPr>
        <p:spPr>
          <a:xfrm>
            <a:off x="9601200" y="3017520"/>
            <a:ext cx="1920240" cy="640080"/>
          </a:xfrm>
          <a:prstGeom prst="rect">
            <a:avLst/>
          </a:prstGeom>
          <a:noFill/>
          <a:ln/>
        </p:spPr>
        <p:txBody>
          <a:bodyPr wrap="square" lIns="0" tIns="0" rIns="0" bIns="0" rtlCol="0" anchor="t"/>
          <a:lstStyle/>
          <a:p>
            <a:pPr algn="ctr" indent="0" marL="0">
              <a:buNone/>
            </a:pPr>
            <a:r>
              <a:rPr lang="en-US" sz="1200" dirty="0">
                <a:solidFill>
                  <a:srgbClr val="1A2433"/>
                </a:solidFill>
              </a:rPr>
              <a:t>Lecturers publish marks; grades computed</a:t>
            </a:r>
            <a:endParaRPr lang="en-US" sz="1200" dirty="0"/>
          </a:p>
        </p:txBody>
      </p:sp>
      <p:sp>
        <p:nvSpPr>
          <p:cNvPr id="30" name="card"/>
          <p:cNvSpPr/>
          <p:nvPr/>
        </p:nvSpPr>
        <p:spPr>
          <a:xfrm>
            <a:off x="548640" y="3977640"/>
            <a:ext cx="2606040" cy="2194560"/>
          </a:xfrm>
          <a:prstGeom prst="roundRect">
            <a:avLst>
              <a:gd name="adj" fmla="val 5000"/>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31" name="icon circle"/>
          <p:cNvSpPr/>
          <p:nvPr/>
        </p:nvSpPr>
        <p:spPr>
          <a:xfrm>
            <a:off x="777240" y="4206240"/>
            <a:ext cx="502920" cy="502920"/>
          </a:xfrm>
          <a:prstGeom prst="ellipse">
            <a:avLst/>
          </a:prstGeom>
          <a:solidFill>
            <a:srgbClr val="004080"/>
          </a:solidFill>
          <a:ln w="12700">
            <a:solidFill>
              <a:srgbClr val="004080"/>
            </a:solidFill>
            <a:prstDash val="solid"/>
          </a:ln>
        </p:spPr>
      </p:sp>
      <p:pic>
        <p:nvPicPr>
          <p:cNvPr id="32" name="Image 5" descr="FaUserCog">    </p:cNvPr>
          <p:cNvPicPr>
            <a:picLocks noChangeAspect="1"/>
          </p:cNvPicPr>
          <p:nvPr/>
        </p:nvPicPr>
        <p:blipFill>
          <a:blip r:embed="rId6"/>
          <a:stretch>
            <a:fillRect/>
          </a:stretch>
        </p:blipFill>
        <p:spPr>
          <a:xfrm>
            <a:off x="897941" y="4326941"/>
            <a:ext cx="261518" cy="261518"/>
          </a:xfrm>
          <a:prstGeom prst="rect">
            <a:avLst/>
          </a:prstGeom>
        </p:spPr>
      </p:pic>
      <p:sp>
        <p:nvSpPr>
          <p:cNvPr id="33" name="Text 25"/>
          <p:cNvSpPr txBox="1"/>
          <p:nvPr/>
        </p:nvSpPr>
        <p:spPr>
          <a:xfrm>
            <a:off x="1417320" y="4279392"/>
            <a:ext cx="1645920" cy="365760"/>
          </a:xfrm>
          <a:prstGeom prst="rect">
            <a:avLst/>
          </a:prstGeom>
          <a:noFill/>
          <a:ln/>
        </p:spPr>
        <p:txBody>
          <a:bodyPr wrap="square" lIns="0" tIns="0" rIns="0" bIns="0" rtlCol="0" anchor="t"/>
          <a:lstStyle/>
          <a:p>
            <a:pPr indent="0" marL="0">
              <a:buNone/>
            </a:pPr>
            <a:r>
              <a:rPr lang="en-US" sz="1500" b="1" dirty="0">
                <a:solidFill>
                  <a:srgbClr val="0B2545"/>
                </a:solidFill>
              </a:rPr>
              <a:t>People &amp; roles</a:t>
            </a:r>
            <a:endParaRPr lang="en-US" sz="1500" dirty="0"/>
          </a:p>
        </p:txBody>
      </p:sp>
      <p:sp>
        <p:nvSpPr>
          <p:cNvPr id="34" name="Text 26"/>
          <p:cNvSpPr txBox="1"/>
          <p:nvPr/>
        </p:nvSpPr>
        <p:spPr>
          <a:xfrm>
            <a:off x="777240" y="4846320"/>
            <a:ext cx="2194560" cy="1234440"/>
          </a:xfrm>
          <a:prstGeom prst="rect">
            <a:avLst/>
          </a:prstGeom>
          <a:noFill/>
          <a:ln/>
        </p:spPr>
        <p:txBody>
          <a:bodyPr wrap="square" lIns="0" tIns="0" rIns="0" bIns="0" rtlCol="0" anchor="t"/>
          <a:lstStyle/>
          <a:p>
            <a:pPr indent="0" marL="0">
              <a:buNone/>
            </a:pPr>
            <a:r>
              <a:rPr lang="en-US" sz="1300" dirty="0">
                <a:solidFill>
                  <a:srgbClr val="1A2433"/>
                </a:solidFill>
              </a:rPr>
              <a:t>Approve staff accounts with the right role; assign HODs and lecturers to their school.</a:t>
            </a:r>
            <a:endParaRPr lang="en-US" sz="1300" dirty="0"/>
          </a:p>
        </p:txBody>
      </p:sp>
      <p:sp>
        <p:nvSpPr>
          <p:cNvPr id="35" name="card"/>
          <p:cNvSpPr/>
          <p:nvPr/>
        </p:nvSpPr>
        <p:spPr>
          <a:xfrm>
            <a:off x="3364992" y="3977640"/>
            <a:ext cx="2606040" cy="2194560"/>
          </a:xfrm>
          <a:prstGeom prst="roundRect">
            <a:avLst>
              <a:gd name="adj" fmla="val 5000"/>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36" name="icon circle"/>
          <p:cNvSpPr/>
          <p:nvPr/>
        </p:nvSpPr>
        <p:spPr>
          <a:xfrm>
            <a:off x="3593592" y="4206240"/>
            <a:ext cx="502920" cy="502920"/>
          </a:xfrm>
          <a:prstGeom prst="ellipse">
            <a:avLst/>
          </a:prstGeom>
          <a:solidFill>
            <a:srgbClr val="004080"/>
          </a:solidFill>
          <a:ln w="12700">
            <a:solidFill>
              <a:srgbClr val="004080"/>
            </a:solidFill>
            <a:prstDash val="solid"/>
          </a:ln>
        </p:spPr>
      </p:sp>
      <p:pic>
        <p:nvPicPr>
          <p:cNvPr id="37" name="Image 6" descr="FaChalkboardTeacher">    </p:cNvPr>
          <p:cNvPicPr>
            <a:picLocks noChangeAspect="1"/>
          </p:cNvPicPr>
          <p:nvPr/>
        </p:nvPicPr>
        <p:blipFill>
          <a:blip r:embed="rId7"/>
          <a:stretch>
            <a:fillRect/>
          </a:stretch>
        </p:blipFill>
        <p:spPr>
          <a:xfrm>
            <a:off x="3714293" y="4326941"/>
            <a:ext cx="261518" cy="261518"/>
          </a:xfrm>
          <a:prstGeom prst="rect">
            <a:avLst/>
          </a:prstGeom>
        </p:spPr>
      </p:pic>
      <p:sp>
        <p:nvSpPr>
          <p:cNvPr id="38" name="Text 29"/>
          <p:cNvSpPr txBox="1"/>
          <p:nvPr/>
        </p:nvSpPr>
        <p:spPr>
          <a:xfrm>
            <a:off x="4233672" y="4279392"/>
            <a:ext cx="1645920" cy="365760"/>
          </a:xfrm>
          <a:prstGeom prst="rect">
            <a:avLst/>
          </a:prstGeom>
          <a:noFill/>
          <a:ln/>
        </p:spPr>
        <p:txBody>
          <a:bodyPr wrap="square" lIns="0" tIns="0" rIns="0" bIns="0" rtlCol="0" anchor="t"/>
          <a:lstStyle/>
          <a:p>
            <a:pPr indent="0" marL="0">
              <a:buNone/>
            </a:pPr>
            <a:r>
              <a:rPr lang="en-US" sz="1500" b="1" dirty="0">
                <a:solidFill>
                  <a:srgbClr val="0B2545"/>
                </a:solidFill>
              </a:rPr>
              <a:t>Training</a:t>
            </a:r>
            <a:endParaRPr lang="en-US" sz="1500" dirty="0"/>
          </a:p>
        </p:txBody>
      </p:sp>
      <p:sp>
        <p:nvSpPr>
          <p:cNvPr id="39" name="Text 30"/>
          <p:cNvSpPr txBox="1"/>
          <p:nvPr/>
        </p:nvSpPr>
        <p:spPr>
          <a:xfrm>
            <a:off x="3593592" y="4846320"/>
            <a:ext cx="2194560" cy="1234440"/>
          </a:xfrm>
          <a:prstGeom prst="rect">
            <a:avLst/>
          </a:prstGeom>
          <a:noFill/>
          <a:ln/>
        </p:spPr>
        <p:txBody>
          <a:bodyPr wrap="square" lIns="0" tIns="0" rIns="0" bIns="0" rtlCol="0" anchor="t"/>
          <a:lstStyle/>
          <a:p>
            <a:pPr indent="0" marL="0">
              <a:buNone/>
            </a:pPr>
            <a:r>
              <a:rPr lang="en-US" sz="1300" dirty="0">
                <a:solidFill>
                  <a:srgbClr val="1A2433"/>
                </a:solidFill>
              </a:rPr>
              <a:t>Short sessions per office; students need only the Registration, Fees and Exams tabs.</a:t>
            </a:r>
            <a:endParaRPr lang="en-US" sz="1300" dirty="0"/>
          </a:p>
        </p:txBody>
      </p:sp>
      <p:sp>
        <p:nvSpPr>
          <p:cNvPr id="40" name="card"/>
          <p:cNvSpPr/>
          <p:nvPr/>
        </p:nvSpPr>
        <p:spPr>
          <a:xfrm>
            <a:off x="6181344" y="3977640"/>
            <a:ext cx="2606040" cy="2194560"/>
          </a:xfrm>
          <a:prstGeom prst="roundRect">
            <a:avLst>
              <a:gd name="adj" fmla="val 5000"/>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41" name="icon circle"/>
          <p:cNvSpPr/>
          <p:nvPr/>
        </p:nvSpPr>
        <p:spPr>
          <a:xfrm>
            <a:off x="6409944" y="4206240"/>
            <a:ext cx="502920" cy="502920"/>
          </a:xfrm>
          <a:prstGeom prst="ellipse">
            <a:avLst/>
          </a:prstGeom>
          <a:solidFill>
            <a:srgbClr val="004080"/>
          </a:solidFill>
          <a:ln w="12700">
            <a:solidFill>
              <a:srgbClr val="004080"/>
            </a:solidFill>
            <a:prstDash val="solid"/>
          </a:ln>
        </p:spPr>
      </p:sp>
      <p:pic>
        <p:nvPicPr>
          <p:cNvPr id="42" name="Image 7" descr="FaWifi">    </p:cNvPr>
          <p:cNvPicPr>
            <a:picLocks noChangeAspect="1"/>
          </p:cNvPicPr>
          <p:nvPr/>
        </p:nvPicPr>
        <p:blipFill>
          <a:blip r:embed="rId8"/>
          <a:stretch>
            <a:fillRect/>
          </a:stretch>
        </p:blipFill>
        <p:spPr>
          <a:xfrm>
            <a:off x="6530645" y="4326941"/>
            <a:ext cx="261518" cy="261518"/>
          </a:xfrm>
          <a:prstGeom prst="rect">
            <a:avLst/>
          </a:prstGeom>
        </p:spPr>
      </p:pic>
      <p:sp>
        <p:nvSpPr>
          <p:cNvPr id="43" name="Text 33"/>
          <p:cNvSpPr txBox="1"/>
          <p:nvPr/>
        </p:nvSpPr>
        <p:spPr>
          <a:xfrm>
            <a:off x="7050024" y="4279392"/>
            <a:ext cx="1645920" cy="365760"/>
          </a:xfrm>
          <a:prstGeom prst="rect">
            <a:avLst/>
          </a:prstGeom>
          <a:noFill/>
          <a:ln/>
        </p:spPr>
        <p:txBody>
          <a:bodyPr wrap="square" lIns="0" tIns="0" rIns="0" bIns="0" rtlCol="0" anchor="t"/>
          <a:lstStyle/>
          <a:p>
            <a:pPr indent="0" marL="0">
              <a:buNone/>
            </a:pPr>
            <a:r>
              <a:rPr lang="en-US" sz="1500" b="1" dirty="0">
                <a:solidFill>
                  <a:srgbClr val="0B2545"/>
                </a:solidFill>
              </a:rPr>
              <a:t>Connectivity</a:t>
            </a:r>
            <a:endParaRPr lang="en-US" sz="1500" dirty="0"/>
          </a:p>
        </p:txBody>
      </p:sp>
      <p:sp>
        <p:nvSpPr>
          <p:cNvPr id="44" name="Text 34"/>
          <p:cNvSpPr txBox="1"/>
          <p:nvPr/>
        </p:nvSpPr>
        <p:spPr>
          <a:xfrm>
            <a:off x="6409944" y="4846320"/>
            <a:ext cx="2194560" cy="1234440"/>
          </a:xfrm>
          <a:prstGeom prst="rect">
            <a:avLst/>
          </a:prstGeom>
          <a:noFill/>
          <a:ln/>
        </p:spPr>
        <p:txBody>
          <a:bodyPr wrap="square" lIns="0" tIns="0" rIns="0" bIns="0" rtlCol="0" anchor="t"/>
          <a:lstStyle/>
          <a:p>
            <a:pPr indent="0" marL="0">
              <a:buNone/>
            </a:pPr>
            <a:r>
              <a:rPr lang="en-US" sz="1300" dirty="0">
                <a:solidFill>
                  <a:srgbClr val="1A2433"/>
                </a:solidFill>
              </a:rPr>
              <a:t>Light pages keep data use low; host on a reliable server or campus LAN.</a:t>
            </a:r>
            <a:endParaRPr lang="en-US" sz="1300" dirty="0"/>
          </a:p>
        </p:txBody>
      </p:sp>
      <p:sp>
        <p:nvSpPr>
          <p:cNvPr id="45" name="card"/>
          <p:cNvSpPr/>
          <p:nvPr/>
        </p:nvSpPr>
        <p:spPr>
          <a:xfrm>
            <a:off x="8997696" y="3977640"/>
            <a:ext cx="2606040" cy="2194560"/>
          </a:xfrm>
          <a:prstGeom prst="roundRect">
            <a:avLst>
              <a:gd name="adj" fmla="val 5000"/>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46" name="icon circle"/>
          <p:cNvSpPr/>
          <p:nvPr/>
        </p:nvSpPr>
        <p:spPr>
          <a:xfrm>
            <a:off x="9226296" y="4206240"/>
            <a:ext cx="502920" cy="502920"/>
          </a:xfrm>
          <a:prstGeom prst="ellipse">
            <a:avLst/>
          </a:prstGeom>
          <a:solidFill>
            <a:srgbClr val="004080"/>
          </a:solidFill>
          <a:ln w="12700">
            <a:solidFill>
              <a:srgbClr val="004080"/>
            </a:solidFill>
            <a:prstDash val="solid"/>
          </a:ln>
        </p:spPr>
      </p:sp>
      <p:pic>
        <p:nvPicPr>
          <p:cNvPr id="47" name="Image 8" descr="FaHdd">    </p:cNvPr>
          <p:cNvPicPr>
            <a:picLocks noChangeAspect="1"/>
          </p:cNvPicPr>
          <p:nvPr/>
        </p:nvPicPr>
        <p:blipFill>
          <a:blip r:embed="rId9"/>
          <a:stretch>
            <a:fillRect/>
          </a:stretch>
        </p:blipFill>
        <p:spPr>
          <a:xfrm>
            <a:off x="9346997" y="4326941"/>
            <a:ext cx="261518" cy="261518"/>
          </a:xfrm>
          <a:prstGeom prst="rect">
            <a:avLst/>
          </a:prstGeom>
        </p:spPr>
      </p:pic>
      <p:sp>
        <p:nvSpPr>
          <p:cNvPr id="48" name="Text 37"/>
          <p:cNvSpPr txBox="1"/>
          <p:nvPr/>
        </p:nvSpPr>
        <p:spPr>
          <a:xfrm>
            <a:off x="9866376" y="4279392"/>
            <a:ext cx="1645920" cy="365760"/>
          </a:xfrm>
          <a:prstGeom prst="rect">
            <a:avLst/>
          </a:prstGeom>
          <a:noFill/>
          <a:ln/>
        </p:spPr>
        <p:txBody>
          <a:bodyPr wrap="square" lIns="0" tIns="0" rIns="0" bIns="0" rtlCol="0" anchor="t"/>
          <a:lstStyle/>
          <a:p>
            <a:pPr indent="0" marL="0">
              <a:buNone/>
            </a:pPr>
            <a:r>
              <a:rPr lang="en-US" sz="1500" b="1" dirty="0">
                <a:solidFill>
                  <a:srgbClr val="0B2545"/>
                </a:solidFill>
              </a:rPr>
              <a:t>Data care</a:t>
            </a:r>
            <a:endParaRPr lang="en-US" sz="1500" dirty="0"/>
          </a:p>
        </p:txBody>
      </p:sp>
      <p:sp>
        <p:nvSpPr>
          <p:cNvPr id="49" name="Text 38"/>
          <p:cNvSpPr txBox="1"/>
          <p:nvPr/>
        </p:nvSpPr>
        <p:spPr>
          <a:xfrm>
            <a:off x="9226296" y="4846320"/>
            <a:ext cx="2194560" cy="1234440"/>
          </a:xfrm>
          <a:prstGeom prst="rect">
            <a:avLst/>
          </a:prstGeom>
          <a:noFill/>
          <a:ln/>
        </p:spPr>
        <p:txBody>
          <a:bodyPr wrap="square" lIns="0" tIns="0" rIns="0" bIns="0" rtlCol="0" anchor="t"/>
          <a:lstStyle/>
          <a:p>
            <a:pPr indent="0" marL="0">
              <a:buNone/>
            </a:pPr>
            <a:r>
              <a:rPr lang="en-US" sz="1300" dirty="0">
                <a:solidFill>
                  <a:srgbClr val="1A2433"/>
                </a:solidFill>
              </a:rPr>
              <a:t>Back up the database and uploads folder daily; close old windows each semester.</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System security considerations</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3rd Review</a:t>
            </a:r>
            <a:endParaRPr lang="en-US" sz="1100" dirty="0"/>
          </a:p>
        </p:txBody>
      </p:sp>
      <p:sp>
        <p:nvSpPr>
          <p:cNvPr id="5" name="Text 3"/>
          <p:cNvSpPr txBox="1"/>
          <p:nvPr/>
        </p:nvSpPr>
        <p:spPr>
          <a:xfrm>
            <a:off x="548640" y="1371600"/>
            <a:ext cx="5486400" cy="365760"/>
          </a:xfrm>
          <a:prstGeom prst="rect">
            <a:avLst/>
          </a:prstGeom>
          <a:noFill/>
          <a:ln/>
        </p:spPr>
        <p:txBody>
          <a:bodyPr wrap="square" lIns="0" tIns="0" rIns="0" bIns="0" rtlCol="0" anchor="t"/>
          <a:lstStyle/>
          <a:p>
            <a:pPr indent="0" marL="0">
              <a:buNone/>
            </a:pPr>
            <a:r>
              <a:rPr lang="en-US" sz="1800" b="1" dirty="0">
                <a:solidFill>
                  <a:srgbClr val="1E7E34"/>
                </a:solidFill>
              </a:rPr>
              <a:t>Implemented</a:t>
            </a:r>
            <a:endParaRPr lang="en-US" sz="1800" dirty="0"/>
          </a:p>
        </p:txBody>
      </p:sp>
      <p:sp>
        <p:nvSpPr>
          <p:cNvPr id="6" name="icon circle"/>
          <p:cNvSpPr/>
          <p:nvPr/>
        </p:nvSpPr>
        <p:spPr>
          <a:xfrm>
            <a:off x="548640" y="1828800"/>
            <a:ext cx="438912" cy="438912"/>
          </a:xfrm>
          <a:prstGeom prst="ellipse">
            <a:avLst/>
          </a:prstGeom>
          <a:solidFill>
            <a:srgbClr val="1E7E34"/>
          </a:solidFill>
          <a:ln w="12700">
            <a:solidFill>
              <a:srgbClr val="1E7E34"/>
            </a:solidFill>
            <a:prstDash val="solid"/>
          </a:ln>
        </p:spPr>
      </p:sp>
      <p:pic>
        <p:nvPicPr>
          <p:cNvPr id="7" name="Image 0" descr="FaLock">    </p:cNvPr>
          <p:cNvPicPr>
            <a:picLocks noChangeAspect="1"/>
          </p:cNvPicPr>
          <p:nvPr/>
        </p:nvPicPr>
        <p:blipFill>
          <a:blip r:embed="rId1"/>
          <a:stretch>
            <a:fillRect/>
          </a:stretch>
        </p:blipFill>
        <p:spPr>
          <a:xfrm>
            <a:off x="653979" y="1934139"/>
            <a:ext cx="228234" cy="228234"/>
          </a:xfrm>
          <a:prstGeom prst="rect">
            <a:avLst/>
          </a:prstGeom>
        </p:spPr>
      </p:pic>
      <p:sp>
        <p:nvSpPr>
          <p:cNvPr id="8" name="Text 5"/>
          <p:cNvSpPr txBox="1"/>
          <p:nvPr/>
        </p:nvSpPr>
        <p:spPr>
          <a:xfrm>
            <a:off x="1143000" y="1828800"/>
            <a:ext cx="5120640" cy="438912"/>
          </a:xfrm>
          <a:prstGeom prst="rect">
            <a:avLst/>
          </a:prstGeom>
          <a:noFill/>
          <a:ln/>
        </p:spPr>
        <p:txBody>
          <a:bodyPr wrap="square" lIns="0" tIns="0" rIns="0" bIns="0" rtlCol="0" anchor="ctr"/>
          <a:lstStyle/>
          <a:p>
            <a:pPr indent="0" marL="0">
              <a:buNone/>
            </a:pPr>
            <a:r>
              <a:rPr lang="en-US" sz="1400" dirty="0">
                <a:solidFill>
                  <a:srgbClr val="1A2433"/>
                </a:solidFill>
              </a:rPr>
              <a:t>Passwords hashed with bcrypt; never stored in plain text</a:t>
            </a:r>
            <a:endParaRPr lang="en-US" sz="1400" dirty="0"/>
          </a:p>
        </p:txBody>
      </p:sp>
      <p:sp>
        <p:nvSpPr>
          <p:cNvPr id="9" name="icon circle"/>
          <p:cNvSpPr/>
          <p:nvPr/>
        </p:nvSpPr>
        <p:spPr>
          <a:xfrm>
            <a:off x="548640" y="2450592"/>
            <a:ext cx="438912" cy="438912"/>
          </a:xfrm>
          <a:prstGeom prst="ellipse">
            <a:avLst/>
          </a:prstGeom>
          <a:solidFill>
            <a:srgbClr val="1E7E34"/>
          </a:solidFill>
          <a:ln w="12700">
            <a:solidFill>
              <a:srgbClr val="1E7E34"/>
            </a:solidFill>
            <a:prstDash val="solid"/>
          </a:ln>
        </p:spPr>
      </p:sp>
      <p:pic>
        <p:nvPicPr>
          <p:cNvPr id="10" name="Image 1" descr="FaKey">    </p:cNvPr>
          <p:cNvPicPr>
            <a:picLocks noChangeAspect="1"/>
          </p:cNvPicPr>
          <p:nvPr/>
        </p:nvPicPr>
        <p:blipFill>
          <a:blip r:embed="rId2"/>
          <a:stretch>
            <a:fillRect/>
          </a:stretch>
        </p:blipFill>
        <p:spPr>
          <a:xfrm>
            <a:off x="653979" y="2555931"/>
            <a:ext cx="228234" cy="228234"/>
          </a:xfrm>
          <a:prstGeom prst="rect">
            <a:avLst/>
          </a:prstGeom>
        </p:spPr>
      </p:pic>
      <p:sp>
        <p:nvSpPr>
          <p:cNvPr id="11" name="Text 7"/>
          <p:cNvSpPr txBox="1"/>
          <p:nvPr/>
        </p:nvSpPr>
        <p:spPr>
          <a:xfrm>
            <a:off x="1143000" y="2450592"/>
            <a:ext cx="5120640" cy="438912"/>
          </a:xfrm>
          <a:prstGeom prst="rect">
            <a:avLst/>
          </a:prstGeom>
          <a:noFill/>
          <a:ln/>
        </p:spPr>
        <p:txBody>
          <a:bodyPr wrap="square" lIns="0" tIns="0" rIns="0" bIns="0" rtlCol="0" anchor="ctr"/>
          <a:lstStyle/>
          <a:p>
            <a:pPr indent="0" marL="0">
              <a:buNone/>
            </a:pPr>
            <a:r>
              <a:rPr lang="en-US" sz="1400" dirty="0">
                <a:solidFill>
                  <a:srgbClr val="1A2433"/>
                </a:solidFill>
              </a:rPr>
              <a:t>Signed JWT login tokens that expire after 1 hour</a:t>
            </a:r>
            <a:endParaRPr lang="en-US" sz="1400" dirty="0"/>
          </a:p>
        </p:txBody>
      </p:sp>
      <p:sp>
        <p:nvSpPr>
          <p:cNvPr id="12" name="icon circle"/>
          <p:cNvSpPr/>
          <p:nvPr/>
        </p:nvSpPr>
        <p:spPr>
          <a:xfrm>
            <a:off x="548640" y="3072384"/>
            <a:ext cx="438912" cy="438912"/>
          </a:xfrm>
          <a:prstGeom prst="ellipse">
            <a:avLst/>
          </a:prstGeom>
          <a:solidFill>
            <a:srgbClr val="1E7E34"/>
          </a:solidFill>
          <a:ln w="12700">
            <a:solidFill>
              <a:srgbClr val="1E7E34"/>
            </a:solidFill>
            <a:prstDash val="solid"/>
          </a:ln>
        </p:spPr>
      </p:sp>
      <p:pic>
        <p:nvPicPr>
          <p:cNvPr id="13" name="Image 2" descr="FaUserShield">    </p:cNvPr>
          <p:cNvPicPr>
            <a:picLocks noChangeAspect="1"/>
          </p:cNvPicPr>
          <p:nvPr/>
        </p:nvPicPr>
        <p:blipFill>
          <a:blip r:embed="rId3"/>
          <a:stretch>
            <a:fillRect/>
          </a:stretch>
        </p:blipFill>
        <p:spPr>
          <a:xfrm>
            <a:off x="653979" y="3177723"/>
            <a:ext cx="228234" cy="228234"/>
          </a:xfrm>
          <a:prstGeom prst="rect">
            <a:avLst/>
          </a:prstGeom>
        </p:spPr>
      </p:pic>
      <p:sp>
        <p:nvSpPr>
          <p:cNvPr id="14" name="Text 9"/>
          <p:cNvSpPr txBox="1"/>
          <p:nvPr/>
        </p:nvSpPr>
        <p:spPr>
          <a:xfrm>
            <a:off x="1143000" y="3072384"/>
            <a:ext cx="5120640" cy="438912"/>
          </a:xfrm>
          <a:prstGeom prst="rect">
            <a:avLst/>
          </a:prstGeom>
          <a:noFill/>
          <a:ln/>
        </p:spPr>
        <p:txBody>
          <a:bodyPr wrap="square" lIns="0" tIns="0" rIns="0" bIns="0" rtlCol="0" anchor="ctr"/>
          <a:lstStyle/>
          <a:p>
            <a:pPr indent="0" marL="0">
              <a:buNone/>
            </a:pPr>
            <a:r>
              <a:rPr lang="en-US" sz="1400" dirty="0">
                <a:solidFill>
                  <a:srgbClr val="1A2433"/>
                </a:solidFill>
              </a:rPr>
              <a:t>Role checks on every API route, enforced on the server</a:t>
            </a:r>
            <a:endParaRPr lang="en-US" sz="1400" dirty="0"/>
          </a:p>
        </p:txBody>
      </p:sp>
      <p:sp>
        <p:nvSpPr>
          <p:cNvPr id="15" name="icon circle"/>
          <p:cNvSpPr/>
          <p:nvPr/>
        </p:nvSpPr>
        <p:spPr>
          <a:xfrm>
            <a:off x="548640" y="3694176"/>
            <a:ext cx="438912" cy="438912"/>
          </a:xfrm>
          <a:prstGeom prst="ellipse">
            <a:avLst/>
          </a:prstGeom>
          <a:solidFill>
            <a:srgbClr val="1E7E34"/>
          </a:solidFill>
          <a:ln w="12700">
            <a:solidFill>
              <a:srgbClr val="1E7E34"/>
            </a:solidFill>
            <a:prstDash val="solid"/>
          </a:ln>
        </p:spPr>
      </p:sp>
      <p:pic>
        <p:nvPicPr>
          <p:cNvPr id="16" name="Image 3" descr="FaSchool">    </p:cNvPr>
          <p:cNvPicPr>
            <a:picLocks noChangeAspect="1"/>
          </p:cNvPicPr>
          <p:nvPr/>
        </p:nvPicPr>
        <p:blipFill>
          <a:blip r:embed="rId4"/>
          <a:stretch>
            <a:fillRect/>
          </a:stretch>
        </p:blipFill>
        <p:spPr>
          <a:xfrm>
            <a:off x="653979" y="3799515"/>
            <a:ext cx="228234" cy="228234"/>
          </a:xfrm>
          <a:prstGeom prst="rect">
            <a:avLst/>
          </a:prstGeom>
        </p:spPr>
      </p:pic>
      <p:sp>
        <p:nvSpPr>
          <p:cNvPr id="17" name="Text 11"/>
          <p:cNvSpPr txBox="1"/>
          <p:nvPr/>
        </p:nvSpPr>
        <p:spPr>
          <a:xfrm>
            <a:off x="1143000" y="3694176"/>
            <a:ext cx="5120640" cy="438912"/>
          </a:xfrm>
          <a:prstGeom prst="rect">
            <a:avLst/>
          </a:prstGeom>
          <a:noFill/>
          <a:ln/>
        </p:spPr>
        <p:txBody>
          <a:bodyPr wrap="square" lIns="0" tIns="0" rIns="0" bIns="0" rtlCol="0" anchor="ctr"/>
          <a:lstStyle/>
          <a:p>
            <a:pPr indent="0" marL="0">
              <a:buNone/>
            </a:pPr>
            <a:r>
              <a:rPr lang="en-US" sz="1400" dirty="0">
                <a:solidFill>
                  <a:srgbClr val="1A2433"/>
                </a:solidFill>
              </a:rPr>
              <a:t>HODs and lecturers see only students in their own school</a:t>
            </a:r>
            <a:endParaRPr lang="en-US" sz="1400" dirty="0"/>
          </a:p>
        </p:txBody>
      </p:sp>
      <p:sp>
        <p:nvSpPr>
          <p:cNvPr id="18" name="icon circle"/>
          <p:cNvSpPr/>
          <p:nvPr/>
        </p:nvSpPr>
        <p:spPr>
          <a:xfrm>
            <a:off x="548640" y="4315968"/>
            <a:ext cx="438912" cy="438912"/>
          </a:xfrm>
          <a:prstGeom prst="ellipse">
            <a:avLst/>
          </a:prstGeom>
          <a:solidFill>
            <a:srgbClr val="1E7E34"/>
          </a:solidFill>
          <a:ln w="12700">
            <a:solidFill>
              <a:srgbClr val="1E7E34"/>
            </a:solidFill>
            <a:prstDash val="solid"/>
          </a:ln>
        </p:spPr>
      </p:sp>
      <p:pic>
        <p:nvPicPr>
          <p:cNvPr id="19" name="Image 4" descr="FaDatabase">    </p:cNvPr>
          <p:cNvPicPr>
            <a:picLocks noChangeAspect="1"/>
          </p:cNvPicPr>
          <p:nvPr/>
        </p:nvPicPr>
        <p:blipFill>
          <a:blip r:embed="rId5"/>
          <a:stretch>
            <a:fillRect/>
          </a:stretch>
        </p:blipFill>
        <p:spPr>
          <a:xfrm>
            <a:off x="653979" y="4421307"/>
            <a:ext cx="228234" cy="228234"/>
          </a:xfrm>
          <a:prstGeom prst="rect">
            <a:avLst/>
          </a:prstGeom>
        </p:spPr>
      </p:pic>
      <p:sp>
        <p:nvSpPr>
          <p:cNvPr id="20" name="Text 13"/>
          <p:cNvSpPr txBox="1"/>
          <p:nvPr/>
        </p:nvSpPr>
        <p:spPr>
          <a:xfrm>
            <a:off x="1143000" y="4315968"/>
            <a:ext cx="5120640" cy="438912"/>
          </a:xfrm>
          <a:prstGeom prst="rect">
            <a:avLst/>
          </a:prstGeom>
          <a:noFill/>
          <a:ln/>
        </p:spPr>
        <p:txBody>
          <a:bodyPr wrap="square" lIns="0" tIns="0" rIns="0" bIns="0" rtlCol="0" anchor="ctr"/>
          <a:lstStyle/>
          <a:p>
            <a:pPr indent="0" marL="0">
              <a:buNone/>
            </a:pPr>
            <a:r>
              <a:rPr lang="en-US" sz="1400" dirty="0">
                <a:solidFill>
                  <a:srgbClr val="1A2433"/>
                </a:solidFill>
              </a:rPr>
              <a:t>Parameterised SQL queries prevent SQL injection</a:t>
            </a:r>
            <a:endParaRPr lang="en-US" sz="1400" dirty="0"/>
          </a:p>
        </p:txBody>
      </p:sp>
      <p:sp>
        <p:nvSpPr>
          <p:cNvPr id="21" name="icon circle"/>
          <p:cNvSpPr/>
          <p:nvPr/>
        </p:nvSpPr>
        <p:spPr>
          <a:xfrm>
            <a:off x="548640" y="4937760"/>
            <a:ext cx="438912" cy="438912"/>
          </a:xfrm>
          <a:prstGeom prst="ellipse">
            <a:avLst/>
          </a:prstGeom>
          <a:solidFill>
            <a:srgbClr val="1E7E34"/>
          </a:solidFill>
          <a:ln w="12700">
            <a:solidFill>
              <a:srgbClr val="1E7E34"/>
            </a:solidFill>
            <a:prstDash val="solid"/>
          </a:ln>
        </p:spPr>
      </p:sp>
      <p:pic>
        <p:nvPicPr>
          <p:cNvPr id="22" name="Image 5" descr="FaFileUpload">    </p:cNvPr>
          <p:cNvPicPr>
            <a:picLocks noChangeAspect="1"/>
          </p:cNvPicPr>
          <p:nvPr/>
        </p:nvPicPr>
        <p:blipFill>
          <a:blip r:embed="rId6"/>
          <a:stretch>
            <a:fillRect/>
          </a:stretch>
        </p:blipFill>
        <p:spPr>
          <a:xfrm>
            <a:off x="653979" y="5043099"/>
            <a:ext cx="228234" cy="228234"/>
          </a:xfrm>
          <a:prstGeom prst="rect">
            <a:avLst/>
          </a:prstGeom>
        </p:spPr>
      </p:pic>
      <p:sp>
        <p:nvSpPr>
          <p:cNvPr id="23" name="Text 15"/>
          <p:cNvSpPr txBox="1"/>
          <p:nvPr/>
        </p:nvSpPr>
        <p:spPr>
          <a:xfrm>
            <a:off x="1143000" y="4937760"/>
            <a:ext cx="5120640" cy="438912"/>
          </a:xfrm>
          <a:prstGeom prst="rect">
            <a:avLst/>
          </a:prstGeom>
          <a:noFill/>
          <a:ln/>
        </p:spPr>
        <p:txBody>
          <a:bodyPr wrap="square" lIns="0" tIns="0" rIns="0" bIns="0" rtlCol="0" anchor="ctr"/>
          <a:lstStyle/>
          <a:p>
            <a:pPr indent="0" marL="0">
              <a:buNone/>
            </a:pPr>
            <a:r>
              <a:rPr lang="en-US" sz="1400" dirty="0">
                <a:solidFill>
                  <a:srgbClr val="1A2433"/>
                </a:solidFill>
              </a:rPr>
              <a:t>Uploads limited by file type and 5 MB size</a:t>
            </a:r>
            <a:endParaRPr lang="en-US" sz="1400" dirty="0"/>
          </a:p>
        </p:txBody>
      </p:sp>
      <p:sp>
        <p:nvSpPr>
          <p:cNvPr id="24" name="icon circle"/>
          <p:cNvSpPr/>
          <p:nvPr/>
        </p:nvSpPr>
        <p:spPr>
          <a:xfrm>
            <a:off x="548640" y="5559552"/>
            <a:ext cx="438912" cy="438912"/>
          </a:xfrm>
          <a:prstGeom prst="ellipse">
            <a:avLst/>
          </a:prstGeom>
          <a:solidFill>
            <a:srgbClr val="1E7E34"/>
          </a:solidFill>
          <a:ln w="12700">
            <a:solidFill>
              <a:srgbClr val="1E7E34"/>
            </a:solidFill>
            <a:prstDash val="solid"/>
          </a:ln>
        </p:spPr>
      </p:sp>
      <p:pic>
        <p:nvPicPr>
          <p:cNvPr id="25" name="Image 6" descr="FaUserCheck">    </p:cNvPr>
          <p:cNvPicPr>
            <a:picLocks noChangeAspect="1"/>
          </p:cNvPicPr>
          <p:nvPr/>
        </p:nvPicPr>
        <p:blipFill>
          <a:blip r:embed="rId7"/>
          <a:stretch>
            <a:fillRect/>
          </a:stretch>
        </p:blipFill>
        <p:spPr>
          <a:xfrm>
            <a:off x="653979" y="5664891"/>
            <a:ext cx="228234" cy="228234"/>
          </a:xfrm>
          <a:prstGeom prst="rect">
            <a:avLst/>
          </a:prstGeom>
        </p:spPr>
      </p:pic>
      <p:sp>
        <p:nvSpPr>
          <p:cNvPr id="26" name="Text 17"/>
          <p:cNvSpPr txBox="1"/>
          <p:nvPr/>
        </p:nvSpPr>
        <p:spPr>
          <a:xfrm>
            <a:off x="1143000" y="5559552"/>
            <a:ext cx="5120640" cy="438912"/>
          </a:xfrm>
          <a:prstGeom prst="rect">
            <a:avLst/>
          </a:prstGeom>
          <a:noFill/>
          <a:ln/>
        </p:spPr>
        <p:txBody>
          <a:bodyPr wrap="square" lIns="0" tIns="0" rIns="0" bIns="0" rtlCol="0" anchor="ctr"/>
          <a:lstStyle/>
          <a:p>
            <a:pPr indent="0" marL="0">
              <a:buNone/>
            </a:pPr>
            <a:r>
              <a:rPr lang="en-US" sz="1400" dirty="0">
                <a:solidFill>
                  <a:srgbClr val="1A2433"/>
                </a:solidFill>
              </a:rPr>
              <a:t>New accounts wait for admin approval; public sign-up is student-only</a:t>
            </a:r>
            <a:endParaRPr lang="en-US" sz="1400" dirty="0"/>
          </a:p>
        </p:txBody>
      </p:sp>
      <p:sp>
        <p:nvSpPr>
          <p:cNvPr id="27" name="card"/>
          <p:cNvSpPr/>
          <p:nvPr/>
        </p:nvSpPr>
        <p:spPr>
          <a:xfrm>
            <a:off x="6583680" y="1371600"/>
            <a:ext cx="5056632" cy="4800600"/>
          </a:xfrm>
          <a:prstGeom prst="roundRect">
            <a:avLst>
              <a:gd name="adj" fmla="val 2286"/>
            </a:avLst>
          </a:prstGeom>
          <a:solidFill>
            <a:srgbClr val="EEF3F9"/>
          </a:solidFill>
          <a:ln w="12700">
            <a:solidFill>
              <a:srgbClr val="EEF3F9"/>
            </a:solidFill>
            <a:prstDash val="solid"/>
          </a:ln>
        </p:spPr>
      </p:sp>
      <p:sp>
        <p:nvSpPr>
          <p:cNvPr id="28" name="Text 19"/>
          <p:cNvSpPr txBox="1"/>
          <p:nvPr/>
        </p:nvSpPr>
        <p:spPr>
          <a:xfrm>
            <a:off x="6858000" y="1600200"/>
            <a:ext cx="4572000" cy="365760"/>
          </a:xfrm>
          <a:prstGeom prst="rect">
            <a:avLst/>
          </a:prstGeom>
          <a:noFill/>
          <a:ln/>
        </p:spPr>
        <p:txBody>
          <a:bodyPr wrap="square" lIns="0" tIns="0" rIns="0" bIns="0" rtlCol="0" anchor="t"/>
          <a:lstStyle/>
          <a:p>
            <a:pPr indent="0" marL="0">
              <a:buNone/>
            </a:pPr>
            <a:r>
              <a:rPr lang="en-US" sz="1800" b="1" dirty="0">
                <a:solidFill>
                  <a:srgbClr val="0B2545"/>
                </a:solidFill>
              </a:rPr>
              <a:t>Recommended before going live</a:t>
            </a:r>
            <a:endParaRPr lang="en-US" sz="1800" dirty="0"/>
          </a:p>
        </p:txBody>
      </p:sp>
      <p:sp>
        <p:nvSpPr>
          <p:cNvPr id="29" name="Text 20"/>
          <p:cNvSpPr txBox="1"/>
          <p:nvPr/>
        </p:nvSpPr>
        <p:spPr>
          <a:xfrm>
            <a:off x="6858000" y="2148840"/>
            <a:ext cx="4572000" cy="384048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rgbClr val="1A2433"/>
                </a:solidFill>
              </a:rPr>
              <a:t>Serve only over HTTPS (TLS certificate)</a:t>
            </a:r>
            <a:endParaRPr lang="en-US" sz="1500" dirty="0"/>
          </a:p>
          <a:p>
            <a:pPr marL="203200" indent="-203200">
              <a:spcAft>
                <a:spcPts val="1000"/>
              </a:spcAft>
              <a:buSzPct val="100000"/>
              <a:buChar char="•"/>
            </a:pPr>
            <a:r>
              <a:rPr lang="en-US" sz="1500" dirty="0">
                <a:solidFill>
                  <a:srgbClr val="1A2433"/>
                </a:solidFill>
              </a:rPr>
              <a:t>Keep .env and node_modules out of Git; rotate any secret that was ever committed</a:t>
            </a:r>
            <a:endParaRPr lang="en-US" sz="1500" dirty="0"/>
          </a:p>
          <a:p>
            <a:pPr marL="203200" indent="-203200">
              <a:spcAft>
                <a:spcPts val="1000"/>
              </a:spcAft>
              <a:buSzPct val="100000"/>
              <a:buChar char="•"/>
            </a:pPr>
            <a:r>
              <a:rPr lang="en-US" sz="1500" dirty="0">
                <a:solidFill>
                  <a:srgbClr val="1A2433"/>
                </a:solidFill>
              </a:rPr>
              <a:t>Limit repeated login attempts (rate limiting)</a:t>
            </a:r>
            <a:endParaRPr lang="en-US" sz="1500" dirty="0"/>
          </a:p>
          <a:p>
            <a:pPr marL="203200" indent="-203200">
              <a:spcAft>
                <a:spcPts val="1000"/>
              </a:spcAft>
              <a:buSzPct val="100000"/>
              <a:buChar char="•"/>
            </a:pPr>
            <a:r>
              <a:rPr lang="en-US" sz="1500" dirty="0">
                <a:solidFill>
                  <a:srgbClr val="1A2433"/>
                </a:solidFill>
              </a:rPr>
              <a:t>Move tokens from localStorage to secure, httpOnly cookies</a:t>
            </a:r>
            <a:endParaRPr lang="en-US" sz="1500" dirty="0"/>
          </a:p>
          <a:p>
            <a:pPr marL="203200" indent="-203200">
              <a:spcAft>
                <a:spcPts val="1000"/>
              </a:spcAft>
              <a:buSzPct val="100000"/>
              <a:buChar char="•"/>
            </a:pPr>
            <a:r>
              <a:rPr lang="en-US" sz="1500" dirty="0">
                <a:solidFill>
                  <a:srgbClr val="1A2433"/>
                </a:solidFill>
              </a:rPr>
              <a:t>Keep an audit log of approvals and role changes</a:t>
            </a:r>
            <a:endParaRPr lang="en-US" sz="1500" dirty="0"/>
          </a:p>
          <a:p>
            <a:pPr marL="203200" indent="-203200">
              <a:spcAft>
                <a:spcPts val="1000"/>
              </a:spcAft>
              <a:buSzPct val="100000"/>
              <a:buChar char="•"/>
            </a:pPr>
            <a:r>
              <a:rPr lang="en-US" sz="1500" dirty="0">
                <a:solidFill>
                  <a:srgbClr val="1A2433"/>
                </a:solidFill>
              </a:rPr>
              <a:t>Change the seeded admin password on first login</a:t>
            </a:r>
            <a:endParaRPr lang="en-US" sz="15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System pages: public website &amp; admissions</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3rd Review</a:t>
            </a:r>
            <a:endParaRPr lang="en-US" sz="1100" dirty="0"/>
          </a:p>
        </p:txBody>
      </p:sp>
      <p:sp>
        <p:nvSpPr>
          <p:cNvPr id="5" name="screenshot frame"/>
          <p:cNvSpPr/>
          <p:nvPr/>
        </p:nvSpPr>
        <p:spPr>
          <a:xfrm>
            <a:off x="512064" y="1380744"/>
            <a:ext cx="5468112" cy="3108960"/>
          </a:xfrm>
          <a:prstGeom prst="rect">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pic>
        <p:nvPicPr>
          <p:cNvPr id="6" name="Image 0" descr="Home page">    </p:cNvPr>
          <p:cNvPicPr>
            <a:picLocks noChangeAspect="1"/>
          </p:cNvPicPr>
          <p:nvPr/>
        </p:nvPicPr>
        <p:blipFill>
          <a:blip r:embed="rId1"/>
          <a:stretch>
            <a:fillRect/>
          </a:stretch>
        </p:blipFill>
        <p:spPr>
          <a:xfrm>
            <a:off x="548640" y="1417320"/>
            <a:ext cx="5394960" cy="3035808"/>
          </a:xfrm>
          <a:prstGeom prst="rect">
            <a:avLst/>
          </a:prstGeom>
        </p:spPr>
      </p:pic>
      <p:sp>
        <p:nvSpPr>
          <p:cNvPr id="7" name="screenshot frame"/>
          <p:cNvSpPr/>
          <p:nvPr/>
        </p:nvSpPr>
        <p:spPr>
          <a:xfrm>
            <a:off x="6208776" y="1380744"/>
            <a:ext cx="5468112" cy="3108960"/>
          </a:xfrm>
          <a:prstGeom prst="rect">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pic>
        <p:nvPicPr>
          <p:cNvPr id="8" name="Image 1" descr="Online application page">    </p:cNvPr>
          <p:cNvPicPr>
            <a:picLocks noChangeAspect="1"/>
          </p:cNvPicPr>
          <p:nvPr/>
        </p:nvPicPr>
        <p:blipFill>
          <a:blip r:embed="rId2"/>
          <a:stretch>
            <a:fillRect/>
          </a:stretch>
        </p:blipFill>
        <p:spPr>
          <a:xfrm>
            <a:off x="6245352" y="1417320"/>
            <a:ext cx="5394960" cy="3035808"/>
          </a:xfrm>
          <a:prstGeom prst="rect">
            <a:avLst/>
          </a:prstGeom>
        </p:spPr>
      </p:pic>
      <p:sp>
        <p:nvSpPr>
          <p:cNvPr id="9" name="Text 5"/>
          <p:cNvSpPr txBox="1"/>
          <p:nvPr/>
        </p:nvSpPr>
        <p:spPr>
          <a:xfrm>
            <a:off x="548640" y="4617720"/>
            <a:ext cx="5394960" cy="320040"/>
          </a:xfrm>
          <a:prstGeom prst="rect">
            <a:avLst/>
          </a:prstGeom>
          <a:noFill/>
          <a:ln/>
        </p:spPr>
        <p:txBody>
          <a:bodyPr wrap="square" lIns="0" tIns="0" rIns="0" bIns="0" rtlCol="0" anchor="t"/>
          <a:lstStyle/>
          <a:p>
            <a:pPr indent="0" marL="0">
              <a:buNone/>
            </a:pPr>
            <a:r>
              <a:rPr lang="en-US" sz="1500" b="1" dirty="0">
                <a:solidFill>
                  <a:srgbClr val="0B2545"/>
                </a:solidFill>
              </a:rPr>
              <a:t>Home page</a:t>
            </a:r>
            <a:endParaRPr lang="en-US" sz="1500" dirty="0"/>
          </a:p>
        </p:txBody>
      </p:sp>
      <p:sp>
        <p:nvSpPr>
          <p:cNvPr id="10" name="Text 6"/>
          <p:cNvSpPr txBox="1"/>
          <p:nvPr/>
        </p:nvSpPr>
        <p:spPr>
          <a:xfrm>
            <a:off x="548640" y="4956048"/>
            <a:ext cx="5394960" cy="731520"/>
          </a:xfrm>
          <a:prstGeom prst="rect">
            <a:avLst/>
          </a:prstGeom>
          <a:noFill/>
          <a:ln/>
        </p:spPr>
        <p:txBody>
          <a:bodyPr wrap="square" lIns="0" tIns="0" rIns="0" bIns="0" rtlCol="0" anchor="t"/>
          <a:lstStyle/>
          <a:p>
            <a:pPr indent="0" marL="0">
              <a:buNone/>
            </a:pPr>
            <a:r>
              <a:rPr lang="en-US" sz="1400" dirty="0">
                <a:solidFill>
                  <a:srgbClr val="1A2433"/>
                </a:solidFill>
              </a:rPr>
              <a:t>Schools, programmes and fees, with links to apply or sign in to the student, lecturer or staff portal.</a:t>
            </a:r>
            <a:endParaRPr lang="en-US" sz="1400" dirty="0"/>
          </a:p>
        </p:txBody>
      </p:sp>
      <p:sp>
        <p:nvSpPr>
          <p:cNvPr id="11" name="Text 7"/>
          <p:cNvSpPr txBox="1"/>
          <p:nvPr/>
        </p:nvSpPr>
        <p:spPr>
          <a:xfrm>
            <a:off x="6245352" y="4617720"/>
            <a:ext cx="5394960" cy="320040"/>
          </a:xfrm>
          <a:prstGeom prst="rect">
            <a:avLst/>
          </a:prstGeom>
          <a:noFill/>
          <a:ln/>
        </p:spPr>
        <p:txBody>
          <a:bodyPr wrap="square" lIns="0" tIns="0" rIns="0" bIns="0" rtlCol="0" anchor="t"/>
          <a:lstStyle/>
          <a:p>
            <a:pPr indent="0" marL="0">
              <a:buNone/>
            </a:pPr>
            <a:r>
              <a:rPr lang="en-US" sz="1500" b="1" dirty="0">
                <a:solidFill>
                  <a:srgbClr val="0B2545"/>
                </a:solidFill>
              </a:rPr>
              <a:t>Apply for admission</a:t>
            </a:r>
            <a:endParaRPr lang="en-US" sz="1500" dirty="0"/>
          </a:p>
        </p:txBody>
      </p:sp>
      <p:sp>
        <p:nvSpPr>
          <p:cNvPr id="12" name="Text 8"/>
          <p:cNvSpPr txBox="1"/>
          <p:nvPr/>
        </p:nvSpPr>
        <p:spPr>
          <a:xfrm>
            <a:off x="6245352" y="4956048"/>
            <a:ext cx="5394960" cy="731520"/>
          </a:xfrm>
          <a:prstGeom prst="rect">
            <a:avLst/>
          </a:prstGeom>
          <a:noFill/>
          <a:ln/>
        </p:spPr>
        <p:txBody>
          <a:bodyPr wrap="square" lIns="0" tIns="0" rIns="0" bIns="0" rtlCol="0" anchor="t"/>
          <a:lstStyle/>
          <a:p>
            <a:pPr indent="0" marL="0">
              <a:buNone/>
            </a:pPr>
            <a:r>
              <a:rPr lang="en-US" sz="1400" dirty="0">
                <a:solidFill>
                  <a:srgbClr val="1A2433"/>
                </a:solidFill>
              </a:rPr>
              <a:t>Three-step online application: personal details, qualifications and documents. The registry reviews, adds notes and accepts or rejects.</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System pages: student exam clearance</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3rd Review</a:t>
            </a:r>
            <a:endParaRPr lang="en-US" sz="1100" dirty="0"/>
          </a:p>
        </p:txBody>
      </p:sp>
      <p:sp>
        <p:nvSpPr>
          <p:cNvPr id="5" name="screenshot frame"/>
          <p:cNvSpPr/>
          <p:nvPr/>
        </p:nvSpPr>
        <p:spPr>
          <a:xfrm>
            <a:off x="512064" y="1335024"/>
            <a:ext cx="7388352" cy="4023360"/>
          </a:xfrm>
          <a:prstGeom prst="rect">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pic>
        <p:nvPicPr>
          <p:cNvPr id="6" name="Image 0" descr="Student exams tab">    </p:cNvPr>
          <p:cNvPicPr>
            <a:picLocks noChangeAspect="1"/>
          </p:cNvPicPr>
          <p:nvPr/>
        </p:nvPicPr>
        <p:blipFill>
          <a:blip r:embed="rId1"/>
          <a:stretch>
            <a:fillRect/>
          </a:stretch>
        </p:blipFill>
        <p:spPr>
          <a:xfrm>
            <a:off x="548640" y="1371600"/>
            <a:ext cx="7315200" cy="3950208"/>
          </a:xfrm>
          <a:prstGeom prst="rect">
            <a:avLst/>
          </a:prstGeom>
        </p:spPr>
      </p:pic>
      <p:sp>
        <p:nvSpPr>
          <p:cNvPr id="7" name="Text 4"/>
          <p:cNvSpPr txBox="1"/>
          <p:nvPr/>
        </p:nvSpPr>
        <p:spPr>
          <a:xfrm>
            <a:off x="8183880" y="1417320"/>
            <a:ext cx="3456432" cy="457200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1A2433"/>
                </a:solidFill>
              </a:rPr>
              <a:t>Digital No Due Certificate: Accounts, Class Advisor and Hostel, with who signed and when</a:t>
            </a:r>
            <a:endParaRPr lang="en-US" sz="1400" dirty="0"/>
          </a:p>
          <a:p>
            <a:pPr marL="203200" indent="-203200">
              <a:spcAft>
                <a:spcPts val="1000"/>
              </a:spcAft>
              <a:buSzPct val="100000"/>
              <a:buChar char="•"/>
            </a:pPr>
            <a:r>
              <a:rPr lang="en-US" sz="1400" dirty="0">
                <a:solidFill>
                  <a:srgbClr val="1A2433"/>
                </a:solidFill>
              </a:rPr>
              <a:t>Accounts shows % paid and how much more is needed</a:t>
            </a:r>
            <a:endParaRPr lang="en-US" sz="1400" dirty="0"/>
          </a:p>
          <a:p>
            <a:pPr marL="203200" indent="-203200">
              <a:spcAft>
                <a:spcPts val="1000"/>
              </a:spcAft>
              <a:buSzPct val="100000"/>
              <a:buChar char="•"/>
            </a:pPr>
            <a:r>
              <a:rPr lang="en-US" sz="1400" dirty="0">
                <a:solidFill>
                  <a:srgbClr val="1A2433"/>
                </a:solidFill>
              </a:rPr>
              <a:t>Final approvals shown as a progress tracker</a:t>
            </a:r>
            <a:endParaRPr lang="en-US" sz="1400" dirty="0"/>
          </a:p>
          <a:p>
            <a:pPr marL="203200" indent="-203200">
              <a:spcAft>
                <a:spcPts val="1000"/>
              </a:spcAft>
              <a:buSzPct val="100000"/>
              <a:buChar char="•"/>
            </a:pPr>
            <a:r>
              <a:rPr lang="en-US" sz="1400" dirty="0">
                <a:solidFill>
                  <a:srgbClr val="1A2433"/>
                </a:solidFill>
              </a:rPr>
              <a:t>Holds show the officer’s reason</a:t>
            </a:r>
            <a:endParaRPr lang="en-US" sz="1400" dirty="0"/>
          </a:p>
          <a:p>
            <a:pPr marL="203200" indent="-203200">
              <a:spcAft>
                <a:spcPts val="1000"/>
              </a:spcAft>
              <a:buSzPct val="100000"/>
              <a:buChar char="•"/>
            </a:pPr>
            <a:r>
              <a:rPr lang="en-US" sz="1400" dirty="0">
                <a:solidFill>
                  <a:srgbClr val="1A2433"/>
                </a:solidFill>
              </a:rPr>
              <a:t>Print Hall Ticket unlocks only when every step is done</a:t>
            </a:r>
            <a:endParaRPr lang="en-US" sz="1400" dirty="0"/>
          </a:p>
        </p:txBody>
      </p:sp>
      <p:sp>
        <p:nvSpPr>
          <p:cNvPr id="8" name="Text 5"/>
          <p:cNvSpPr txBox="1"/>
          <p:nvPr/>
        </p:nvSpPr>
        <p:spPr>
          <a:xfrm>
            <a:off x="548640" y="5440680"/>
            <a:ext cx="7315200" cy="274320"/>
          </a:xfrm>
          <a:prstGeom prst="rect">
            <a:avLst/>
          </a:prstGeom>
          <a:noFill/>
          <a:ln/>
        </p:spPr>
        <p:txBody>
          <a:bodyPr wrap="square" lIns="0" tIns="0" rIns="0" bIns="0" rtlCol="0" anchor="t"/>
          <a:lstStyle/>
          <a:p>
            <a:pPr indent="0" marL="0">
              <a:buNone/>
            </a:pPr>
            <a:r>
              <a:rPr lang="en-US" sz="1100" i="1" dirty="0">
                <a:solidFill>
                  <a:srgbClr val="5B7A99"/>
                </a:solidFill>
              </a:rPr>
              <a:t>Screenshot with sample data</a:t>
            </a:r>
            <a:endParaRPr lang="en-US" sz="11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System pages: printable hall ticket</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3rd Review</a:t>
            </a:r>
            <a:endParaRPr lang="en-US" sz="1100" dirty="0"/>
          </a:p>
        </p:txBody>
      </p:sp>
      <p:sp>
        <p:nvSpPr>
          <p:cNvPr id="5" name="screenshot frame"/>
          <p:cNvSpPr/>
          <p:nvPr/>
        </p:nvSpPr>
        <p:spPr>
          <a:xfrm>
            <a:off x="512064" y="1335024"/>
            <a:ext cx="4873752" cy="4672584"/>
          </a:xfrm>
          <a:prstGeom prst="rect">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pic>
        <p:nvPicPr>
          <p:cNvPr id="6" name="Image 0" descr="Hall ticket">    </p:cNvPr>
          <p:cNvPicPr>
            <a:picLocks noChangeAspect="1"/>
          </p:cNvPicPr>
          <p:nvPr/>
        </p:nvPicPr>
        <p:blipFill>
          <a:blip r:embed="rId1"/>
          <a:stretch>
            <a:fillRect/>
          </a:stretch>
        </p:blipFill>
        <p:spPr>
          <a:xfrm>
            <a:off x="548640" y="1371600"/>
            <a:ext cx="4800600" cy="4599432"/>
          </a:xfrm>
          <a:prstGeom prst="rect">
            <a:avLst/>
          </a:prstGeom>
        </p:spPr>
      </p:pic>
      <p:sp>
        <p:nvSpPr>
          <p:cNvPr id="7" name="Text 4"/>
          <p:cNvSpPr txBox="1"/>
          <p:nvPr/>
        </p:nvSpPr>
        <p:spPr>
          <a:xfrm>
            <a:off x="5760720" y="1463040"/>
            <a:ext cx="5852160" cy="448056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rgbClr val="1A2433"/>
                </a:solidFill>
              </a:rPr>
              <a:t>Same layout as the official paper hall ticket</a:t>
            </a:r>
            <a:endParaRPr lang="en-US" sz="1600" dirty="0"/>
          </a:p>
          <a:p>
            <a:pPr marL="203200" indent="-203200">
              <a:spcAft>
                <a:spcPts val="1200"/>
              </a:spcAft>
              <a:buSzPct val="100000"/>
              <a:buChar char="•"/>
            </a:pPr>
            <a:r>
              <a:rPr lang="en-US" sz="1600" dirty="0">
                <a:solidFill>
                  <a:srgbClr val="1A2433"/>
                </a:solidFill>
              </a:rPr>
              <a:t>Register no., name, programme, semester, centre name &amp; code, photo</a:t>
            </a:r>
            <a:endParaRPr lang="en-US" sz="1600" dirty="0"/>
          </a:p>
          <a:p>
            <a:pPr marL="203200" indent="-203200">
              <a:spcAft>
                <a:spcPts val="1200"/>
              </a:spcAft>
              <a:buSzPct val="100000"/>
              <a:buChar char="•"/>
            </a:pPr>
            <a:r>
              <a:rPr lang="en-US" sz="1600" dirty="0">
                <a:solidFill>
                  <a:srgbClr val="1A2433"/>
                </a:solidFill>
              </a:rPr>
              <a:t>Only the student’s own programme and semester modules</a:t>
            </a:r>
            <a:endParaRPr lang="en-US" sz="1600" dirty="0"/>
          </a:p>
          <a:p>
            <a:pPr marL="203200" indent="-203200">
              <a:spcAft>
                <a:spcPts val="1200"/>
              </a:spcAft>
              <a:buSzPct val="100000"/>
              <a:buChar char="•"/>
            </a:pPr>
            <a:r>
              <a:rPr lang="en-US" sz="1600" dirty="0">
                <a:solidFill>
                  <a:srgbClr val="1A2433"/>
                </a:solidFill>
              </a:rPr>
              <a:t>Unique hall ticket number and "cleared for examination" stamp</a:t>
            </a:r>
            <a:endParaRPr lang="en-US" sz="1600" dirty="0"/>
          </a:p>
          <a:p>
            <a:pPr marL="203200" indent="-203200">
              <a:spcAft>
                <a:spcPts val="1200"/>
              </a:spcAft>
              <a:buSzPct val="100000"/>
              <a:buChar char="•"/>
            </a:pPr>
            <a:r>
              <a:rPr lang="en-US" sz="1600" dirty="0">
                <a:solidFill>
                  <a:srgbClr val="1A2433"/>
                </a:solidFill>
              </a:rPr>
              <a:t>Instructions to candidates on page 2</a:t>
            </a:r>
            <a:endParaRPr lang="en-US" sz="1600" dirty="0"/>
          </a:p>
          <a:p>
            <a:pPr marL="203200" indent="-203200">
              <a:spcAft>
                <a:spcPts val="1200"/>
              </a:spcAft>
              <a:buSzPct val="100000"/>
              <a:buChar char="•"/>
            </a:pPr>
            <a:r>
              <a:rPr lang="en-US" sz="1600" dirty="0">
                <a:solidFill>
                  <a:srgbClr val="1A2433"/>
                </a:solidFill>
              </a:rPr>
              <a:t>Print or save as PDF straight from the browser</a:t>
            </a:r>
            <a:endParaRPr lang="en-US" sz="16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System pages: staff clearance board</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3rd Review</a:t>
            </a:r>
            <a:endParaRPr lang="en-US" sz="1100" dirty="0"/>
          </a:p>
        </p:txBody>
      </p:sp>
      <p:sp>
        <p:nvSpPr>
          <p:cNvPr id="5" name="screenshot frame"/>
          <p:cNvSpPr/>
          <p:nvPr/>
        </p:nvSpPr>
        <p:spPr>
          <a:xfrm>
            <a:off x="512064" y="1335024"/>
            <a:ext cx="7936992" cy="3108960"/>
          </a:xfrm>
          <a:prstGeom prst="rect">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pic>
        <p:nvPicPr>
          <p:cNvPr id="6" name="Image 0" descr="Staff clearance board">    </p:cNvPr>
          <p:cNvPicPr>
            <a:picLocks noChangeAspect="1"/>
          </p:cNvPicPr>
          <p:nvPr/>
        </p:nvPicPr>
        <p:blipFill>
          <a:blip r:embed="rId1"/>
          <a:stretch>
            <a:fillRect/>
          </a:stretch>
        </p:blipFill>
        <p:spPr>
          <a:xfrm>
            <a:off x="548640" y="1371600"/>
            <a:ext cx="7863840" cy="3035808"/>
          </a:xfrm>
          <a:prstGeom prst="rect">
            <a:avLst/>
          </a:prstGeom>
        </p:spPr>
      </p:pic>
      <p:sp>
        <p:nvSpPr>
          <p:cNvPr id="7" name="Text 4"/>
          <p:cNvSpPr txBox="1"/>
          <p:nvPr/>
        </p:nvSpPr>
        <p:spPr>
          <a:xfrm>
            <a:off x="8686800" y="1417320"/>
            <a:ext cx="2953512" cy="420624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1A2433"/>
                </a:solidFill>
              </a:rPr>
              <a:t>One row per student, one column per office</a:t>
            </a:r>
            <a:endParaRPr lang="en-US" sz="1400" dirty="0"/>
          </a:p>
          <a:p>
            <a:pPr marL="203200" indent="-203200">
              <a:spcAft>
                <a:spcPts val="1000"/>
              </a:spcAft>
              <a:buSzPct val="100000"/>
              <a:buChar char="•"/>
            </a:pPr>
            <a:r>
              <a:rPr lang="en-US" sz="1400" dirty="0">
                <a:solidFill>
                  <a:srgbClr val="1A2433"/>
                </a:solidFill>
              </a:rPr>
              <a:t>Officers see Clear / Hold only on their own step</a:t>
            </a:r>
            <a:endParaRPr lang="en-US" sz="1400" dirty="0"/>
          </a:p>
          <a:p>
            <a:pPr marL="203200" indent="-203200">
              <a:spcAft>
                <a:spcPts val="1000"/>
              </a:spcAft>
              <a:buSzPct val="100000"/>
              <a:buChar char="•"/>
            </a:pPr>
            <a:r>
              <a:rPr lang="en-US" sz="1400" dirty="0">
                <a:solidFill>
                  <a:srgbClr val="1A2433"/>
                </a:solidFill>
              </a:rPr>
              <a:t>"Waiting for me" filter and bulk "Clear all"</a:t>
            </a:r>
            <a:endParaRPr lang="en-US" sz="1400" dirty="0"/>
          </a:p>
          <a:p>
            <a:pPr marL="203200" indent="-203200">
              <a:spcAft>
                <a:spcPts val="1000"/>
              </a:spcAft>
              <a:buSzPct val="100000"/>
              <a:buChar char="•"/>
            </a:pPr>
            <a:r>
              <a:rPr lang="en-US" sz="1400" dirty="0">
                <a:solidFill>
                  <a:srgbClr val="1A2433"/>
                </a:solidFill>
              </a:rPr>
              <a:t>Hold asks for a reason, sent to the student</a:t>
            </a:r>
            <a:endParaRPr lang="en-US" sz="1400" dirty="0"/>
          </a:p>
          <a:p>
            <a:pPr marL="203200" indent="-203200">
              <a:spcAft>
                <a:spcPts val="1000"/>
              </a:spcAft>
              <a:buSzPct val="100000"/>
              <a:buChar char="•"/>
            </a:pPr>
            <a:r>
              <a:rPr lang="en-US" sz="1400" dirty="0">
                <a:solidFill>
                  <a:srgbClr val="1A2433"/>
                </a:solidFill>
              </a:rPr>
              <a:t>Registry edits register no. and semester</a:t>
            </a:r>
            <a:endParaRPr lang="en-US" sz="1400" dirty="0"/>
          </a:p>
        </p:txBody>
      </p:sp>
      <p:sp>
        <p:nvSpPr>
          <p:cNvPr id="8" name="card"/>
          <p:cNvSpPr/>
          <p:nvPr/>
        </p:nvSpPr>
        <p:spPr>
          <a:xfrm>
            <a:off x="548640" y="4709160"/>
            <a:ext cx="7863840" cy="1463040"/>
          </a:xfrm>
          <a:prstGeom prst="roundRect">
            <a:avLst>
              <a:gd name="adj" fmla="val 7500"/>
            </a:avLst>
          </a:prstGeom>
          <a:solidFill>
            <a:srgbClr val="EEF3F9"/>
          </a:solidFill>
          <a:ln w="12700">
            <a:solidFill>
              <a:srgbClr val="EEF3F9"/>
            </a:solidFill>
            <a:prstDash val="solid"/>
          </a:ln>
        </p:spPr>
      </p:sp>
      <p:sp>
        <p:nvSpPr>
          <p:cNvPr id="9" name="Text 6"/>
          <p:cNvSpPr txBox="1"/>
          <p:nvPr/>
        </p:nvSpPr>
        <p:spPr>
          <a:xfrm>
            <a:off x="777240" y="4800600"/>
            <a:ext cx="7406640" cy="1280160"/>
          </a:xfrm>
          <a:prstGeom prst="rect">
            <a:avLst/>
          </a:prstGeom>
          <a:noFill/>
          <a:ln/>
        </p:spPr>
        <p:txBody>
          <a:bodyPr wrap="square" lIns="0" tIns="0" rIns="0" bIns="0" rtlCol="0" anchor="ctr"/>
          <a:lstStyle/>
          <a:p>
            <a:pPr indent="0" marL="0">
              <a:buNone/>
            </a:pPr>
            <a:r>
              <a:rPr lang="en-US" sz="1400" b="1" dirty="0">
                <a:solidFill>
                  <a:srgbClr val="0B2545"/>
                </a:solidFill>
              </a:rPr>
              <a:t>Also on the staff dashboard: </a:t>
            </a:r>
            <a:pPr indent="0" marL="0">
              <a:buNone/>
            </a:pPr>
            <a:r>
              <a:rPr lang="en-US" sz="1400" dirty="0">
                <a:solidFill>
                  <a:srgbClr val="1A2433"/>
                </a:solidFill>
              </a:rPr>
              <a:t>exam sessions, programme modules and timetables; semester registration windows and approvals; direct-entry exemptions; fees and payment-proof verification; applications; reports; announcements; users and roles.</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System pages: semester registration &amp; direct entry</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3rd Review</a:t>
            </a:r>
            <a:endParaRPr lang="en-US" sz="1100" dirty="0"/>
          </a:p>
        </p:txBody>
      </p:sp>
      <p:sp>
        <p:nvSpPr>
          <p:cNvPr id="5" name="screenshot frame"/>
          <p:cNvSpPr/>
          <p:nvPr/>
        </p:nvSpPr>
        <p:spPr>
          <a:xfrm>
            <a:off x="512064" y="1335024"/>
            <a:ext cx="7022592" cy="3675888"/>
          </a:xfrm>
          <a:prstGeom prst="rect">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pic>
        <p:nvPicPr>
          <p:cNvPr id="6" name="Image 0" descr="Student registration tab">    </p:cNvPr>
          <p:cNvPicPr>
            <a:picLocks noChangeAspect="1"/>
          </p:cNvPicPr>
          <p:nvPr/>
        </p:nvPicPr>
        <p:blipFill>
          <a:blip r:embed="rId1"/>
          <a:stretch>
            <a:fillRect/>
          </a:stretch>
        </p:blipFill>
        <p:spPr>
          <a:xfrm>
            <a:off x="548640" y="1371600"/>
            <a:ext cx="6949440" cy="3602736"/>
          </a:xfrm>
          <a:prstGeom prst="rect">
            <a:avLst/>
          </a:prstGeom>
        </p:spPr>
      </p:pic>
      <p:sp>
        <p:nvSpPr>
          <p:cNvPr id="7" name="Text 4"/>
          <p:cNvSpPr txBox="1"/>
          <p:nvPr/>
        </p:nvSpPr>
        <p:spPr>
          <a:xfrm>
            <a:off x="7818120" y="1417320"/>
            <a:ext cx="3822192" cy="475488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1A2433"/>
                </a:solidFill>
              </a:rPr>
              <a:t>New students start in Semester I</a:t>
            </a:r>
            <a:endParaRPr lang="en-US" sz="1400" dirty="0"/>
          </a:p>
          <a:p>
            <a:pPr marL="203200" indent="-203200">
              <a:spcAft>
                <a:spcPts val="1000"/>
              </a:spcAft>
              <a:buSzPct val="100000"/>
              <a:buChar char="•"/>
            </a:pPr>
            <a:r>
              <a:rPr lang="en-US" sz="1400" dirty="0">
                <a:solidFill>
                  <a:srgbClr val="1A2433"/>
                </a:solidFill>
              </a:rPr>
              <a:t>Register button for the next semester; 40% fees required</a:t>
            </a:r>
            <a:endParaRPr lang="en-US" sz="1400" dirty="0"/>
          </a:p>
          <a:p>
            <a:pPr marL="203200" indent="-203200">
              <a:spcAft>
                <a:spcPts val="1000"/>
              </a:spcAft>
              <a:buSzPct val="100000"/>
              <a:buChar char="•"/>
            </a:pPr>
            <a:r>
              <a:rPr lang="en-US" sz="1400" dirty="0">
                <a:solidFill>
                  <a:srgbClr val="1A2433"/>
                </a:solidFill>
              </a:rPr>
              <a:t>Accounts → Class Advisor → HOD → Dean of Students → Dean (Academic)</a:t>
            </a:r>
            <a:endParaRPr lang="en-US" sz="1400" dirty="0"/>
          </a:p>
          <a:p>
            <a:pPr marL="203200" indent="-203200">
              <a:spcAft>
                <a:spcPts val="1000"/>
              </a:spcAft>
              <a:buSzPct val="100000"/>
              <a:buChar char="•"/>
            </a:pPr>
            <a:r>
              <a:rPr lang="en-US" sz="1400" dirty="0">
                <a:solidFill>
                  <a:srgbClr val="1A2433"/>
                </a:solidFill>
              </a:rPr>
              <a:t>Dean (Academic) approval moves the student up a semester</a:t>
            </a:r>
            <a:endParaRPr lang="en-US" sz="1400" dirty="0"/>
          </a:p>
          <a:p>
            <a:pPr marL="203200" indent="-203200">
              <a:spcAft>
                <a:spcPts val="1000"/>
              </a:spcAft>
              <a:buSzPct val="100000"/>
              <a:buChar char="•"/>
            </a:pPr>
            <a:r>
              <a:rPr lang="en-US" sz="1400" dirty="0">
                <a:solidFill>
                  <a:srgbClr val="1A2433"/>
                </a:solidFill>
              </a:rPr>
              <a:t>Direct-entry exemptions skip semesters (e.g. I–II → start in III)</a:t>
            </a:r>
            <a:endParaRPr lang="en-US" sz="1400" dirty="0"/>
          </a:p>
          <a:p>
            <a:pPr marL="203200" indent="-203200">
              <a:spcAft>
                <a:spcPts val="1000"/>
              </a:spcAft>
              <a:buSzPct val="100000"/>
              <a:buChar char="•"/>
            </a:pPr>
            <a:r>
              <a:rPr lang="en-US" sz="1400" dirty="0">
                <a:solidFill>
                  <a:srgbClr val="1A2433"/>
                </a:solidFill>
              </a:rPr>
              <a:t>Full registration history, including exempted semesters</a:t>
            </a:r>
            <a:endParaRPr lang="en-US" sz="1400" dirty="0"/>
          </a:p>
        </p:txBody>
      </p:sp>
      <p:sp>
        <p:nvSpPr>
          <p:cNvPr id="8" name="Text 5"/>
          <p:cNvSpPr txBox="1"/>
          <p:nvPr/>
        </p:nvSpPr>
        <p:spPr>
          <a:xfrm>
            <a:off x="548640" y="5120640"/>
            <a:ext cx="6949440" cy="274320"/>
          </a:xfrm>
          <a:prstGeom prst="rect">
            <a:avLst/>
          </a:prstGeom>
          <a:noFill/>
          <a:ln/>
        </p:spPr>
        <p:txBody>
          <a:bodyPr wrap="square" lIns="0" tIns="0" rIns="0" bIns="0" rtlCol="0" anchor="t"/>
          <a:lstStyle/>
          <a:p>
            <a:pPr indent="0" marL="0">
              <a:buNone/>
            </a:pPr>
            <a:r>
              <a:rPr lang="en-US" sz="1100" i="1" dirty="0">
                <a:solidFill>
                  <a:srgbClr val="5B7A99"/>
                </a:solidFill>
              </a:rPr>
              <a:t>Screenshot with sample data: a direct-entry student exempted from Semesters I–II</a:t>
            </a:r>
            <a:endParaRPr lang="en-US" sz="11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Code: authentication &amp; role checks</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3rd Review</a:t>
            </a:r>
            <a:endParaRPr lang="en-US" sz="1100" dirty="0"/>
          </a:p>
        </p:txBody>
      </p:sp>
      <p:sp>
        <p:nvSpPr>
          <p:cNvPr id="5" name="code panel"/>
          <p:cNvSpPr/>
          <p:nvPr/>
        </p:nvSpPr>
        <p:spPr>
          <a:xfrm>
            <a:off x="548640" y="1371600"/>
            <a:ext cx="7589520" cy="4800600"/>
          </a:xfrm>
          <a:prstGeom prst="roundRect">
            <a:avLst>
              <a:gd name="adj" fmla="val 1905"/>
            </a:avLst>
          </a:prstGeom>
          <a:solidFill>
            <a:srgbClr val="14223A"/>
          </a:solidFill>
          <a:ln w="12700">
            <a:solidFill>
              <a:srgbClr val="14223A"/>
            </a:solidFill>
            <a:prstDash val="solid"/>
          </a:ln>
        </p:spPr>
      </p:sp>
      <p:sp>
        <p:nvSpPr>
          <p:cNvPr id="6" name="Text 4"/>
          <p:cNvSpPr txBox="1"/>
          <p:nvPr/>
        </p:nvSpPr>
        <p:spPr>
          <a:xfrm>
            <a:off x="777240" y="1554480"/>
            <a:ext cx="7132320" cy="4434840"/>
          </a:xfrm>
          <a:prstGeom prst="rect">
            <a:avLst/>
          </a:prstGeom>
          <a:noFill/>
          <a:ln/>
        </p:spPr>
        <p:txBody>
          <a:bodyPr wrap="square" lIns="0" tIns="0" rIns="0" bIns="0" rtlCol="0" anchor="t"/>
          <a:lstStyle/>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middleware/auth.js</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function verifyToken(req, res, next) {</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const token = (req.headers['authorization'] || '').split(' ')[1];</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if (!token) return res.status(401).send('Access token required.');</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try {</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req.user = jwt.verify(token, process.env.SECRET); // { id, role }</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next();</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 catch (err) {</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return res.status(403).send('Invalid or expired token.');</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function checkRole(...allowedRoles) {</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return (req, res, next) =&gt; allowedRoles.includes(req.user?.role)</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 next() : res.status(403).send('You do not have permission.');</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a:t>
            </a:r>
            <a:endParaRPr lang="en-US" sz="1200" dirty="0"/>
          </a:p>
          <a:p>
            <a:pPr indent="0" marL="0">
              <a:lnSpc>
                <a:spcPct val="105000"/>
              </a:lnSpc>
              <a:buNone/>
            </a:pP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routes/exams.js — only exam managers may create sessions</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router.post('/sessions', verifyToken,</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checkRole(...ROLES.EXAM_MANAGE), createSession);</a:t>
            </a:r>
            <a:endParaRPr lang="en-US" sz="1200" dirty="0"/>
          </a:p>
        </p:txBody>
      </p:sp>
      <p:sp>
        <p:nvSpPr>
          <p:cNvPr id="7" name="Text 5"/>
          <p:cNvSpPr txBox="1"/>
          <p:nvPr/>
        </p:nvSpPr>
        <p:spPr>
          <a:xfrm>
            <a:off x="8458200" y="1463040"/>
            <a:ext cx="3182112" cy="4572000"/>
          </a:xfrm>
          <a:prstGeom prst="rect">
            <a:avLst/>
          </a:prstGeom>
          <a:noFill/>
          <a:ln/>
        </p:spPr>
        <p:txBody>
          <a:bodyPr wrap="square" lIns="0" tIns="0" rIns="0" bIns="0" rtlCol="0" anchor="t"/>
          <a:lstStyle/>
          <a:p>
            <a:pPr marL="203200" indent="-203200">
              <a:spcAft>
                <a:spcPts val="1200"/>
              </a:spcAft>
              <a:buSzPct val="100000"/>
              <a:buChar char="•"/>
            </a:pPr>
            <a:r>
              <a:rPr lang="en-US" sz="1400" dirty="0">
                <a:solidFill>
                  <a:srgbClr val="1A2433"/>
                </a:solidFill>
              </a:rPr>
              <a:t>Every protected route runs verifyToken, then checkRole</a:t>
            </a:r>
            <a:endParaRPr lang="en-US" sz="1400" dirty="0"/>
          </a:p>
          <a:p>
            <a:pPr marL="203200" indent="-203200">
              <a:spcAft>
                <a:spcPts val="1200"/>
              </a:spcAft>
              <a:buSzPct val="100000"/>
              <a:buChar char="•"/>
            </a:pPr>
            <a:r>
              <a:rPr lang="en-US" sz="1400" dirty="0">
                <a:solidFill>
                  <a:srgbClr val="1A2433"/>
                </a:solidFill>
              </a:rPr>
              <a:t>The token carries the user’s id and role, signed with the server SECRET</a:t>
            </a:r>
            <a:endParaRPr lang="en-US" sz="1400" dirty="0"/>
          </a:p>
          <a:p>
            <a:pPr marL="203200" indent="-203200">
              <a:spcAft>
                <a:spcPts val="1200"/>
              </a:spcAft>
              <a:buSzPct val="100000"/>
              <a:buChar char="•"/>
            </a:pPr>
            <a:r>
              <a:rPr lang="en-US" sz="1400" dirty="0">
                <a:solidFill>
                  <a:srgbClr val="1A2433"/>
                </a:solidFill>
              </a:rPr>
              <a:t>Expired or altered tokens are rejected</a:t>
            </a:r>
            <a:endParaRPr lang="en-US" sz="1400" dirty="0"/>
          </a:p>
          <a:p>
            <a:pPr marL="203200" indent="-203200">
              <a:spcAft>
                <a:spcPts val="1200"/>
              </a:spcAft>
              <a:buSzPct val="100000"/>
              <a:buChar char="•"/>
            </a:pPr>
            <a:r>
              <a:rPr lang="en-US" sz="1400" dirty="0">
                <a:solidFill>
                  <a:srgbClr val="1A2433"/>
                </a:solidFill>
              </a:rPr>
              <a:t>Roles come from one file, utils/roles.js</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Code: fee rule &amp; ordered approvals</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3rd Review</a:t>
            </a:r>
            <a:endParaRPr lang="en-US" sz="1100" dirty="0"/>
          </a:p>
        </p:txBody>
      </p:sp>
      <p:sp>
        <p:nvSpPr>
          <p:cNvPr id="5" name="code panel"/>
          <p:cNvSpPr/>
          <p:nvPr/>
        </p:nvSpPr>
        <p:spPr>
          <a:xfrm>
            <a:off x="548640" y="1371600"/>
            <a:ext cx="7589520" cy="4800600"/>
          </a:xfrm>
          <a:prstGeom prst="roundRect">
            <a:avLst>
              <a:gd name="adj" fmla="val 1905"/>
            </a:avLst>
          </a:prstGeom>
          <a:solidFill>
            <a:srgbClr val="14223A"/>
          </a:solidFill>
          <a:ln w="12700">
            <a:solidFill>
              <a:srgbClr val="14223A"/>
            </a:solidFill>
            <a:prstDash val="solid"/>
          </a:ln>
        </p:spPr>
      </p:sp>
      <p:sp>
        <p:nvSpPr>
          <p:cNvPr id="6" name="Text 4"/>
          <p:cNvSpPr txBox="1"/>
          <p:nvPr/>
        </p:nvSpPr>
        <p:spPr>
          <a:xfrm>
            <a:off x="777240" y="1554480"/>
            <a:ext cx="7132320" cy="4434840"/>
          </a:xfrm>
          <a:prstGeom prst="rect">
            <a:avLst/>
          </a:prstGeom>
          <a:noFill/>
          <a:ln/>
        </p:spPr>
        <p:txBody>
          <a:bodyPr wrap="square" lIns="0" tIns="0" rIns="0" bIns="0" rtlCol="0" anchor="t"/>
          <a:lstStyle/>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routes/registration.js (simplified)</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const ORDER = ['accounts', 'advisor', 'hod', 'dos', 'academic'];</a:t>
            </a:r>
            <a:endParaRPr lang="en-US" sz="1200" dirty="0"/>
          </a:p>
          <a:p>
            <a:pPr indent="0" marL="0">
              <a:lnSpc>
                <a:spcPct val="105000"/>
              </a:lnSpc>
              <a:buNone/>
            </a:pP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Accounts clears automatically once enough fees are paid</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const pct = charged &gt; 0 ? Math.floor(paid / charged * 100) : 100;</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steps.accounts.status = pct &gt;= period.min_paid_pct  // 40%</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 'cleared' : 'pending';</a:t>
            </a:r>
            <a:endParaRPr lang="en-US" sz="1200" dirty="0"/>
          </a:p>
          <a:p>
            <a:pPr indent="0" marL="0">
              <a:lnSpc>
                <a:spcPct val="105000"/>
              </a:lnSpc>
              <a:buNone/>
            </a:pP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A step can be signed only after every earlier step</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function canAct(user, step, reg, ev) {</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if (!STEPS[step].roles.includes(user.role)) return false;</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if (user.scoped &amp;&amp; user.school !== reg.school) return false;</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const before = ORDER.slice(0, ORDER.indexOf(step));</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return before.every(k =&gt; ev.steps[k].status === 'cleared');</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a:t>
            </a:r>
            <a:endParaRPr lang="en-US" sz="1200" dirty="0"/>
          </a:p>
          <a:p>
            <a:pPr indent="0" marL="0">
              <a:lnSpc>
                <a:spcPct val="105000"/>
              </a:lnSpc>
              <a:buNone/>
            </a:pP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Final approval moves the student to the new semester</a:t>
            </a:r>
            <a:endParaRPr lang="en-US" sz="1200" dirty="0"/>
          </a:p>
          <a:p>
            <a:pPr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UPDATE students SET current_semester = ? WHERE student_id = ?</a:t>
            </a:r>
            <a:endParaRPr lang="en-US" sz="1200" dirty="0"/>
          </a:p>
        </p:txBody>
      </p:sp>
      <p:sp>
        <p:nvSpPr>
          <p:cNvPr id="7" name="Text 5"/>
          <p:cNvSpPr txBox="1"/>
          <p:nvPr/>
        </p:nvSpPr>
        <p:spPr>
          <a:xfrm>
            <a:off x="8458200" y="1463040"/>
            <a:ext cx="3182112" cy="4572000"/>
          </a:xfrm>
          <a:prstGeom prst="rect">
            <a:avLst/>
          </a:prstGeom>
          <a:noFill/>
          <a:ln/>
        </p:spPr>
        <p:txBody>
          <a:bodyPr wrap="square" lIns="0" tIns="0" rIns="0" bIns="0" rtlCol="0" anchor="t"/>
          <a:lstStyle/>
          <a:p>
            <a:pPr marL="203200" indent="-203200">
              <a:spcAft>
                <a:spcPts val="1200"/>
              </a:spcAft>
              <a:buSzPct val="100000"/>
              <a:buChar char="•"/>
            </a:pPr>
            <a:r>
              <a:rPr lang="en-US" sz="1400" dirty="0">
                <a:solidFill>
                  <a:srgbClr val="1A2433"/>
                </a:solidFill>
              </a:rPr>
              <a:t>The 40% fee rule is checked live from the fee ledger</a:t>
            </a:r>
            <a:endParaRPr lang="en-US" sz="1400" dirty="0"/>
          </a:p>
          <a:p>
            <a:pPr marL="203200" indent="-203200">
              <a:spcAft>
                <a:spcPts val="1200"/>
              </a:spcAft>
              <a:buSzPct val="100000"/>
              <a:buChar char="•"/>
            </a:pPr>
            <a:r>
              <a:rPr lang="en-US" sz="1400" dirty="0">
                <a:solidFill>
                  <a:srgbClr val="1A2433"/>
                </a:solidFill>
              </a:rPr>
              <a:t>Offices can only sign in order; HODs and lecturers only for their own school</a:t>
            </a:r>
            <a:endParaRPr lang="en-US" sz="1400" dirty="0"/>
          </a:p>
          <a:p>
            <a:pPr marL="203200" indent="-203200">
              <a:spcAft>
                <a:spcPts val="1200"/>
              </a:spcAft>
              <a:buSzPct val="100000"/>
              <a:buChar char="•"/>
            </a:pPr>
            <a:r>
              <a:rPr lang="en-US" sz="1400" dirty="0">
                <a:solidFill>
                  <a:srgbClr val="1A2433"/>
                </a:solidFill>
              </a:rPr>
              <a:t>Holding a step resets every later step</a:t>
            </a:r>
            <a:endParaRPr lang="en-US" sz="1400" dirty="0"/>
          </a:p>
          <a:p>
            <a:pPr marL="203200" indent="-203200">
              <a:spcAft>
                <a:spcPts val="1200"/>
              </a:spcAft>
              <a:buSzPct val="100000"/>
              <a:buChar char="•"/>
            </a:pPr>
            <a:r>
              <a:rPr lang="en-US" sz="1400" dirty="0">
                <a:solidFill>
                  <a:srgbClr val="1A2433"/>
                </a:solidFill>
              </a:rPr>
              <a:t>Exam clearance uses the same design with 75% and a Hostel step</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Conclusion &amp; summary</a:t>
            </a:r>
            <a:endParaRPr lang="en-US" sz="3200" dirty="0"/>
          </a:p>
        </p:txBody>
      </p:sp>
      <p:sp>
        <p:nvSpPr>
          <p:cNvPr id="3" name="stage pill"/>
          <p:cNvSpPr/>
          <p:nvPr/>
        </p:nvSpPr>
        <p:spPr>
          <a:xfrm>
            <a:off x="10012680" y="475488"/>
            <a:ext cx="1645920" cy="384048"/>
          </a:xfrm>
          <a:prstGeom prst="roundRect">
            <a:avLst>
              <a:gd name="adj" fmla="val 50000"/>
            </a:avLst>
          </a:prstGeom>
          <a:solidFill>
            <a:srgbClr val="EEF3F9"/>
          </a:solidFill>
          <a:ln w="12700">
            <a:solidFill>
              <a:srgbClr val="EEF3F9"/>
            </a:solidFill>
            <a:prstDash val="solid"/>
          </a:ln>
        </p:spPr>
      </p:sp>
      <p:sp>
        <p:nvSpPr>
          <p:cNvPr id="4" name="Text 2"/>
          <p:cNvSpPr txBox="1"/>
          <p:nvPr/>
        </p:nvSpPr>
        <p:spPr>
          <a:xfrm>
            <a:off x="10012680" y="475488"/>
            <a:ext cx="1645920" cy="384048"/>
          </a:xfrm>
          <a:prstGeom prst="rect">
            <a:avLst/>
          </a:prstGeom>
          <a:noFill/>
          <a:ln/>
        </p:spPr>
        <p:txBody>
          <a:bodyPr wrap="square" lIns="0" tIns="0" rIns="0" bIns="0" rtlCol="0" anchor="ctr"/>
          <a:lstStyle/>
          <a:p>
            <a:pPr algn="ctr" indent="0" marL="0">
              <a:buNone/>
            </a:pPr>
            <a:r>
              <a:rPr lang="en-US" sz="1100" b="1" dirty="0">
                <a:solidFill>
                  <a:srgbClr val="004080"/>
                </a:solidFill>
              </a:rPr>
              <a:t>3rd Review</a:t>
            </a:r>
            <a:endParaRPr lang="en-US" sz="1100" dirty="0"/>
          </a:p>
        </p:txBody>
      </p:sp>
      <p:sp>
        <p:nvSpPr>
          <p:cNvPr id="5" name="Text 3"/>
          <p:cNvSpPr txBox="1"/>
          <p:nvPr/>
        </p:nvSpPr>
        <p:spPr>
          <a:xfrm>
            <a:off x="548640" y="1371600"/>
            <a:ext cx="11064240" cy="868680"/>
          </a:xfrm>
          <a:prstGeom prst="rect">
            <a:avLst/>
          </a:prstGeom>
          <a:noFill/>
          <a:ln/>
        </p:spPr>
        <p:txBody>
          <a:bodyPr wrap="square" lIns="0" tIns="0" rIns="0" bIns="0" rtlCol="0" anchor="t"/>
          <a:lstStyle/>
          <a:p>
            <a:pPr indent="0" marL="0">
              <a:buNone/>
            </a:pPr>
            <a:r>
              <a:rPr lang="en-US" sz="1700" dirty="0">
                <a:solidFill>
                  <a:srgbClr val="0B2545"/>
                </a:solidFill>
                <a:latin typeface="Cambria" pitchFamily="34" charset="0"/>
                <a:ea typeface="Cambria" pitchFamily="34" charset="-122"/>
                <a:cs typeface="Cambria" pitchFamily="34" charset="-120"/>
              </a:rPr>
              <a:t>The Online School Portal turns DMISEU Chipata Campus’s paper processes into one secure web system. Students can apply, pay, register, learn, see results and print hall tickets; staff approve in the correct order from anywhere.</a:t>
            </a:r>
            <a:endParaRPr lang="en-US" sz="1700" dirty="0"/>
          </a:p>
        </p:txBody>
      </p:sp>
      <p:sp>
        <p:nvSpPr>
          <p:cNvPr id="6" name="card"/>
          <p:cNvSpPr/>
          <p:nvPr/>
        </p:nvSpPr>
        <p:spPr>
          <a:xfrm>
            <a:off x="548640" y="2468880"/>
            <a:ext cx="2606040" cy="2423160"/>
          </a:xfrm>
          <a:prstGeom prst="roundRect">
            <a:avLst>
              <a:gd name="adj" fmla="val 4528"/>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7" name="icon circle"/>
          <p:cNvSpPr/>
          <p:nvPr/>
        </p:nvSpPr>
        <p:spPr>
          <a:xfrm>
            <a:off x="777240" y="2697480"/>
            <a:ext cx="566928" cy="566928"/>
          </a:xfrm>
          <a:prstGeom prst="ellipse">
            <a:avLst/>
          </a:prstGeom>
          <a:solidFill>
            <a:srgbClr val="1E7E34"/>
          </a:solidFill>
          <a:ln w="12700">
            <a:solidFill>
              <a:srgbClr val="1E7E34"/>
            </a:solidFill>
            <a:prstDash val="solid"/>
          </a:ln>
        </p:spPr>
      </p:sp>
      <p:pic>
        <p:nvPicPr>
          <p:cNvPr id="8" name="Image 0" descr="FaCheckCircle">    </p:cNvPr>
          <p:cNvPicPr>
            <a:picLocks noChangeAspect="1"/>
          </p:cNvPicPr>
          <p:nvPr/>
        </p:nvPicPr>
        <p:blipFill>
          <a:blip r:embed="rId1"/>
          <a:stretch>
            <a:fillRect/>
          </a:stretch>
        </p:blipFill>
        <p:spPr>
          <a:xfrm>
            <a:off x="913303" y="2833543"/>
            <a:ext cx="294803" cy="294803"/>
          </a:xfrm>
          <a:prstGeom prst="rect">
            <a:avLst/>
          </a:prstGeom>
        </p:spPr>
      </p:pic>
      <p:sp>
        <p:nvSpPr>
          <p:cNvPr id="9" name="Text 6"/>
          <p:cNvSpPr txBox="1"/>
          <p:nvPr/>
        </p:nvSpPr>
        <p:spPr>
          <a:xfrm>
            <a:off x="777240" y="3383280"/>
            <a:ext cx="2194560" cy="365760"/>
          </a:xfrm>
          <a:prstGeom prst="rect">
            <a:avLst/>
          </a:prstGeom>
          <a:noFill/>
          <a:ln/>
        </p:spPr>
        <p:txBody>
          <a:bodyPr wrap="square" lIns="0" tIns="0" rIns="0" bIns="0" rtlCol="0" anchor="t"/>
          <a:lstStyle/>
          <a:p>
            <a:pPr indent="0" marL="0">
              <a:buNone/>
            </a:pPr>
            <a:r>
              <a:rPr lang="en-US" sz="1600" b="1" dirty="0">
                <a:solidFill>
                  <a:srgbClr val="0B2545"/>
                </a:solidFill>
              </a:rPr>
              <a:t>Objectives met</a:t>
            </a:r>
            <a:endParaRPr lang="en-US" sz="1600" dirty="0"/>
          </a:p>
        </p:txBody>
      </p:sp>
      <p:sp>
        <p:nvSpPr>
          <p:cNvPr id="10" name="Text 7"/>
          <p:cNvSpPr txBox="1"/>
          <p:nvPr/>
        </p:nvSpPr>
        <p:spPr>
          <a:xfrm>
            <a:off x="777240" y="3749040"/>
            <a:ext cx="2194560" cy="1097280"/>
          </a:xfrm>
          <a:prstGeom prst="rect">
            <a:avLst/>
          </a:prstGeom>
          <a:noFill/>
          <a:ln/>
        </p:spPr>
        <p:txBody>
          <a:bodyPr wrap="square" lIns="0" tIns="0" rIns="0" bIns="0" rtlCol="0" anchor="t"/>
          <a:lstStyle/>
          <a:p>
            <a:pPr indent="0" marL="0">
              <a:buNone/>
            </a:pPr>
            <a:r>
              <a:rPr lang="en-US" sz="1300" dirty="0">
                <a:solidFill>
                  <a:srgbClr val="1A2433"/>
                </a:solidFill>
              </a:rPr>
              <a:t>Admissions, role-based portals, fees, registration, coursework, results, clearance, hall tickets, exemptions and notifications are all working.</a:t>
            </a:r>
            <a:endParaRPr lang="en-US" sz="1300" dirty="0"/>
          </a:p>
        </p:txBody>
      </p:sp>
      <p:sp>
        <p:nvSpPr>
          <p:cNvPr id="11" name="card"/>
          <p:cNvSpPr/>
          <p:nvPr/>
        </p:nvSpPr>
        <p:spPr>
          <a:xfrm>
            <a:off x="3364992" y="2468880"/>
            <a:ext cx="2606040" cy="2423160"/>
          </a:xfrm>
          <a:prstGeom prst="roundRect">
            <a:avLst>
              <a:gd name="adj" fmla="val 4528"/>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12" name="icon circle"/>
          <p:cNvSpPr/>
          <p:nvPr/>
        </p:nvSpPr>
        <p:spPr>
          <a:xfrm>
            <a:off x="3593592" y="2697480"/>
            <a:ext cx="566928" cy="566928"/>
          </a:xfrm>
          <a:prstGeom prst="ellipse">
            <a:avLst/>
          </a:prstGeom>
          <a:solidFill>
            <a:srgbClr val="E3A83B"/>
          </a:solidFill>
          <a:ln w="12700">
            <a:solidFill>
              <a:srgbClr val="E3A83B"/>
            </a:solidFill>
            <a:prstDash val="solid"/>
          </a:ln>
        </p:spPr>
      </p:sp>
      <p:pic>
        <p:nvPicPr>
          <p:cNvPr id="13" name="Image 1" descr="FaRoute">    </p:cNvPr>
          <p:cNvPicPr>
            <a:picLocks noChangeAspect="1"/>
          </p:cNvPicPr>
          <p:nvPr/>
        </p:nvPicPr>
        <p:blipFill>
          <a:blip r:embed="rId2"/>
          <a:stretch>
            <a:fillRect/>
          </a:stretch>
        </p:blipFill>
        <p:spPr>
          <a:xfrm>
            <a:off x="3729655" y="2833543"/>
            <a:ext cx="294803" cy="294803"/>
          </a:xfrm>
          <a:prstGeom prst="rect">
            <a:avLst/>
          </a:prstGeom>
        </p:spPr>
      </p:pic>
      <p:sp>
        <p:nvSpPr>
          <p:cNvPr id="14" name="Text 10"/>
          <p:cNvSpPr txBox="1"/>
          <p:nvPr/>
        </p:nvSpPr>
        <p:spPr>
          <a:xfrm>
            <a:off x="3593592" y="3383280"/>
            <a:ext cx="2194560" cy="365760"/>
          </a:xfrm>
          <a:prstGeom prst="rect">
            <a:avLst/>
          </a:prstGeom>
          <a:noFill/>
          <a:ln/>
        </p:spPr>
        <p:txBody>
          <a:bodyPr wrap="square" lIns="0" tIns="0" rIns="0" bIns="0" rtlCol="0" anchor="t"/>
          <a:lstStyle/>
          <a:p>
            <a:pPr indent="0" marL="0">
              <a:buNone/>
            </a:pPr>
            <a:r>
              <a:rPr lang="en-US" sz="1600" b="1" dirty="0">
                <a:solidFill>
                  <a:srgbClr val="0B2545"/>
                </a:solidFill>
              </a:rPr>
              <a:t>Real process, digitised</a:t>
            </a:r>
            <a:endParaRPr lang="en-US" sz="1600" dirty="0"/>
          </a:p>
        </p:txBody>
      </p:sp>
      <p:sp>
        <p:nvSpPr>
          <p:cNvPr id="15" name="Text 11"/>
          <p:cNvSpPr txBox="1"/>
          <p:nvPr/>
        </p:nvSpPr>
        <p:spPr>
          <a:xfrm>
            <a:off x="3593592" y="3749040"/>
            <a:ext cx="2194560" cy="1097280"/>
          </a:xfrm>
          <a:prstGeom prst="rect">
            <a:avLst/>
          </a:prstGeom>
          <a:noFill/>
          <a:ln/>
        </p:spPr>
        <p:txBody>
          <a:bodyPr wrap="square" lIns="0" tIns="0" rIns="0" bIns="0" rtlCol="0" anchor="t"/>
          <a:lstStyle/>
          <a:p>
            <a:pPr indent="0" marL="0">
              <a:buNone/>
            </a:pPr>
            <a:r>
              <a:rPr lang="en-US" sz="1300" dirty="0">
                <a:solidFill>
                  <a:srgbClr val="1A2433"/>
                </a:solidFill>
              </a:rPr>
              <a:t>The six-office No Due Certificate and five-step registration run as ordered digital approvals.</a:t>
            </a:r>
            <a:endParaRPr lang="en-US" sz="1300" dirty="0"/>
          </a:p>
        </p:txBody>
      </p:sp>
      <p:sp>
        <p:nvSpPr>
          <p:cNvPr id="16" name="card"/>
          <p:cNvSpPr/>
          <p:nvPr/>
        </p:nvSpPr>
        <p:spPr>
          <a:xfrm>
            <a:off x="6181344" y="2468880"/>
            <a:ext cx="2606040" cy="2423160"/>
          </a:xfrm>
          <a:prstGeom prst="roundRect">
            <a:avLst>
              <a:gd name="adj" fmla="val 4528"/>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17" name="icon circle"/>
          <p:cNvSpPr/>
          <p:nvPr/>
        </p:nvSpPr>
        <p:spPr>
          <a:xfrm>
            <a:off x="6409944" y="2697480"/>
            <a:ext cx="566928" cy="566928"/>
          </a:xfrm>
          <a:prstGeom prst="ellipse">
            <a:avLst/>
          </a:prstGeom>
          <a:solidFill>
            <a:srgbClr val="1E7E34"/>
          </a:solidFill>
          <a:ln w="12700">
            <a:solidFill>
              <a:srgbClr val="1E7E34"/>
            </a:solidFill>
            <a:prstDash val="solid"/>
          </a:ln>
        </p:spPr>
      </p:sp>
      <p:pic>
        <p:nvPicPr>
          <p:cNvPr id="18" name="Image 2" descr="FaShieldAlt">    </p:cNvPr>
          <p:cNvPicPr>
            <a:picLocks noChangeAspect="1"/>
          </p:cNvPicPr>
          <p:nvPr/>
        </p:nvPicPr>
        <p:blipFill>
          <a:blip r:embed="rId3"/>
          <a:stretch>
            <a:fillRect/>
          </a:stretch>
        </p:blipFill>
        <p:spPr>
          <a:xfrm>
            <a:off x="6546007" y="2833543"/>
            <a:ext cx="294803" cy="294803"/>
          </a:xfrm>
          <a:prstGeom prst="rect">
            <a:avLst/>
          </a:prstGeom>
        </p:spPr>
      </p:pic>
      <p:sp>
        <p:nvSpPr>
          <p:cNvPr id="19" name="Text 14"/>
          <p:cNvSpPr txBox="1"/>
          <p:nvPr/>
        </p:nvSpPr>
        <p:spPr>
          <a:xfrm>
            <a:off x="6409944" y="3383280"/>
            <a:ext cx="2194560" cy="365760"/>
          </a:xfrm>
          <a:prstGeom prst="rect">
            <a:avLst/>
          </a:prstGeom>
          <a:noFill/>
          <a:ln/>
        </p:spPr>
        <p:txBody>
          <a:bodyPr wrap="square" lIns="0" tIns="0" rIns="0" bIns="0" rtlCol="0" anchor="t"/>
          <a:lstStyle/>
          <a:p>
            <a:pPr indent="0" marL="0">
              <a:buNone/>
            </a:pPr>
            <a:r>
              <a:rPr lang="en-US" sz="1600" b="1" dirty="0">
                <a:solidFill>
                  <a:srgbClr val="0B2545"/>
                </a:solidFill>
              </a:rPr>
              <a:t>Secure by design</a:t>
            </a:r>
            <a:endParaRPr lang="en-US" sz="1600" dirty="0"/>
          </a:p>
        </p:txBody>
      </p:sp>
      <p:sp>
        <p:nvSpPr>
          <p:cNvPr id="20" name="Text 15"/>
          <p:cNvSpPr txBox="1"/>
          <p:nvPr/>
        </p:nvSpPr>
        <p:spPr>
          <a:xfrm>
            <a:off x="6409944" y="3749040"/>
            <a:ext cx="2194560" cy="1097280"/>
          </a:xfrm>
          <a:prstGeom prst="rect">
            <a:avLst/>
          </a:prstGeom>
          <a:noFill/>
          <a:ln/>
        </p:spPr>
        <p:txBody>
          <a:bodyPr wrap="square" lIns="0" tIns="0" rIns="0" bIns="0" rtlCol="0" anchor="t"/>
          <a:lstStyle/>
          <a:p>
            <a:pPr indent="0" marL="0">
              <a:buNone/>
            </a:pPr>
            <a:r>
              <a:rPr lang="en-US" sz="1300" dirty="0">
                <a:solidFill>
                  <a:srgbClr val="1A2433"/>
                </a:solidFill>
              </a:rPr>
              <a:t>Hashed passwords, expiring tokens, server-side role checks and parameterised SQL.</a:t>
            </a:r>
            <a:endParaRPr lang="en-US" sz="1300" dirty="0"/>
          </a:p>
        </p:txBody>
      </p:sp>
      <p:sp>
        <p:nvSpPr>
          <p:cNvPr id="21" name="card"/>
          <p:cNvSpPr/>
          <p:nvPr/>
        </p:nvSpPr>
        <p:spPr>
          <a:xfrm>
            <a:off x="8997696" y="2468880"/>
            <a:ext cx="2606040" cy="2423160"/>
          </a:xfrm>
          <a:prstGeom prst="roundRect">
            <a:avLst>
              <a:gd name="adj" fmla="val 4528"/>
            </a:avLst>
          </a:prstGeom>
          <a:solidFill>
            <a:srgbClr val="FFFFFF"/>
          </a:solidFill>
          <a:ln w="12700">
            <a:solidFill>
              <a:srgbClr val="DCE4EE"/>
            </a:solidFill>
            <a:prstDash val="solid"/>
          </a:ln>
          <a:effectLst>
            <a:outerShdw sx="100000" sy="100000" kx="0" ky="0" algn="bl" rotWithShape="0" blurRad="76200" dist="25400" dir="5400000">
              <a:srgbClr val="000000">
                <a:alpha val="12000"/>
              </a:srgbClr>
            </a:outerShdw>
          </a:effectLst>
        </p:spPr>
      </p:sp>
      <p:sp>
        <p:nvSpPr>
          <p:cNvPr id="22" name="icon circle"/>
          <p:cNvSpPr/>
          <p:nvPr/>
        </p:nvSpPr>
        <p:spPr>
          <a:xfrm>
            <a:off x="9226296" y="2697480"/>
            <a:ext cx="566928" cy="566928"/>
          </a:xfrm>
          <a:prstGeom prst="ellipse">
            <a:avLst/>
          </a:prstGeom>
          <a:solidFill>
            <a:srgbClr val="E3A83B"/>
          </a:solidFill>
          <a:ln w="12700">
            <a:solidFill>
              <a:srgbClr val="E3A83B"/>
            </a:solidFill>
            <a:prstDash val="solid"/>
          </a:ln>
        </p:spPr>
      </p:sp>
      <p:pic>
        <p:nvPicPr>
          <p:cNvPr id="23" name="Image 3" descr="FaFlask">    </p:cNvPr>
          <p:cNvPicPr>
            <a:picLocks noChangeAspect="1"/>
          </p:cNvPicPr>
          <p:nvPr/>
        </p:nvPicPr>
        <p:blipFill>
          <a:blip r:embed="rId4"/>
          <a:stretch>
            <a:fillRect/>
          </a:stretch>
        </p:blipFill>
        <p:spPr>
          <a:xfrm>
            <a:off x="9362359" y="2833543"/>
            <a:ext cx="294803" cy="294803"/>
          </a:xfrm>
          <a:prstGeom prst="rect">
            <a:avLst/>
          </a:prstGeom>
        </p:spPr>
      </p:pic>
      <p:sp>
        <p:nvSpPr>
          <p:cNvPr id="24" name="Text 18"/>
          <p:cNvSpPr txBox="1"/>
          <p:nvPr/>
        </p:nvSpPr>
        <p:spPr>
          <a:xfrm>
            <a:off x="9226296" y="3383280"/>
            <a:ext cx="2194560" cy="365760"/>
          </a:xfrm>
          <a:prstGeom prst="rect">
            <a:avLst/>
          </a:prstGeom>
          <a:noFill/>
          <a:ln/>
        </p:spPr>
        <p:txBody>
          <a:bodyPr wrap="square" lIns="0" tIns="0" rIns="0" bIns="0" rtlCol="0" anchor="t"/>
          <a:lstStyle/>
          <a:p>
            <a:pPr indent="0" marL="0">
              <a:buNone/>
            </a:pPr>
            <a:r>
              <a:rPr lang="en-US" sz="1600" b="1" dirty="0">
                <a:solidFill>
                  <a:srgbClr val="0B2545"/>
                </a:solidFill>
              </a:rPr>
              <a:t>Tested</a:t>
            </a:r>
            <a:endParaRPr lang="en-US" sz="1600" dirty="0"/>
          </a:p>
        </p:txBody>
      </p:sp>
      <p:sp>
        <p:nvSpPr>
          <p:cNvPr id="25" name="Text 19"/>
          <p:cNvSpPr txBox="1"/>
          <p:nvPr/>
        </p:nvSpPr>
        <p:spPr>
          <a:xfrm>
            <a:off x="9226296" y="3749040"/>
            <a:ext cx="2194560" cy="1097280"/>
          </a:xfrm>
          <a:prstGeom prst="rect">
            <a:avLst/>
          </a:prstGeom>
          <a:noFill/>
          <a:ln/>
        </p:spPr>
        <p:txBody>
          <a:bodyPr wrap="square" lIns="0" tIns="0" rIns="0" bIns="0" rtlCol="0" anchor="t"/>
          <a:lstStyle/>
          <a:p>
            <a:pPr indent="0" marL="0">
              <a:buNone/>
            </a:pPr>
            <a:r>
              <a:rPr lang="en-US" sz="1300" dirty="0">
                <a:solidFill>
                  <a:srgbClr val="1A2433"/>
                </a:solidFill>
              </a:rPr>
              <a:t>Logic, API flow and page tests pass; a defect found on the real database was fixed.</a:t>
            </a:r>
            <a:endParaRPr lang="en-US" sz="1300" dirty="0"/>
          </a:p>
        </p:txBody>
      </p:sp>
      <p:sp>
        <p:nvSpPr>
          <p:cNvPr id="26" name="card"/>
          <p:cNvSpPr/>
          <p:nvPr/>
        </p:nvSpPr>
        <p:spPr>
          <a:xfrm>
            <a:off x="548640" y="5120640"/>
            <a:ext cx="11091672" cy="1051560"/>
          </a:xfrm>
          <a:prstGeom prst="roundRect">
            <a:avLst>
              <a:gd name="adj" fmla="val 10435"/>
            </a:avLst>
          </a:prstGeom>
          <a:solidFill>
            <a:srgbClr val="0B2545"/>
          </a:solidFill>
          <a:ln w="12700">
            <a:solidFill>
              <a:srgbClr val="0B2545"/>
            </a:solidFill>
            <a:prstDash val="solid"/>
          </a:ln>
          <a:effectLst>
            <a:outerShdw sx="100000" sy="100000" kx="0" ky="0" algn="bl" rotWithShape="0" blurRad="76200" dist="25400" dir="5400000">
              <a:srgbClr val="000000">
                <a:alpha val="12000"/>
              </a:srgbClr>
            </a:outerShdw>
          </a:effectLst>
        </p:spPr>
      </p:sp>
      <p:sp>
        <p:nvSpPr>
          <p:cNvPr id="27" name="Text 21"/>
          <p:cNvSpPr txBox="1"/>
          <p:nvPr/>
        </p:nvSpPr>
        <p:spPr>
          <a:xfrm>
            <a:off x="822960" y="5166360"/>
            <a:ext cx="10607040" cy="960120"/>
          </a:xfrm>
          <a:prstGeom prst="rect">
            <a:avLst/>
          </a:prstGeom>
          <a:noFill/>
          <a:ln/>
        </p:spPr>
        <p:txBody>
          <a:bodyPr wrap="square" lIns="0" tIns="0" rIns="0" bIns="0" rtlCol="0" anchor="ctr"/>
          <a:lstStyle/>
          <a:p>
            <a:pPr indent="0" marL="0">
              <a:buNone/>
            </a:pPr>
            <a:r>
              <a:rPr lang="en-US" sz="1500" b="1" dirty="0">
                <a:solidFill>
                  <a:srgbClr val="E3A83B"/>
                </a:solidFill>
              </a:rPr>
              <a:t>Future work  </a:t>
            </a:r>
            <a:pPr indent="0" marL="0">
              <a:buNone/>
            </a:pPr>
            <a:r>
              <a:rPr lang="en-US" sz="1500" dirty="0">
                <a:solidFill>
                  <a:srgbClr val="FFFFFF"/>
                </a:solidFill>
              </a:rPr>
              <a:t>Mobile-money and bank payment integration · SMS and e-mail alerts · management analytics · user acceptance testing and roll-out to other DMISEU campuses</a:t>
            </a:r>
            <a:endParaRPr lang="en-US" sz="15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References</a:t>
            </a:r>
            <a:endParaRPr lang="en-US" sz="3200" dirty="0"/>
          </a:p>
        </p:txBody>
      </p:sp>
      <p:sp>
        <p:nvSpPr>
          <p:cNvPr id="3" name="Text 1"/>
          <p:cNvSpPr txBox="1"/>
          <p:nvPr/>
        </p:nvSpPr>
        <p:spPr>
          <a:xfrm>
            <a:off x="548640" y="1371600"/>
            <a:ext cx="11064240" cy="4846320"/>
          </a:xfrm>
          <a:prstGeom prst="rect">
            <a:avLst/>
          </a:prstGeom>
          <a:noFill/>
          <a:ln/>
        </p:spPr>
        <p:txBody>
          <a:bodyPr wrap="square" lIns="0" tIns="0" rIns="0" bIns="0" rtlCol="0" anchor="t"/>
          <a:lstStyle/>
          <a:p>
            <a:pPr indent="0" marL="0">
              <a:spcAft>
                <a:spcPts val="1000"/>
              </a:spcAft>
              <a:buNone/>
            </a:pPr>
            <a:r>
              <a:rPr lang="en-US" sz="1400" dirty="0">
                <a:solidFill>
                  <a:srgbClr val="1A2433"/>
                </a:solidFill>
              </a:rPr>
              <a:t>Davis, F. D. (1989). Perceived usefulness, perceived ease of use, and user acceptance of information technology. MIS Quarterly, 13(3), 319–340.</a:t>
            </a:r>
            <a:endParaRPr lang="en-US" sz="1400" dirty="0"/>
          </a:p>
          <a:p>
            <a:pPr indent="0" marL="0">
              <a:spcAft>
                <a:spcPts val="1000"/>
              </a:spcAft>
              <a:buNone/>
            </a:pPr>
            <a:r>
              <a:rPr lang="en-US" sz="1400" dirty="0">
                <a:solidFill>
                  <a:srgbClr val="1A2433"/>
                </a:solidFill>
              </a:rPr>
              <a:t>DeLone, W. H., &amp; McLean, E. R. (2003). The DeLone and McLean model of information systems success: A ten-year update. Journal of Management Information Systems, 19(4), 9–30.</a:t>
            </a:r>
            <a:endParaRPr lang="en-US" sz="1400" dirty="0"/>
          </a:p>
          <a:p>
            <a:pPr indent="0" marL="0">
              <a:spcAft>
                <a:spcPts val="1000"/>
              </a:spcAft>
              <a:buNone/>
            </a:pPr>
            <a:r>
              <a:rPr lang="en-US" sz="1400" dirty="0">
                <a:solidFill>
                  <a:srgbClr val="1A2433"/>
                </a:solidFill>
              </a:rPr>
              <a:t>Kaggwa, J. L. (2010). Web-based students’ academic management system: A case of School of Computer Studies, Kampala International University [Bachelor’s report]. Kampala International University.</a:t>
            </a:r>
            <a:endParaRPr lang="en-US" sz="1400" dirty="0"/>
          </a:p>
          <a:p>
            <a:pPr indent="0" marL="0">
              <a:spcAft>
                <a:spcPts val="1000"/>
              </a:spcAft>
              <a:buNone/>
            </a:pPr>
            <a:r>
              <a:rPr lang="en-US" sz="1400" dirty="0">
                <a:solidFill>
                  <a:srgbClr val="1A2433"/>
                </a:solidFill>
              </a:rPr>
              <a:t>Lubanga, S., Majawa, F., Kapondera, S., &amp; Chawinga, W. D. (2018). Web based student information management system in universities: Experience from Mzuzu University. Proceedings of SCECSAL XXIII, Entebbe, Uganda.</a:t>
            </a:r>
            <a:endParaRPr lang="en-US" sz="1400" dirty="0"/>
          </a:p>
          <a:p>
            <a:pPr indent="0" marL="0">
              <a:spcAft>
                <a:spcPts val="1000"/>
              </a:spcAft>
              <a:buNone/>
            </a:pPr>
            <a:r>
              <a:rPr lang="en-US" sz="1400" dirty="0">
                <a:solidFill>
                  <a:srgbClr val="1A2433"/>
                </a:solidFill>
              </a:rPr>
              <a:t>Rabaa’i, A. A. (2009). Identifying critical success factors of ERP systems at the higher education sector [Conference paper]. CORE. https://core.ac.uk/display/10895619</a:t>
            </a:r>
            <a:endParaRPr lang="en-US" sz="1400" dirty="0"/>
          </a:p>
          <a:p>
            <a:pPr indent="0" marL="0">
              <a:spcAft>
                <a:spcPts val="1000"/>
              </a:spcAft>
              <a:buNone/>
            </a:pPr>
            <a:r>
              <a:rPr lang="en-US" sz="1400" dirty="0">
                <a:solidFill>
                  <a:srgbClr val="1A2433"/>
                </a:solidFill>
              </a:rPr>
              <a:t>University of Zambia. (n.d.). Course registration on the Student Information System. https://www.unza.zm/sites/default/files/article_files/2020-01/Course%20Registration.pdf</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A99"/>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863840" cy="182880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731520" y="3886200"/>
            <a:ext cx="7863840" cy="2011680"/>
          </a:xfrm>
          <a:prstGeom prst="rect">
            <a:avLst/>
          </a:prstGeom>
          <a:noFill/>
          <a:ln/>
        </p:spPr>
        <p:txBody>
          <a:bodyPr wrap="square" lIns="0" tIns="0" rIns="0" bIns="0" rtlCol="0" anchor="t"/>
          <a:lstStyle/>
          <a:p>
            <a:pPr indent="0" marL="0">
              <a:spcAft>
                <a:spcPts val="1200"/>
              </a:spcAft>
              <a:buNone/>
            </a:pPr>
            <a:r>
              <a:rPr lang="en-US" sz="2200" dirty="0">
                <a:solidFill>
                  <a:srgbClr val="FFFFFF"/>
                </a:solidFill>
              </a:rPr>
              <a:t>Questions &amp; discussion</a:t>
            </a:r>
            <a:endParaRPr lang="en-US" sz="1800" dirty="0"/>
          </a:p>
          <a:p>
            <a:pPr indent="0" marL="0">
              <a:buNone/>
            </a:pPr>
            <a:r>
              <a:rPr lang="en-US" sz="1500" dirty="0">
                <a:solidFill>
                  <a:srgbClr val="D6E2F1"/>
                </a:solidFill>
              </a:rPr>
              <a:t>Forb Joseph Mufwambi  ·  351PJ01 Mini Project  ·  DMI-St. Eugene University, Chipata Campus</a:t>
            </a:r>
            <a:endParaRPr lang="en-US" sz="1800" dirty="0"/>
          </a:p>
        </p:txBody>
      </p:sp>
      <p:sp>
        <p:nvSpPr>
          <p:cNvPr id="4" name="icon circle"/>
          <p:cNvSpPr/>
          <p:nvPr/>
        </p:nvSpPr>
        <p:spPr>
          <a:xfrm>
            <a:off x="8778240" y="1920240"/>
            <a:ext cx="2560320" cy="2560320"/>
          </a:xfrm>
          <a:prstGeom prst="ellipse">
            <a:avLst/>
          </a:prstGeom>
          <a:solidFill>
            <a:srgbClr val="163A63"/>
          </a:solidFill>
          <a:ln w="12700">
            <a:solidFill>
              <a:srgbClr val="163A63"/>
            </a:solidFill>
            <a:prstDash val="solid"/>
          </a:ln>
        </p:spPr>
      </p:sp>
      <p:pic>
        <p:nvPicPr>
          <p:cNvPr id="5" name="Image 0" descr="FaGraduationCap">    </p:cNvPr>
          <p:cNvPicPr>
            <a:picLocks noChangeAspect="1"/>
          </p:cNvPicPr>
          <p:nvPr/>
        </p:nvPicPr>
        <p:blipFill>
          <a:blip r:embed="rId1"/>
          <a:stretch>
            <a:fillRect/>
          </a:stretch>
        </p:blipFill>
        <p:spPr>
          <a:xfrm>
            <a:off x="9392717" y="2534717"/>
            <a:ext cx="1331366" cy="1331366"/>
          </a:xfrm>
          <a:prstGeom prst="rect">
            <a:avLst/>
          </a:prstGeom>
        </p:spPr>
      </p:pic>
    </p:spTree>
  </p:cSld>
  <p:clrMapOvr>
    <a:masterClrMapping/>
  </p:clrMapOvr>
</p:sld>
</file>

<file path=ppt/theme/theme1.xml><?xml version="1.0" encoding="utf-8"?>
<a:theme xmlns:a="http://schemas.openxmlformats.org/drawingml/2006/main" name="Chipata Portal">
  <a:themeElements>
    <a:clrScheme name="Chipata Portal">
      <a:dk1>
        <a:srgbClr val="1A2433"/>
      </a:dk1>
      <a:lt1>
        <a:srgbClr val="FFFFFF"/>
      </a:lt1>
      <a:dk2>
        <a:srgbClr val="0B2545"/>
      </a:dk2>
      <a:lt2>
        <a:srgbClr val="EEF3F9"/>
      </a:lt2>
      <a:accent1>
        <a:srgbClr val="004080"/>
      </a:accent1>
      <a:accent2>
        <a:srgbClr val="E3A83B"/>
      </a:accent2>
      <a:accent3>
        <a:srgbClr val="1E7E34"/>
      </a:accent3>
      <a:accent4>
        <a:srgbClr val="C0392B"/>
      </a:accent4>
      <a:accent5>
        <a:srgbClr val="5B7A99"/>
      </a:accent5>
      <a:accent6>
        <a:srgbClr val="8FB3D9"/>
      </a:accent6>
      <a:hlink>
        <a:srgbClr val="0066CC"/>
      </a:hlink>
      <a:folHlink>
        <a:srgbClr val="5B7A99"/>
      </a:folHlink>
    </a:clrScheme>
    <a:fontScheme name="Chipata Port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Project Review — Online School Portal</dc:title>
  <dc:subject>351PJ01 Mini Project Review</dc:subject>
  <dc:creator>Forb Joseph Mufwambi</dc:creator>
  <cp:lastModifiedBy>Forb Joseph Mufwambi</cp:lastModifiedBy>
  <cp:revision>1</cp:revision>
  <dcterms:created xsi:type="dcterms:W3CDTF">2026-10-09T10:12:40Z</dcterms:created>
  <dcterms:modified xsi:type="dcterms:W3CDTF">2026-10-09T10:12:40Z</dcterms:modified>
</cp:coreProperties>
</file>